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079a0fe4654de8" /><Relationship Type="http://schemas.openxmlformats.org/officeDocument/2006/relationships/extended-properties" Target="/docProps/app.xml" Id="R2fbbead4d99b4b69" /><Relationship Type="http://schemas.openxmlformats.org/officeDocument/2006/relationships/officeDocument" Target="/ppt/presentation.xml" Id="R620f5478dc4d4a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fa17c3e81745aa"/>
  </p:sldMasterIdLst>
  <p:notesMasterIdLst>
    <p:notesMasterId xmlns:r="http://schemas.openxmlformats.org/officeDocument/2006/relationships" r:id="R6fa22a6dc5304578"/>
  </p:notesMasterIdLst>
  <p:sldIdLst>
    <p:sldId xmlns:r="http://schemas.openxmlformats.org/officeDocument/2006/relationships" id="256" r:id="Re9d361a7ef0b4e2d"/>
    <p:sldId xmlns:r="http://schemas.openxmlformats.org/officeDocument/2006/relationships" id="257" r:id="R6c1cac7ad8384967"/>
    <p:sldId xmlns:r="http://schemas.openxmlformats.org/officeDocument/2006/relationships" id="258" r:id="R37ed975f3a83487c"/>
    <p:sldId xmlns:r="http://schemas.openxmlformats.org/officeDocument/2006/relationships" id="259" r:id="R23db5639507743b5"/>
    <p:sldId xmlns:r="http://schemas.openxmlformats.org/officeDocument/2006/relationships" id="260" r:id="Re1076461e3264c8f"/>
    <p:sldId xmlns:r="http://schemas.openxmlformats.org/officeDocument/2006/relationships" id="261" r:id="Rb5d5dcf3ce0c4d03"/>
    <p:sldId xmlns:r="http://schemas.openxmlformats.org/officeDocument/2006/relationships" id="262" r:id="Ra1e6bd07a5ab4327"/>
    <p:sldId xmlns:r="http://schemas.openxmlformats.org/officeDocument/2006/relationships" id="263" r:id="R6169fb21f0604e4d"/>
    <p:sldId xmlns:r="http://schemas.openxmlformats.org/officeDocument/2006/relationships" id="264" r:id="R7c46519986f24a31"/>
    <p:sldId xmlns:r="http://schemas.openxmlformats.org/officeDocument/2006/relationships" id="265" r:id="Raa53e71488c64e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88a62911494471" /><Relationship Type="http://schemas.openxmlformats.org/officeDocument/2006/relationships/slideMaster" Target="/ppt/slideMasters/slideMaster1.xml" Id="Ra4fa17c3e81745aa" /><Relationship Type="http://schemas.openxmlformats.org/officeDocument/2006/relationships/notesMaster" Target="/ppt/notesMasters/notesMaster1.xml" Id="R6fa22a6dc5304578" /><Relationship Type="http://schemas.openxmlformats.org/officeDocument/2006/relationships/presProps" Target="/ppt/presProps.xml" Id="R526ad292d5a64e39" /><Relationship Type="http://schemas.openxmlformats.org/officeDocument/2006/relationships/tableStyles" Target="/ppt/tableStyles.xml" Id="R4c1fb987cffd4431" /><Relationship Type="http://schemas.openxmlformats.org/officeDocument/2006/relationships/slide" Target="/ppt/slides/slide1.xml" Id="Re9d361a7ef0b4e2d" /><Relationship Type="http://schemas.openxmlformats.org/officeDocument/2006/relationships/slide" Target="/ppt/slides/slide2.xml" Id="R6c1cac7ad8384967" /><Relationship Type="http://schemas.openxmlformats.org/officeDocument/2006/relationships/slide" Target="/ppt/slides/slide3.xml" Id="R37ed975f3a83487c" /><Relationship Type="http://schemas.openxmlformats.org/officeDocument/2006/relationships/slide" Target="/ppt/slides/slide4.xml" Id="R23db5639507743b5" /><Relationship Type="http://schemas.openxmlformats.org/officeDocument/2006/relationships/slide" Target="/ppt/slides/slide5.xml" Id="Re1076461e3264c8f" /><Relationship Type="http://schemas.openxmlformats.org/officeDocument/2006/relationships/slide" Target="/ppt/slides/slide6.xml" Id="Rb5d5dcf3ce0c4d03" /><Relationship Type="http://schemas.openxmlformats.org/officeDocument/2006/relationships/slide" Target="/ppt/slides/slide7.xml" Id="Ra1e6bd07a5ab4327" /><Relationship Type="http://schemas.openxmlformats.org/officeDocument/2006/relationships/slide" Target="/ppt/slides/slide8.xml" Id="R6169fb21f0604e4d" /><Relationship Type="http://schemas.openxmlformats.org/officeDocument/2006/relationships/slide" Target="/ppt/slides/slide9.xml" Id="R7c46519986f24a31" /><Relationship Type="http://schemas.openxmlformats.org/officeDocument/2006/relationships/slide" Target="/ppt/slides/slide10.xml" Id="Raa53e71488c64e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a36eaa584c45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2dbb523ca748b8" /><Relationship Type="http://schemas.openxmlformats.org/officeDocument/2006/relationships/notesMaster" Target="/ppt/notesMasters/notesMaster1.xml" Id="R222f3f8d44a54e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d2ac154a5c4077" /><Relationship Type="http://schemas.openxmlformats.org/officeDocument/2006/relationships/notesMaster" Target="/ppt/notesMasters/notesMaster1.xml" Id="R8648e8b59eb24e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2f723a549b4ed8" /><Relationship Type="http://schemas.openxmlformats.org/officeDocument/2006/relationships/notesMaster" Target="/ppt/notesMasters/notesMaster1.xml" Id="Rca7a679a7df64f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cd28f2e24a48b7" /><Relationship Type="http://schemas.openxmlformats.org/officeDocument/2006/relationships/notesMaster" Target="/ppt/notesMasters/notesMaster1.xml" Id="R713606a2373042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1928306eaa426d" /><Relationship Type="http://schemas.openxmlformats.org/officeDocument/2006/relationships/notesMaster" Target="/ppt/notesMasters/notesMaster1.xml" Id="Rafc4419beadd41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bd23d6b2c64d72" /><Relationship Type="http://schemas.openxmlformats.org/officeDocument/2006/relationships/notesMaster" Target="/ppt/notesMasters/notesMaster1.xml" Id="Rdc15c418d8a442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486d11c2ea49a1" /><Relationship Type="http://schemas.openxmlformats.org/officeDocument/2006/relationships/notesMaster" Target="/ppt/notesMasters/notesMaster1.xml" Id="Rf3cca3abfe0440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f09e1d88fb4f87" /><Relationship Type="http://schemas.openxmlformats.org/officeDocument/2006/relationships/notesMaster" Target="/ppt/notesMasters/notesMaster1.xml" Id="Rc87c4a125f714c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0a96d81c0248fb" /><Relationship Type="http://schemas.openxmlformats.org/officeDocument/2006/relationships/notesMaster" Target="/ppt/notesMasters/notesMaster1.xml" Id="R5f07f241e66340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73c3b96e8845dd" /><Relationship Type="http://schemas.openxmlformats.org/officeDocument/2006/relationships/notesMaster" Target="/ppt/notesMasters/notesMaster1.xml" Id="Rfac37192a0194a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local monitoring prototype built for safe demonstration and research evaluation.</a:t>
            </a:r>
          </a:p>
          <a:p xmlns:a="http://schemas.openxmlformats.org/drawingml/2006/main">
            <a:r>
              <a:t>The project does not claim proven DDoS protection or live ML accuracy.</a:t>
            </a:r>
          </a:p>
          <a:p xmlns:a="http://schemas.openxmlformats.org/drawingml/2006/main">
            <a:r>
              <a:t>Source: D:/Project/DDOS project/docs/REVIEW_BRIEF.md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system reports signals for investigation rather than a definitive attack verdict.</a:t>
            </a:r>
          </a:p>
          <a:p xmlns:a="http://schemas.openxmlformats.org/drawingml/2006/main">
            <a:r>
              <a:t>Traffic spikes can also come from legitimate activity.</a:t>
            </a:r>
          </a:p>
          <a:p xmlns:a="http://schemas.openxmlformats.org/drawingml/2006/main">
            <a:r>
              <a:t>Source: D:/Project/DDOS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capture reader extracts metadata and does not need to store packet payloads.</a:t>
            </a:r>
          </a:p>
          <a:p xmlns:a="http://schemas.openxmlformats.org/drawingml/2006/main">
            <a:r>
              <a:t>Offline capture reading, synthetic input, and bounded opt-in live capture are implemented.</a:t>
            </a:r>
          </a:p>
          <a:p xmlns:a="http://schemas.openxmlformats.org/drawingml/2006/main">
            <a:r>
              <a:t>Source: D:/Project/DDOS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adaptive rule uses a rolling median and median absolute deviation baseline after warm-up.</a:t>
            </a:r>
          </a:p>
          <a:p xmlns:a="http://schemas.openxmlformats.org/drawingml/2006/main">
            <a:r>
              <a:t>Rule thresholds are starting points and have not been calibrated on enough independent labeled captures.</a:t>
            </a:r>
          </a:p>
          <a:p xmlns:a="http://schemas.openxmlformats.org/drawingml/2006/main">
            <a:r>
              <a:t>Source: D:/Project/DDOS project/docs/DETECTION.md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quote the synthetic demo's perfect score as real-world accuracy.</a:t>
            </a:r>
          </a:p>
          <a:p xmlns:a="http://schemas.openxmlformats.org/drawingml/2006/main">
            <a:r>
              <a:t>The offline flow-model pipeline uses a separate feature schema from the live packet-window detector.</a:t>
            </a:r>
          </a:p>
          <a:p xmlns:a="http://schemas.openxmlformats.org/drawingml/2006/main">
            <a:r>
              <a:t>Source: D:/Project/DDOS project/docs/ML_EVALUATION.md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Friday file is a flow CSV rather than raw packets. Its SHA-256, 225,745 rows, and labels match the existing evaluation report.</a:t>
            </a:r>
          </a:p>
          <a:p xmlns:a="http://schemas.openxmlformats.org/drawingml/2006/main">
            <a:r>
              <a:t>Eighteen Xena files have one packet. Their original provenance has not been verified.</a:t>
            </a:r>
          </a:p>
          <a:p xmlns:a="http://schemas.openxmlformats.org/drawingml/2006/main">
            <a:r>
              <a:t>Local source: D:/Project/DDOS project/results/review-dataset-audit.json</a:t>
            </a:r>
          </a:p>
          <a:p xmlns:a="http://schemas.openxmlformats.org/drawingml/2006/main">
            <a:r>
              <a:t>Official CIC-IDS2017 description: https://www.unb.ca/cic/datasets/ids-2017.html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Friday result: DDoS recall 36.4%, benign false-alarm rate 24.8%. This is a separate cross-dataset flow baseline.</a:t>
            </a:r>
          </a:p>
          <a:p xmlns:a="http://schemas.openxmlformats.org/drawingml/2006/main">
            <a:r>
              <a:t>2018 result: 26 / 687,742 labeled DDoS flows detected, or 0.0038% recall. This was a separate held-out capture day before it was inspected for diagnosis.</a:t>
            </a:r>
          </a:p>
          <a:p xmlns:a="http://schemas.openxmlformats.org/drawingml/2006/main">
            <a:r>
              <a:t>Sources: D:/Project/DDOS project/results/cic-flow-baseline.json and D:/Project/DDOS project/results/cic-multisource-flow.json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 from the repository root: .\.venv\Scripts\python.exe -m streamlit run sentinelshield/dashboard/app.py</a:t>
            </a:r>
          </a:p>
          <a:p xmlns:a="http://schemas.openxmlformats.org/drawingml/2006/main">
            <a:r>
              <a:t>Leave the dashboard in Try a demo mode. Do not upload the 8.3 GB Thursday file because uploads are held in memory.</a:t>
            </a:r>
          </a:p>
          <a:p xmlns:a="http://schemas.openxmlformats.org/drawingml/2006/main">
            <a:r>
              <a:t>Source: D:/Project/DDOS project/docs/REVIEW_BRIEF.md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an honest scope statement: the system can monitor and explain suspicious traffic, but is not validated for deployment.</a:t>
            </a:r>
          </a:p>
          <a:p xmlns:a="http://schemas.openxmlformats.org/drawingml/2006/main">
            <a:r>
              <a:t>The capture-aware evaluator exists, but the local PCAP samples still lack enough independent benign captures for a trustworthy score.</a:t>
            </a:r>
          </a:p>
          <a:p xmlns:a="http://schemas.openxmlformats.org/drawingml/2006/main">
            <a:r>
              <a:t>Source: D:/Project/DDOS project/docs/REVIEW_BRIEF.md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Likely questions: Why rules? Where is ML? Does mitigation touch the firewall? Why are Xena files excluded?</a:t>
            </a:r>
          </a:p>
          <a:p xmlns:a="http://schemas.openxmlformats.org/drawingml/2006/main">
            <a:r>
              <a:t>See D:/Project/DDOS project/docs/REVIEW_BRIEF.md for concise answers.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2f011c6f840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65f60361c43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edfe6317544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e7c4ab2c040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d2acec7cd49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dc271548a4f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D3774D-8F14-489B-BBDB-EAD02E62E6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1A9C25-AF4E-47EC-BBE9-6B0BE91748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2CB956-C9E3-4B2C-BB0A-597987BCF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E352EB-18AB-434C-91C3-D516B085A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2E2C16-7181-40E0-9B47-B9C5C934B0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B44920-04C7-464F-BBE4-4485B7F40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5AB012-5DD2-44D6-84CA-CE4FECA16D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ECE87A-601A-4D3C-9C61-36F9811BC1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32A3C6-F495-4C34-80D2-7A1A87A5A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FC9F0F-0A93-4A01-97C5-005FACD60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8f53aa7473464c" /><Relationship Type="http://schemas.openxmlformats.org/officeDocument/2006/relationships/slideLayout" Target="/ppt/slideLayouts/slideLayout1.xml" Id="Re55342e10914479c" /><Relationship Type="http://schemas.openxmlformats.org/officeDocument/2006/relationships/slideLayout" Target="/ppt/slideLayouts/slideLayout2.xml" Id="R0e935a7a6284485e" /><Relationship Type="http://schemas.openxmlformats.org/officeDocument/2006/relationships/slideLayout" Target="/ppt/slideLayouts/slideLayout3.xml" Id="R99cf394c9ad047f1" /><Relationship Type="http://schemas.openxmlformats.org/officeDocument/2006/relationships/slideLayout" Target="/ppt/slideLayouts/slideLayout4.xml" Id="R467c8adc37ae4c0b" /><Relationship Type="http://schemas.openxmlformats.org/officeDocument/2006/relationships/slideLayout" Target="/ppt/slideLayouts/slideLayout5.xml" Id="Re8afc4c82e694407" /><Relationship Type="http://schemas.openxmlformats.org/officeDocument/2006/relationships/slideLayout" Target="/ppt/slideLayouts/slideLayout6.xml" Id="Rf1c4a6a9975846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5342e10914479c"/>
    <p:sldLayoutId xmlns:r="http://schemas.openxmlformats.org/officeDocument/2006/relationships" id="2147483650" r:id="R0e935a7a6284485e"/>
    <p:sldLayoutId xmlns:r="http://schemas.openxmlformats.org/officeDocument/2006/relationships" id="2147483651" r:id="R99cf394c9ad047f1"/>
    <p:sldLayoutId xmlns:r="http://schemas.openxmlformats.org/officeDocument/2006/relationships" id="2147483652" r:id="R467c8adc37ae4c0b"/>
    <p:sldLayoutId xmlns:r="http://schemas.openxmlformats.org/officeDocument/2006/relationships" id="2147483653" r:id="Re8afc4c82e694407"/>
    <p:sldLayoutId xmlns:r="http://schemas.openxmlformats.org/officeDocument/2006/relationships" id="2147483654" r:id="Rf1c4a6a9975846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a21ae4352431a" /><Relationship Type="http://schemas.openxmlformats.org/officeDocument/2006/relationships/notesSlide" Target="/ppt/notesSlides/notesSlide1.xml" Id="R6cf2ea89270d47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653a14d6dd42e0" /><Relationship Type="http://schemas.openxmlformats.org/officeDocument/2006/relationships/notesSlide" Target="/ppt/notesSlides/notesSlide2.xml" Id="R970999a6888d47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c5a052bbc4df7" /><Relationship Type="http://schemas.openxmlformats.org/officeDocument/2006/relationships/notesSlide" Target="/ppt/notesSlides/notesSlide3.xml" Id="R1b8fa6f9ede241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96f74481af4096" /><Relationship Type="http://schemas.openxmlformats.org/officeDocument/2006/relationships/notesSlide" Target="/ppt/notesSlides/notesSlide4.xml" Id="R9cf12d72a9be4a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13bf8412647d4" /><Relationship Type="http://schemas.openxmlformats.org/officeDocument/2006/relationships/notesSlide" Target="/ppt/notesSlides/notesSlide5.xml" Id="Rdc81c6e7585d40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85a239afae40f4" /><Relationship Type="http://schemas.openxmlformats.org/officeDocument/2006/relationships/notesSlide" Target="/ppt/notesSlides/notesSlide6.xml" Id="Rcf2d79b0fc5c49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88a8d1ef24179" /><Relationship Type="http://schemas.openxmlformats.org/officeDocument/2006/relationships/notesSlide" Target="/ppt/notesSlides/notesSlide7.xml" Id="Re2008583f37642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273714bcb4803" /><Relationship Type="http://schemas.openxmlformats.org/officeDocument/2006/relationships/notesSlide" Target="/ppt/notesSlides/notesSlide8.xml" Id="Rf3ea0016699343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f8138363a54c44" /><Relationship Type="http://schemas.openxmlformats.org/officeDocument/2006/relationships/notesSlide" Target="/ppt/notesSlides/notesSlide9.xml" Id="R52131ac4d3bd4e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ef8e8435c4000" /><Relationship Type="http://schemas.openxmlformats.org/officeDocument/2006/relationships/notesSlide" Target="/ppt/notesSlides/notesSlide10.xml" Id="R4fa58f9a5aa24d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B2BB1-B5BB-4499-BB80-5807A092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76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DE5A1D"/>
                </a:solidFill>
              </a:defRPr>
            </a:defPPr>
            <a:lvl1pPr algn="l">
              <a:defRPr sz="1275" b="1">
                <a:solidFill>
                  <a:srgbClr val="DE5A1D"/>
                </a:solidFill>
              </a:defRPr>
            </a:lvl1pPr>
            <a:lvl2pPr algn="l">
              <a:defRPr sz="1275" b="1">
                <a:solidFill>
                  <a:srgbClr val="DE5A1D"/>
                </a:solidFill>
              </a:defRPr>
            </a:lvl2pPr>
            <a:lvl3pPr algn="l">
              <a:defRPr sz="1275" b="1">
                <a:solidFill>
                  <a:srgbClr val="DE5A1D"/>
                </a:solidFill>
              </a:defRPr>
            </a:lvl3pPr>
            <a:lvl4pPr algn="l">
              <a:defRPr sz="1275" b="1">
                <a:solidFill>
                  <a:srgbClr val="DE5A1D"/>
                </a:solidFill>
              </a:defRPr>
            </a:lvl4pPr>
            <a:lvl5pPr algn="l">
              <a:defRPr sz="1275" b="1">
                <a:solidFill>
                  <a:srgbClr val="DE5A1D"/>
                </a:solidFill>
              </a:defRPr>
            </a:lvl5pPr>
            <a:lvl6pPr algn="l">
              <a:defRPr sz="1275" b="1">
                <a:solidFill>
                  <a:srgbClr val="DE5A1D"/>
                </a:solidFill>
              </a:defRPr>
            </a:lvl6pPr>
            <a:lvl7pPr algn="l">
              <a:defRPr sz="1275" b="1">
                <a:solidFill>
                  <a:srgbClr val="DE5A1D"/>
                </a:solidFill>
              </a:defRPr>
            </a:lvl7pPr>
            <a:lvl8pPr algn="l">
              <a:defRPr sz="1275" b="1">
                <a:solidFill>
                  <a:srgbClr val="DE5A1D"/>
                </a:solidFill>
              </a:defRPr>
            </a:lvl8pPr>
            <a:lvl9pPr algn="l">
              <a:defRPr sz="1275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E5A1D"/>
                </a:solidFill>
              </a:defRPr>
            </a:pPr>
            <a:r>
              <a:rPr sz="1275" b="1">
                <a:solidFill>
                  <a:srgbClr val="DE5A1D"/>
                </a:solidFill>
              </a:rPr>
              <a:t>PROJECT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0DA4B-3A03-430B-AEA1-6ACB4CB6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5100" b="1">
                <a:solidFill>
                  <a:srgbClr val="F7F7F5"/>
                </a:solidFill>
              </a:defRPr>
            </a:defPPr>
            <a:lvl1pPr algn="l">
              <a:defRPr sz="5100" b="1">
                <a:solidFill>
                  <a:srgbClr val="F7F7F5"/>
                </a:solidFill>
              </a:defRPr>
            </a:lvl1pPr>
            <a:lvl2pPr algn="l">
              <a:defRPr sz="5100" b="1">
                <a:solidFill>
                  <a:srgbClr val="F7F7F5"/>
                </a:solidFill>
              </a:defRPr>
            </a:lvl2pPr>
            <a:lvl3pPr algn="l">
              <a:defRPr sz="5100" b="1">
                <a:solidFill>
                  <a:srgbClr val="F7F7F5"/>
                </a:solidFill>
              </a:defRPr>
            </a:lvl3pPr>
            <a:lvl4pPr algn="l">
              <a:defRPr sz="5100" b="1">
                <a:solidFill>
                  <a:srgbClr val="F7F7F5"/>
                </a:solidFill>
              </a:defRPr>
            </a:lvl4pPr>
            <a:lvl5pPr algn="l">
              <a:defRPr sz="5100" b="1">
                <a:solidFill>
                  <a:srgbClr val="F7F7F5"/>
                </a:solidFill>
              </a:defRPr>
            </a:lvl5pPr>
            <a:lvl6pPr algn="l">
              <a:defRPr sz="5100" b="1">
                <a:solidFill>
                  <a:srgbClr val="F7F7F5"/>
                </a:solidFill>
              </a:defRPr>
            </a:lvl6pPr>
            <a:lvl7pPr algn="l">
              <a:defRPr sz="5100" b="1">
                <a:solidFill>
                  <a:srgbClr val="F7F7F5"/>
                </a:solidFill>
              </a:defRPr>
            </a:lvl7pPr>
            <a:lvl8pPr algn="l">
              <a:defRPr sz="5100" b="1">
                <a:solidFill>
                  <a:srgbClr val="F7F7F5"/>
                </a:solidFill>
              </a:defRPr>
            </a:lvl8pPr>
            <a:lvl9pPr algn="l">
              <a:defRPr sz="510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F7F7F5"/>
                </a:solidFill>
              </a:defRPr>
            </a:pPr>
            <a:r>
              <a:rPr sz="5100" b="1">
                <a:solidFill>
                  <a:srgbClr val="F7F7F5"/>
                </a:solidFill>
              </a:rPr>
              <a:t>SentinelShield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B54A0-48AE-4CBD-B17B-7D67120B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0">
                <a:solidFill>
                  <a:srgbClr val="C6C6C2"/>
                </a:solidFill>
              </a:defRPr>
            </a:defPPr>
            <a:lvl1pPr algn="l">
              <a:defRPr sz="2400" b="0">
                <a:solidFill>
                  <a:srgbClr val="C6C6C2"/>
                </a:solidFill>
              </a:defRPr>
            </a:lvl1pPr>
            <a:lvl2pPr algn="l">
              <a:defRPr sz="2400" b="0">
                <a:solidFill>
                  <a:srgbClr val="C6C6C2"/>
                </a:solidFill>
              </a:defRPr>
            </a:lvl2pPr>
            <a:lvl3pPr algn="l">
              <a:defRPr sz="2400" b="0">
                <a:solidFill>
                  <a:srgbClr val="C6C6C2"/>
                </a:solidFill>
              </a:defRPr>
            </a:lvl3pPr>
            <a:lvl4pPr algn="l">
              <a:defRPr sz="2400" b="0">
                <a:solidFill>
                  <a:srgbClr val="C6C6C2"/>
                </a:solidFill>
              </a:defRPr>
            </a:lvl4pPr>
            <a:lvl5pPr algn="l">
              <a:defRPr sz="2400" b="0">
                <a:solidFill>
                  <a:srgbClr val="C6C6C2"/>
                </a:solidFill>
              </a:defRPr>
            </a:lvl5pPr>
            <a:lvl6pPr algn="l">
              <a:defRPr sz="2400" b="0">
                <a:solidFill>
                  <a:srgbClr val="C6C6C2"/>
                </a:solidFill>
              </a:defRPr>
            </a:lvl6pPr>
            <a:lvl7pPr algn="l">
              <a:defRPr sz="2400" b="0">
                <a:solidFill>
                  <a:srgbClr val="C6C6C2"/>
                </a:solidFill>
              </a:defRPr>
            </a:lvl7pPr>
            <a:lvl8pPr algn="l">
              <a:defRPr sz="2400" b="0">
                <a:solidFill>
                  <a:srgbClr val="C6C6C2"/>
                </a:solidFill>
              </a:defRPr>
            </a:lvl8pPr>
            <a:lvl9pPr algn="l">
              <a:defRPr sz="2400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C6C6C2"/>
                </a:solidFill>
              </a:defRPr>
            </a:pPr>
            <a:r>
              <a:rPr sz="2400" b="0">
                <a:solidFill>
                  <a:srgbClr val="C6C6C2"/>
                </a:solidFill>
              </a:rPr>
              <a:t>Adaptive DDoS monitoring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C3E57-5707-4513-898B-F780B9F2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F7F7F5"/>
                </a:solidFill>
              </a:defRPr>
            </a:defPPr>
            <a:lvl1pPr algn="l">
              <a:defRPr sz="1500" b="0">
                <a:solidFill>
                  <a:srgbClr val="F7F7F5"/>
                </a:solidFill>
              </a:defRPr>
            </a:lvl1pPr>
            <a:lvl2pPr algn="l">
              <a:defRPr sz="1500" b="0">
                <a:solidFill>
                  <a:srgbClr val="F7F7F5"/>
                </a:solidFill>
              </a:defRPr>
            </a:lvl2pPr>
            <a:lvl3pPr algn="l">
              <a:defRPr sz="1500" b="0">
                <a:solidFill>
                  <a:srgbClr val="F7F7F5"/>
                </a:solidFill>
              </a:defRPr>
            </a:lvl3pPr>
            <a:lvl4pPr algn="l">
              <a:defRPr sz="1500" b="0">
                <a:solidFill>
                  <a:srgbClr val="F7F7F5"/>
                </a:solidFill>
              </a:defRPr>
            </a:lvl4pPr>
            <a:lvl5pPr algn="l">
              <a:defRPr sz="1500" b="0">
                <a:solidFill>
                  <a:srgbClr val="F7F7F5"/>
                </a:solidFill>
              </a:defRPr>
            </a:lvl5pPr>
            <a:lvl6pPr algn="l">
              <a:defRPr sz="1500" b="0">
                <a:solidFill>
                  <a:srgbClr val="F7F7F5"/>
                </a:solidFill>
              </a:defRPr>
            </a:lvl6pPr>
            <a:lvl7pPr algn="l">
              <a:defRPr sz="1500" b="0">
                <a:solidFill>
                  <a:srgbClr val="F7F7F5"/>
                </a:solidFill>
              </a:defRPr>
            </a:lvl7pPr>
            <a:lvl8pPr algn="l">
              <a:defRPr sz="1500" b="0">
                <a:solidFill>
                  <a:srgbClr val="F7F7F5"/>
                </a:solidFill>
              </a:defRPr>
            </a:lvl8pPr>
            <a:lvl9pPr algn="l">
              <a:defRPr sz="1500" b="0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7F7F5"/>
                </a:solidFill>
              </a:defRPr>
            </a:pPr>
            <a:r>
              <a:rPr sz="1500" b="0">
                <a:solidFill>
                  <a:srgbClr val="F7F7F5"/>
                </a:solidFill>
              </a:rPr>
              <a:t>Network traffic, explainable alerts, careful evaluation</a:t>
            </a:r>
          </a:p>
        </p:txBody>
      </p:sp>
    </p:spTree>
    <p:extLst>
      <p:ext uri="{BB962C8B-B14F-4D97-AF65-F5344CB8AC3E}">
        <p14:creationId xmlns:p14="http://schemas.microsoft.com/office/powerpoint/2010/main" val="463340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358FD-DA53-4E34-A86F-81ACAA19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DE5A1D"/>
                </a:solidFill>
              </a:defRPr>
            </a:defPPr>
            <a:lvl1pPr algn="l">
              <a:defRPr sz="1200" b="1">
                <a:solidFill>
                  <a:srgbClr val="DE5A1D"/>
                </a:solidFill>
              </a:defRPr>
            </a:lvl1pPr>
            <a:lvl2pPr algn="l">
              <a:defRPr sz="1200" b="1">
                <a:solidFill>
                  <a:srgbClr val="DE5A1D"/>
                </a:solidFill>
              </a:defRPr>
            </a:lvl2pPr>
            <a:lvl3pPr algn="l">
              <a:defRPr sz="1200" b="1">
                <a:solidFill>
                  <a:srgbClr val="DE5A1D"/>
                </a:solidFill>
              </a:defRPr>
            </a:lvl3pPr>
            <a:lvl4pPr algn="l">
              <a:defRPr sz="1200" b="1">
                <a:solidFill>
                  <a:srgbClr val="DE5A1D"/>
                </a:solidFill>
              </a:defRPr>
            </a:lvl4pPr>
            <a:lvl5pPr algn="l">
              <a:defRPr sz="1200" b="1">
                <a:solidFill>
                  <a:srgbClr val="DE5A1D"/>
                </a:solidFill>
              </a:defRPr>
            </a:lvl5pPr>
            <a:lvl6pPr algn="l">
              <a:defRPr sz="1200" b="1">
                <a:solidFill>
                  <a:srgbClr val="DE5A1D"/>
                </a:solidFill>
              </a:defRPr>
            </a:lvl6pPr>
            <a:lvl7pPr algn="l">
              <a:defRPr sz="1200" b="1">
                <a:solidFill>
                  <a:srgbClr val="DE5A1D"/>
                </a:solidFill>
              </a:defRPr>
            </a:lvl7pPr>
            <a:lvl8pPr algn="l">
              <a:defRPr sz="1200" b="1">
                <a:solidFill>
                  <a:srgbClr val="DE5A1D"/>
                </a:solidFill>
              </a:defRPr>
            </a:lvl8pPr>
            <a:lvl9pPr algn="l">
              <a:defRPr sz="120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E5A1D"/>
                </a:solidFill>
              </a:defRPr>
            </a:pPr>
            <a:r>
              <a:rPr sz="1200" b="1">
                <a:solidFill>
                  <a:srgbClr val="DE5A1D"/>
                </a:solidFill>
              </a:rPr>
              <a:t>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DE70B-996B-473D-B840-6B43E9E0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Why SentinelShield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08F48-04F3-4A62-8C41-97CA15FF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8C8C88"/>
                </a:solidFill>
              </a:defRPr>
            </a:defPPr>
            <a:lvl1pPr algn="r">
              <a:defRPr sz="1050" b="0">
                <a:solidFill>
                  <a:srgbClr val="8C8C88"/>
                </a:solidFill>
              </a:defRPr>
            </a:lvl1pPr>
            <a:lvl2pPr algn="r">
              <a:defRPr sz="1050" b="0">
                <a:solidFill>
                  <a:srgbClr val="8C8C88"/>
                </a:solidFill>
              </a:defRPr>
            </a:lvl2pPr>
            <a:lvl3pPr algn="r">
              <a:defRPr sz="1050" b="0">
                <a:solidFill>
                  <a:srgbClr val="8C8C88"/>
                </a:solidFill>
              </a:defRPr>
            </a:lvl3pPr>
            <a:lvl4pPr algn="r">
              <a:defRPr sz="1050" b="0">
                <a:solidFill>
                  <a:srgbClr val="8C8C88"/>
                </a:solidFill>
              </a:defRPr>
            </a:lvl4pPr>
            <a:lvl5pPr algn="r">
              <a:defRPr sz="1050" b="0">
                <a:solidFill>
                  <a:srgbClr val="8C8C88"/>
                </a:solidFill>
              </a:defRPr>
            </a:lvl5pPr>
            <a:lvl6pPr algn="r">
              <a:defRPr sz="1050" b="0">
                <a:solidFill>
                  <a:srgbClr val="8C8C88"/>
                </a:solidFill>
              </a:defRPr>
            </a:lvl6pPr>
            <a:lvl7pPr algn="r">
              <a:defRPr sz="1050" b="0">
                <a:solidFill>
                  <a:srgbClr val="8C8C88"/>
                </a:solidFill>
              </a:defRPr>
            </a:lvl7pPr>
            <a:lvl8pPr algn="r">
              <a:defRPr sz="1050" b="0">
                <a:solidFill>
                  <a:srgbClr val="8C8C88"/>
                </a:solidFill>
              </a:defRPr>
            </a:lvl8pPr>
            <a:lvl9pPr algn="r">
              <a:defRPr sz="1050" b="0">
                <a:solidFill>
                  <a:srgbClr val="8C8C88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C8C88"/>
                </a:solidFill>
              </a:defRPr>
            </a:pPr>
            <a:r>
              <a:rPr sz="1050" b="0">
                <a:solidFill>
                  <a:srgbClr val="8C8C8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4EFE6-0990-4406-8E41-012E76C0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F7F7F5"/>
                </a:solidFill>
              </a:defRPr>
            </a:defPPr>
            <a:lvl1pPr algn="l">
              <a:defRPr sz="2325" b="0">
                <a:solidFill>
                  <a:srgbClr val="F7F7F5"/>
                </a:solidFill>
              </a:defRPr>
            </a:lvl1pPr>
            <a:lvl2pPr algn="l">
              <a:defRPr sz="2325" b="0">
                <a:solidFill>
                  <a:srgbClr val="F7F7F5"/>
                </a:solidFill>
              </a:defRPr>
            </a:lvl2pPr>
            <a:lvl3pPr algn="l">
              <a:defRPr sz="2325" b="0">
                <a:solidFill>
                  <a:srgbClr val="F7F7F5"/>
                </a:solidFill>
              </a:defRPr>
            </a:lvl3pPr>
            <a:lvl4pPr algn="l">
              <a:defRPr sz="2325" b="0">
                <a:solidFill>
                  <a:srgbClr val="F7F7F5"/>
                </a:solidFill>
              </a:defRPr>
            </a:lvl4pPr>
            <a:lvl5pPr algn="l">
              <a:defRPr sz="2325" b="0">
                <a:solidFill>
                  <a:srgbClr val="F7F7F5"/>
                </a:solidFill>
              </a:defRPr>
            </a:lvl5pPr>
            <a:lvl6pPr algn="l">
              <a:defRPr sz="2325" b="0">
                <a:solidFill>
                  <a:srgbClr val="F7F7F5"/>
                </a:solidFill>
              </a:defRPr>
            </a:lvl6pPr>
            <a:lvl7pPr algn="l">
              <a:defRPr sz="2325" b="0">
                <a:solidFill>
                  <a:srgbClr val="F7F7F5"/>
                </a:solidFill>
              </a:defRPr>
            </a:lvl7pPr>
            <a:lvl8pPr algn="l">
              <a:defRPr sz="2325" b="0">
                <a:solidFill>
                  <a:srgbClr val="F7F7F5"/>
                </a:solidFill>
              </a:defRPr>
            </a:lvl8pPr>
            <a:lvl9pPr algn="l">
              <a:defRPr sz="2325" b="0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F7F7F5"/>
                </a:solidFill>
              </a:defRPr>
            </a:pPr>
            <a:r>
              <a:rPr sz="2325" b="0">
                <a:solidFill>
                  <a:srgbClr val="F7F7F5"/>
                </a:solidFill>
              </a:rPr>
              <a:t>A DDoS attack can make a service unavailable by overwhelming it with traffic.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C3A1D-190C-44A5-833E-6B19B4E8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DE5A1D"/>
                </a:solidFill>
              </a:defRPr>
            </a:defPPr>
            <a:lvl1pPr algn="l">
              <a:defRPr sz="2175" b="1">
                <a:solidFill>
                  <a:srgbClr val="DE5A1D"/>
                </a:solidFill>
              </a:defRPr>
            </a:lvl1pPr>
            <a:lvl2pPr algn="l">
              <a:defRPr sz="2175" b="1">
                <a:solidFill>
                  <a:srgbClr val="DE5A1D"/>
                </a:solidFill>
              </a:defRPr>
            </a:lvl2pPr>
            <a:lvl3pPr algn="l">
              <a:defRPr sz="2175" b="1">
                <a:solidFill>
                  <a:srgbClr val="DE5A1D"/>
                </a:solidFill>
              </a:defRPr>
            </a:lvl3pPr>
            <a:lvl4pPr algn="l">
              <a:defRPr sz="2175" b="1">
                <a:solidFill>
                  <a:srgbClr val="DE5A1D"/>
                </a:solidFill>
              </a:defRPr>
            </a:lvl4pPr>
            <a:lvl5pPr algn="l">
              <a:defRPr sz="2175" b="1">
                <a:solidFill>
                  <a:srgbClr val="DE5A1D"/>
                </a:solidFill>
              </a:defRPr>
            </a:lvl5pPr>
            <a:lvl6pPr algn="l">
              <a:defRPr sz="2175" b="1">
                <a:solidFill>
                  <a:srgbClr val="DE5A1D"/>
                </a:solidFill>
              </a:defRPr>
            </a:lvl6pPr>
            <a:lvl7pPr algn="l">
              <a:defRPr sz="2175" b="1">
                <a:solidFill>
                  <a:srgbClr val="DE5A1D"/>
                </a:solidFill>
              </a:defRPr>
            </a:lvl7pPr>
            <a:lvl8pPr algn="l">
              <a:defRPr sz="2175" b="1">
                <a:solidFill>
                  <a:srgbClr val="DE5A1D"/>
                </a:solidFill>
              </a:defRPr>
            </a:lvl8pPr>
            <a:lvl9pPr algn="l">
              <a:defRPr sz="2175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DE5A1D"/>
                </a:solidFill>
              </a:defRPr>
            </a:pPr>
            <a:r>
              <a:rPr sz="2175" b="1">
                <a:solidFill>
                  <a:srgbClr val="DE5A1D"/>
                </a:solidFill>
              </a:rPr>
              <a:t>But high traffic by itself does not prove an attack.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3E8D3-CB88-4A72-9FA4-3D5C5BDA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C6C6C2"/>
                </a:solidFill>
              </a:defRPr>
            </a:defPPr>
            <a:lvl1pPr algn="l">
              <a:defRPr sz="2025" b="0">
                <a:solidFill>
                  <a:srgbClr val="C6C6C2"/>
                </a:solidFill>
              </a:defRPr>
            </a:lvl1pPr>
            <a:lvl2pPr algn="l">
              <a:defRPr sz="2025" b="0">
                <a:solidFill>
                  <a:srgbClr val="C6C6C2"/>
                </a:solidFill>
              </a:defRPr>
            </a:lvl2pPr>
            <a:lvl3pPr algn="l">
              <a:defRPr sz="2025" b="0">
                <a:solidFill>
                  <a:srgbClr val="C6C6C2"/>
                </a:solidFill>
              </a:defRPr>
            </a:lvl3pPr>
            <a:lvl4pPr algn="l">
              <a:defRPr sz="2025" b="0">
                <a:solidFill>
                  <a:srgbClr val="C6C6C2"/>
                </a:solidFill>
              </a:defRPr>
            </a:lvl4pPr>
            <a:lvl5pPr algn="l">
              <a:defRPr sz="2025" b="0">
                <a:solidFill>
                  <a:srgbClr val="C6C6C2"/>
                </a:solidFill>
              </a:defRPr>
            </a:lvl5pPr>
            <a:lvl6pPr algn="l">
              <a:defRPr sz="2025" b="0">
                <a:solidFill>
                  <a:srgbClr val="C6C6C2"/>
                </a:solidFill>
              </a:defRPr>
            </a:lvl6pPr>
            <a:lvl7pPr algn="l">
              <a:defRPr sz="2025" b="0">
                <a:solidFill>
                  <a:srgbClr val="C6C6C2"/>
                </a:solidFill>
              </a:defRPr>
            </a:lvl7pPr>
            <a:lvl8pPr algn="l">
              <a:defRPr sz="2025" b="0">
                <a:solidFill>
                  <a:srgbClr val="C6C6C2"/>
                </a:solidFill>
              </a:defRPr>
            </a:lvl8pPr>
            <a:lvl9pPr algn="l">
              <a:defRPr sz="202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6C6C2"/>
                </a:solidFill>
              </a:defRPr>
            </a:pPr>
            <a:r>
              <a:rPr sz="2025" b="0">
                <a:solidFill>
                  <a:srgbClr val="C6C6C2"/>
                </a:solidFill>
              </a:rPr>
              <a:t>The project measures traffic patterns and explains why a window looks unusual.</a:t>
            </a:r>
          </a:p>
        </p:txBody>
      </p:sp>
    </p:spTree>
    <p:extLst>
      <p:ext uri="{BB962C8B-B14F-4D97-AF65-F5344CB8AC3E}">
        <p14:creationId xmlns:p14="http://schemas.microsoft.com/office/powerpoint/2010/main" val="11296047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BAE07-514F-4102-88F0-5BBAAC8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DE5A1D"/>
                </a:solidFill>
              </a:defRPr>
            </a:defPPr>
            <a:lvl1pPr algn="l">
              <a:defRPr sz="1200" b="1">
                <a:solidFill>
                  <a:srgbClr val="DE5A1D"/>
                </a:solidFill>
              </a:defRPr>
            </a:lvl1pPr>
            <a:lvl2pPr algn="l">
              <a:defRPr sz="1200" b="1">
                <a:solidFill>
                  <a:srgbClr val="DE5A1D"/>
                </a:solidFill>
              </a:defRPr>
            </a:lvl2pPr>
            <a:lvl3pPr algn="l">
              <a:defRPr sz="1200" b="1">
                <a:solidFill>
                  <a:srgbClr val="DE5A1D"/>
                </a:solidFill>
              </a:defRPr>
            </a:lvl3pPr>
            <a:lvl4pPr algn="l">
              <a:defRPr sz="1200" b="1">
                <a:solidFill>
                  <a:srgbClr val="DE5A1D"/>
                </a:solidFill>
              </a:defRPr>
            </a:lvl4pPr>
            <a:lvl5pPr algn="l">
              <a:defRPr sz="1200" b="1">
                <a:solidFill>
                  <a:srgbClr val="DE5A1D"/>
                </a:solidFill>
              </a:defRPr>
            </a:lvl5pPr>
            <a:lvl6pPr algn="l">
              <a:defRPr sz="1200" b="1">
                <a:solidFill>
                  <a:srgbClr val="DE5A1D"/>
                </a:solidFill>
              </a:defRPr>
            </a:lvl6pPr>
            <a:lvl7pPr algn="l">
              <a:defRPr sz="1200" b="1">
                <a:solidFill>
                  <a:srgbClr val="DE5A1D"/>
                </a:solidFill>
              </a:defRPr>
            </a:lvl7pPr>
            <a:lvl8pPr algn="l">
              <a:defRPr sz="1200" b="1">
                <a:solidFill>
                  <a:srgbClr val="DE5A1D"/>
                </a:solidFill>
              </a:defRPr>
            </a:lvl8pPr>
            <a:lvl9pPr algn="l">
              <a:defRPr sz="120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E5A1D"/>
                </a:solidFill>
              </a:defRPr>
            </a:pPr>
            <a:r>
              <a:rPr sz="1200" b="1">
                <a:solidFill>
                  <a:srgbClr val="DE5A1D"/>
                </a:solidFill>
              </a:rPr>
              <a:t>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B9A17-C8CE-4456-85DD-92E11818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How the pipeline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FC7A9-B49F-4787-A2BD-F1CEEC68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8C8C88"/>
                </a:solidFill>
              </a:defRPr>
            </a:defPPr>
            <a:lvl1pPr algn="r">
              <a:defRPr sz="1050" b="0">
                <a:solidFill>
                  <a:srgbClr val="8C8C88"/>
                </a:solidFill>
              </a:defRPr>
            </a:lvl1pPr>
            <a:lvl2pPr algn="r">
              <a:defRPr sz="1050" b="0">
                <a:solidFill>
                  <a:srgbClr val="8C8C88"/>
                </a:solidFill>
              </a:defRPr>
            </a:lvl2pPr>
            <a:lvl3pPr algn="r">
              <a:defRPr sz="1050" b="0">
                <a:solidFill>
                  <a:srgbClr val="8C8C88"/>
                </a:solidFill>
              </a:defRPr>
            </a:lvl3pPr>
            <a:lvl4pPr algn="r">
              <a:defRPr sz="1050" b="0">
                <a:solidFill>
                  <a:srgbClr val="8C8C88"/>
                </a:solidFill>
              </a:defRPr>
            </a:lvl4pPr>
            <a:lvl5pPr algn="r">
              <a:defRPr sz="1050" b="0">
                <a:solidFill>
                  <a:srgbClr val="8C8C88"/>
                </a:solidFill>
              </a:defRPr>
            </a:lvl5pPr>
            <a:lvl6pPr algn="r">
              <a:defRPr sz="1050" b="0">
                <a:solidFill>
                  <a:srgbClr val="8C8C88"/>
                </a:solidFill>
              </a:defRPr>
            </a:lvl6pPr>
            <a:lvl7pPr algn="r">
              <a:defRPr sz="1050" b="0">
                <a:solidFill>
                  <a:srgbClr val="8C8C88"/>
                </a:solidFill>
              </a:defRPr>
            </a:lvl7pPr>
            <a:lvl8pPr algn="r">
              <a:defRPr sz="1050" b="0">
                <a:solidFill>
                  <a:srgbClr val="8C8C88"/>
                </a:solidFill>
              </a:defRPr>
            </a:lvl8pPr>
            <a:lvl9pPr algn="r">
              <a:defRPr sz="1050" b="0">
                <a:solidFill>
                  <a:srgbClr val="8C8C88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C8C88"/>
                </a:solidFill>
              </a:defRPr>
            </a:pPr>
            <a:r>
              <a:rPr sz="1050" b="0">
                <a:solidFill>
                  <a:srgbClr val="8C8C8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656AB-01FD-4B9C-948D-2E61334E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19291-D430-47E0-B883-91F045CA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Collect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3DD86-0569-4CFB-BB01-ED1239B1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C6C6C2"/>
                </a:solidFill>
              </a:defRPr>
            </a:defPPr>
            <a:lvl1pPr algn="l">
              <a:defRPr sz="1725" b="0">
                <a:solidFill>
                  <a:srgbClr val="C6C6C2"/>
                </a:solidFill>
              </a:defRPr>
            </a:lvl1pPr>
            <a:lvl2pPr algn="l">
              <a:defRPr sz="1725" b="0">
                <a:solidFill>
                  <a:srgbClr val="C6C6C2"/>
                </a:solidFill>
              </a:defRPr>
            </a:lvl2pPr>
            <a:lvl3pPr algn="l">
              <a:defRPr sz="1725" b="0">
                <a:solidFill>
                  <a:srgbClr val="C6C6C2"/>
                </a:solidFill>
              </a:defRPr>
            </a:lvl3pPr>
            <a:lvl4pPr algn="l">
              <a:defRPr sz="1725" b="0">
                <a:solidFill>
                  <a:srgbClr val="C6C6C2"/>
                </a:solidFill>
              </a:defRPr>
            </a:lvl4pPr>
            <a:lvl5pPr algn="l">
              <a:defRPr sz="1725" b="0">
                <a:solidFill>
                  <a:srgbClr val="C6C6C2"/>
                </a:solidFill>
              </a:defRPr>
            </a:lvl5pPr>
            <a:lvl6pPr algn="l">
              <a:defRPr sz="1725" b="0">
                <a:solidFill>
                  <a:srgbClr val="C6C6C2"/>
                </a:solidFill>
              </a:defRPr>
            </a:lvl6pPr>
            <a:lvl7pPr algn="l">
              <a:defRPr sz="1725" b="0">
                <a:solidFill>
                  <a:srgbClr val="C6C6C2"/>
                </a:solidFill>
              </a:defRPr>
            </a:lvl7pPr>
            <a:lvl8pPr algn="l">
              <a:defRPr sz="1725" b="0">
                <a:solidFill>
                  <a:srgbClr val="C6C6C2"/>
                </a:solidFill>
              </a:defRPr>
            </a:lvl8pPr>
            <a:lvl9pPr algn="l">
              <a:defRPr sz="172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6C6C2"/>
                </a:solidFill>
              </a:defRPr>
            </a:pPr>
            <a:r>
              <a:rPr sz="1725" b="0">
                <a:solidFill>
                  <a:srgbClr val="C6C6C2"/>
                </a:solidFill>
              </a:rPr>
              <a:t>Demo traffic, an uploaded capture, or an opt-in live 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10433-29A8-4A42-B518-2B941BCC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23A2B-799D-487F-8FAE-7D826C4B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575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Measure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F1D08-E96A-4671-8143-1C781B8A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765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C6C6C2"/>
                </a:solidFill>
              </a:defRPr>
            </a:defPPr>
            <a:lvl1pPr algn="l">
              <a:defRPr sz="1725" b="0">
                <a:solidFill>
                  <a:srgbClr val="C6C6C2"/>
                </a:solidFill>
              </a:defRPr>
            </a:lvl1pPr>
            <a:lvl2pPr algn="l">
              <a:defRPr sz="1725" b="0">
                <a:solidFill>
                  <a:srgbClr val="C6C6C2"/>
                </a:solidFill>
              </a:defRPr>
            </a:lvl2pPr>
            <a:lvl3pPr algn="l">
              <a:defRPr sz="1725" b="0">
                <a:solidFill>
                  <a:srgbClr val="C6C6C2"/>
                </a:solidFill>
              </a:defRPr>
            </a:lvl3pPr>
            <a:lvl4pPr algn="l">
              <a:defRPr sz="1725" b="0">
                <a:solidFill>
                  <a:srgbClr val="C6C6C2"/>
                </a:solidFill>
              </a:defRPr>
            </a:lvl4pPr>
            <a:lvl5pPr algn="l">
              <a:defRPr sz="1725" b="0">
                <a:solidFill>
                  <a:srgbClr val="C6C6C2"/>
                </a:solidFill>
              </a:defRPr>
            </a:lvl5pPr>
            <a:lvl6pPr algn="l">
              <a:defRPr sz="1725" b="0">
                <a:solidFill>
                  <a:srgbClr val="C6C6C2"/>
                </a:solidFill>
              </a:defRPr>
            </a:lvl6pPr>
            <a:lvl7pPr algn="l">
              <a:defRPr sz="1725" b="0">
                <a:solidFill>
                  <a:srgbClr val="C6C6C2"/>
                </a:solidFill>
              </a:defRPr>
            </a:lvl7pPr>
            <a:lvl8pPr algn="l">
              <a:defRPr sz="1725" b="0">
                <a:solidFill>
                  <a:srgbClr val="C6C6C2"/>
                </a:solidFill>
              </a:defRPr>
            </a:lvl8pPr>
            <a:lvl9pPr algn="l">
              <a:defRPr sz="172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6C6C2"/>
                </a:solidFill>
              </a:defRPr>
            </a:pPr>
            <a:r>
              <a:rPr sz="1725" b="0">
                <a:solidFill>
                  <a:srgbClr val="C6C6C2"/>
                </a:solidFill>
              </a:rPr>
              <a:t>Group packet metadata into five-second windows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FDDE7-2029-43AE-92CC-CA7525A9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99A42-39E0-42D7-A28D-B65DB9AE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623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Decide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B2567-7327-4C42-89F9-28936A96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814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C6C6C2"/>
                </a:solidFill>
              </a:defRPr>
            </a:defPPr>
            <a:lvl1pPr algn="l">
              <a:defRPr sz="1725" b="0">
                <a:solidFill>
                  <a:srgbClr val="C6C6C2"/>
                </a:solidFill>
              </a:defRPr>
            </a:lvl1pPr>
            <a:lvl2pPr algn="l">
              <a:defRPr sz="1725" b="0">
                <a:solidFill>
                  <a:srgbClr val="C6C6C2"/>
                </a:solidFill>
              </a:defRPr>
            </a:lvl2pPr>
            <a:lvl3pPr algn="l">
              <a:defRPr sz="1725" b="0">
                <a:solidFill>
                  <a:srgbClr val="C6C6C2"/>
                </a:solidFill>
              </a:defRPr>
            </a:lvl3pPr>
            <a:lvl4pPr algn="l">
              <a:defRPr sz="1725" b="0">
                <a:solidFill>
                  <a:srgbClr val="C6C6C2"/>
                </a:solidFill>
              </a:defRPr>
            </a:lvl4pPr>
            <a:lvl5pPr algn="l">
              <a:defRPr sz="1725" b="0">
                <a:solidFill>
                  <a:srgbClr val="C6C6C2"/>
                </a:solidFill>
              </a:defRPr>
            </a:lvl5pPr>
            <a:lvl6pPr algn="l">
              <a:defRPr sz="1725" b="0">
                <a:solidFill>
                  <a:srgbClr val="C6C6C2"/>
                </a:solidFill>
              </a:defRPr>
            </a:lvl6pPr>
            <a:lvl7pPr algn="l">
              <a:defRPr sz="1725" b="0">
                <a:solidFill>
                  <a:srgbClr val="C6C6C2"/>
                </a:solidFill>
              </a:defRPr>
            </a:lvl7pPr>
            <a:lvl8pPr algn="l">
              <a:defRPr sz="1725" b="0">
                <a:solidFill>
                  <a:srgbClr val="C6C6C2"/>
                </a:solidFill>
              </a:defRPr>
            </a:lvl8pPr>
            <a:lvl9pPr algn="l">
              <a:defRPr sz="172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6C6C2"/>
                </a:solidFill>
              </a:defRPr>
            </a:pPr>
            <a:r>
              <a:rPr sz="1725" b="0">
                <a:solidFill>
                  <a:srgbClr val="C6C6C2"/>
                </a:solidFill>
              </a:rPr>
              <a:t>Apply packet-rate and TCP SYN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E1164-A25D-4D15-87F3-B59EB3C0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F657B-0853-41C0-94EF-71415CF1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67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Explain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2A43B-6C81-4ABA-9A2A-EDA0537A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86300"/>
            <a:ext cx="619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C6C6C2"/>
                </a:solidFill>
              </a:defRPr>
            </a:defPPr>
            <a:lvl1pPr algn="l">
              <a:defRPr sz="1725" b="0">
                <a:solidFill>
                  <a:srgbClr val="C6C6C2"/>
                </a:solidFill>
              </a:defRPr>
            </a:lvl1pPr>
            <a:lvl2pPr algn="l">
              <a:defRPr sz="1725" b="0">
                <a:solidFill>
                  <a:srgbClr val="C6C6C2"/>
                </a:solidFill>
              </a:defRPr>
            </a:lvl2pPr>
            <a:lvl3pPr algn="l">
              <a:defRPr sz="1725" b="0">
                <a:solidFill>
                  <a:srgbClr val="C6C6C2"/>
                </a:solidFill>
              </a:defRPr>
            </a:lvl3pPr>
            <a:lvl4pPr algn="l">
              <a:defRPr sz="1725" b="0">
                <a:solidFill>
                  <a:srgbClr val="C6C6C2"/>
                </a:solidFill>
              </a:defRPr>
            </a:lvl4pPr>
            <a:lvl5pPr algn="l">
              <a:defRPr sz="1725" b="0">
                <a:solidFill>
                  <a:srgbClr val="C6C6C2"/>
                </a:solidFill>
              </a:defRPr>
            </a:lvl5pPr>
            <a:lvl6pPr algn="l">
              <a:defRPr sz="1725" b="0">
                <a:solidFill>
                  <a:srgbClr val="C6C6C2"/>
                </a:solidFill>
              </a:defRPr>
            </a:lvl6pPr>
            <a:lvl7pPr algn="l">
              <a:defRPr sz="1725" b="0">
                <a:solidFill>
                  <a:srgbClr val="C6C6C2"/>
                </a:solidFill>
              </a:defRPr>
            </a:lvl7pPr>
            <a:lvl8pPr algn="l">
              <a:defRPr sz="1725" b="0">
                <a:solidFill>
                  <a:srgbClr val="C6C6C2"/>
                </a:solidFill>
              </a:defRPr>
            </a:lvl8pPr>
            <a:lvl9pPr algn="l">
              <a:defRPr sz="172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6C6C2"/>
                </a:solidFill>
              </a:defRPr>
            </a:pPr>
            <a:r>
              <a:rPr sz="1725" b="0">
                <a:solidFill>
                  <a:srgbClr val="C6C6C2"/>
                </a:solidFill>
              </a:rPr>
              <a:t>Show charts and reasons; store alerts in SQLite</a:t>
            </a:r>
          </a:p>
        </p:txBody>
      </p:sp>
    </p:spTree>
    <p:extLst>
      <p:ext uri="{BB962C8B-B14F-4D97-AF65-F5344CB8AC3E}">
        <p14:creationId xmlns:p14="http://schemas.microsoft.com/office/powerpoint/2010/main" val="17275065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346A9-87C6-4134-B50A-0484A548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DE5A1D"/>
                </a:solidFill>
              </a:defRPr>
            </a:defPPr>
            <a:lvl1pPr algn="l">
              <a:defRPr sz="1200" b="1">
                <a:solidFill>
                  <a:srgbClr val="DE5A1D"/>
                </a:solidFill>
              </a:defRPr>
            </a:lvl1pPr>
            <a:lvl2pPr algn="l">
              <a:defRPr sz="1200" b="1">
                <a:solidFill>
                  <a:srgbClr val="DE5A1D"/>
                </a:solidFill>
              </a:defRPr>
            </a:lvl2pPr>
            <a:lvl3pPr algn="l">
              <a:defRPr sz="1200" b="1">
                <a:solidFill>
                  <a:srgbClr val="DE5A1D"/>
                </a:solidFill>
              </a:defRPr>
            </a:lvl3pPr>
            <a:lvl4pPr algn="l">
              <a:defRPr sz="1200" b="1">
                <a:solidFill>
                  <a:srgbClr val="DE5A1D"/>
                </a:solidFill>
              </a:defRPr>
            </a:lvl4pPr>
            <a:lvl5pPr algn="l">
              <a:defRPr sz="1200" b="1">
                <a:solidFill>
                  <a:srgbClr val="DE5A1D"/>
                </a:solidFill>
              </a:defRPr>
            </a:lvl5pPr>
            <a:lvl6pPr algn="l">
              <a:defRPr sz="1200" b="1">
                <a:solidFill>
                  <a:srgbClr val="DE5A1D"/>
                </a:solidFill>
              </a:defRPr>
            </a:lvl6pPr>
            <a:lvl7pPr algn="l">
              <a:defRPr sz="1200" b="1">
                <a:solidFill>
                  <a:srgbClr val="DE5A1D"/>
                </a:solidFill>
              </a:defRPr>
            </a:lvl7pPr>
            <a:lvl8pPr algn="l">
              <a:defRPr sz="1200" b="1">
                <a:solidFill>
                  <a:srgbClr val="DE5A1D"/>
                </a:solidFill>
              </a:defRPr>
            </a:lvl8pPr>
            <a:lvl9pPr algn="l">
              <a:defRPr sz="120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E5A1D"/>
                </a:solidFill>
              </a:defRPr>
            </a:pPr>
            <a:r>
              <a:rPr sz="1200" b="1">
                <a:solidFill>
                  <a:srgbClr val="DE5A1D"/>
                </a:solidFill>
              </a:rPr>
              <a:t>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6059C-AD1E-4F7A-B35D-1C7B8EF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What the rules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E0B00-205B-497D-84F6-72194AA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8C8C88"/>
                </a:solidFill>
              </a:defRPr>
            </a:defPPr>
            <a:lvl1pPr algn="r">
              <a:defRPr sz="1050" b="0">
                <a:solidFill>
                  <a:srgbClr val="8C8C88"/>
                </a:solidFill>
              </a:defRPr>
            </a:lvl1pPr>
            <a:lvl2pPr algn="r">
              <a:defRPr sz="1050" b="0">
                <a:solidFill>
                  <a:srgbClr val="8C8C88"/>
                </a:solidFill>
              </a:defRPr>
            </a:lvl2pPr>
            <a:lvl3pPr algn="r">
              <a:defRPr sz="1050" b="0">
                <a:solidFill>
                  <a:srgbClr val="8C8C88"/>
                </a:solidFill>
              </a:defRPr>
            </a:lvl3pPr>
            <a:lvl4pPr algn="r">
              <a:defRPr sz="1050" b="0">
                <a:solidFill>
                  <a:srgbClr val="8C8C88"/>
                </a:solidFill>
              </a:defRPr>
            </a:lvl4pPr>
            <a:lvl5pPr algn="r">
              <a:defRPr sz="1050" b="0">
                <a:solidFill>
                  <a:srgbClr val="8C8C88"/>
                </a:solidFill>
              </a:defRPr>
            </a:lvl5pPr>
            <a:lvl6pPr algn="r">
              <a:defRPr sz="1050" b="0">
                <a:solidFill>
                  <a:srgbClr val="8C8C88"/>
                </a:solidFill>
              </a:defRPr>
            </a:lvl6pPr>
            <a:lvl7pPr algn="r">
              <a:defRPr sz="1050" b="0">
                <a:solidFill>
                  <a:srgbClr val="8C8C88"/>
                </a:solidFill>
              </a:defRPr>
            </a:lvl7pPr>
            <a:lvl8pPr algn="r">
              <a:defRPr sz="1050" b="0">
                <a:solidFill>
                  <a:srgbClr val="8C8C88"/>
                </a:solidFill>
              </a:defRPr>
            </a:lvl8pPr>
            <a:lvl9pPr algn="r">
              <a:defRPr sz="1050" b="0">
                <a:solidFill>
                  <a:srgbClr val="8C8C88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C8C88"/>
                </a:solidFill>
              </a:defRPr>
            </a:pPr>
            <a:r>
              <a:rPr sz="1050" b="0">
                <a:solidFill>
                  <a:srgbClr val="8C8C8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8F42C-A827-4D84-8E9E-883F100E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10214-D05C-4176-ACBA-40209032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Packet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CB1FB-A8A3-467C-B92A-11CC0920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C6C6C2"/>
                </a:solidFill>
              </a:defRPr>
            </a:defPPr>
            <a:lvl1pPr algn="l">
              <a:defRPr sz="1650" b="0">
                <a:solidFill>
                  <a:srgbClr val="C6C6C2"/>
                </a:solidFill>
              </a:defRPr>
            </a:lvl1pPr>
            <a:lvl2pPr algn="l">
              <a:defRPr sz="1650" b="0">
                <a:solidFill>
                  <a:srgbClr val="C6C6C2"/>
                </a:solidFill>
              </a:defRPr>
            </a:lvl2pPr>
            <a:lvl3pPr algn="l">
              <a:defRPr sz="1650" b="0">
                <a:solidFill>
                  <a:srgbClr val="C6C6C2"/>
                </a:solidFill>
              </a:defRPr>
            </a:lvl3pPr>
            <a:lvl4pPr algn="l">
              <a:defRPr sz="1650" b="0">
                <a:solidFill>
                  <a:srgbClr val="C6C6C2"/>
                </a:solidFill>
              </a:defRPr>
            </a:lvl4pPr>
            <a:lvl5pPr algn="l">
              <a:defRPr sz="1650" b="0">
                <a:solidFill>
                  <a:srgbClr val="C6C6C2"/>
                </a:solidFill>
              </a:defRPr>
            </a:lvl5pPr>
            <a:lvl6pPr algn="l">
              <a:defRPr sz="1650" b="0">
                <a:solidFill>
                  <a:srgbClr val="C6C6C2"/>
                </a:solidFill>
              </a:defRPr>
            </a:lvl6pPr>
            <a:lvl7pPr algn="l">
              <a:defRPr sz="1650" b="0">
                <a:solidFill>
                  <a:srgbClr val="C6C6C2"/>
                </a:solidFill>
              </a:defRPr>
            </a:lvl7pPr>
            <a:lvl8pPr algn="l">
              <a:defRPr sz="1650" b="0">
                <a:solidFill>
                  <a:srgbClr val="C6C6C2"/>
                </a:solidFill>
              </a:defRPr>
            </a:lvl8pPr>
            <a:lvl9pPr algn="l">
              <a:defRPr sz="1650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6C6C2"/>
                </a:solidFill>
              </a:defRPr>
            </a:pPr>
            <a:r>
              <a:rPr sz="1650" b="0">
                <a:solidFill>
                  <a:srgbClr val="C6C6C2"/>
                </a:solidFill>
              </a:rPr>
              <a:t>Compared with an adaptive baseline of recent normal-looking 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7883B-F882-4607-B658-7D838C8B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BC48D-AF98-4F44-B54E-9381CF39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861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SYN activity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B1B41-EF1E-4EB2-BA0F-97DA8D73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0517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C6C6C2"/>
                </a:solidFill>
              </a:defRPr>
            </a:defPPr>
            <a:lvl1pPr algn="l">
              <a:defRPr sz="1650" b="0">
                <a:solidFill>
                  <a:srgbClr val="C6C6C2"/>
                </a:solidFill>
              </a:defRPr>
            </a:lvl1pPr>
            <a:lvl2pPr algn="l">
              <a:defRPr sz="1650" b="0">
                <a:solidFill>
                  <a:srgbClr val="C6C6C2"/>
                </a:solidFill>
              </a:defRPr>
            </a:lvl2pPr>
            <a:lvl3pPr algn="l">
              <a:defRPr sz="1650" b="0">
                <a:solidFill>
                  <a:srgbClr val="C6C6C2"/>
                </a:solidFill>
              </a:defRPr>
            </a:lvl3pPr>
            <a:lvl4pPr algn="l">
              <a:defRPr sz="1650" b="0">
                <a:solidFill>
                  <a:srgbClr val="C6C6C2"/>
                </a:solidFill>
              </a:defRPr>
            </a:lvl4pPr>
            <a:lvl5pPr algn="l">
              <a:defRPr sz="1650" b="0">
                <a:solidFill>
                  <a:srgbClr val="C6C6C2"/>
                </a:solidFill>
              </a:defRPr>
            </a:lvl5pPr>
            <a:lvl6pPr algn="l">
              <a:defRPr sz="1650" b="0">
                <a:solidFill>
                  <a:srgbClr val="C6C6C2"/>
                </a:solidFill>
              </a:defRPr>
            </a:lvl6pPr>
            <a:lvl7pPr algn="l">
              <a:defRPr sz="1650" b="0">
                <a:solidFill>
                  <a:srgbClr val="C6C6C2"/>
                </a:solidFill>
              </a:defRPr>
            </a:lvl7pPr>
            <a:lvl8pPr algn="l">
              <a:defRPr sz="1650" b="0">
                <a:solidFill>
                  <a:srgbClr val="C6C6C2"/>
                </a:solidFill>
              </a:defRPr>
            </a:lvl8pPr>
            <a:lvl9pPr algn="l">
              <a:defRPr sz="1650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6C6C2"/>
                </a:solidFill>
              </a:defRPr>
            </a:pPr>
            <a:r>
              <a:rPr sz="1650" b="0">
                <a:solidFill>
                  <a:srgbClr val="C6C6C2"/>
                </a:solidFill>
              </a:rPr>
              <a:t>Initial TCP SYN share and rate reveal unusual connection attempts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F2B6B-B7DF-4B20-899B-EFBE8183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B64CE-4361-482B-BBA1-76507E92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76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Alert 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1C2D4-1AEC-4A1F-AD76-5FCD4C7C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958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C6C6C2"/>
                </a:solidFill>
              </a:defRPr>
            </a:defPPr>
            <a:lvl1pPr algn="l">
              <a:defRPr sz="1650" b="0">
                <a:solidFill>
                  <a:srgbClr val="C6C6C2"/>
                </a:solidFill>
              </a:defRPr>
            </a:lvl1pPr>
            <a:lvl2pPr algn="l">
              <a:defRPr sz="1650" b="0">
                <a:solidFill>
                  <a:srgbClr val="C6C6C2"/>
                </a:solidFill>
              </a:defRPr>
            </a:lvl2pPr>
            <a:lvl3pPr algn="l">
              <a:defRPr sz="1650" b="0">
                <a:solidFill>
                  <a:srgbClr val="C6C6C2"/>
                </a:solidFill>
              </a:defRPr>
            </a:lvl3pPr>
            <a:lvl4pPr algn="l">
              <a:defRPr sz="1650" b="0">
                <a:solidFill>
                  <a:srgbClr val="C6C6C2"/>
                </a:solidFill>
              </a:defRPr>
            </a:lvl4pPr>
            <a:lvl5pPr algn="l">
              <a:defRPr sz="1650" b="0">
                <a:solidFill>
                  <a:srgbClr val="C6C6C2"/>
                </a:solidFill>
              </a:defRPr>
            </a:lvl5pPr>
            <a:lvl6pPr algn="l">
              <a:defRPr sz="1650" b="0">
                <a:solidFill>
                  <a:srgbClr val="C6C6C2"/>
                </a:solidFill>
              </a:defRPr>
            </a:lvl6pPr>
            <a:lvl7pPr algn="l">
              <a:defRPr sz="1650" b="0">
                <a:solidFill>
                  <a:srgbClr val="C6C6C2"/>
                </a:solidFill>
              </a:defRPr>
            </a:lvl7pPr>
            <a:lvl8pPr algn="l">
              <a:defRPr sz="1650" b="0">
                <a:solidFill>
                  <a:srgbClr val="C6C6C2"/>
                </a:solidFill>
              </a:defRPr>
            </a:lvl8pPr>
            <a:lvl9pPr algn="l">
              <a:defRPr sz="1650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6C6C2"/>
                </a:solidFill>
              </a:defRPr>
            </a:pPr>
            <a:r>
              <a:rPr sz="1650" b="0">
                <a:solidFill>
                  <a:srgbClr val="C6C6C2"/>
                </a:solidFill>
              </a:rPr>
              <a:t>A combined rate and SYN signal receives “Potential DDoS Activity”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126F8-5606-4F01-AA6A-4AC67E1F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DE5A1D"/>
                </a:solidFill>
              </a:defRPr>
            </a:defPPr>
            <a:lvl1pPr algn="l">
              <a:defRPr sz="1500" b="1">
                <a:solidFill>
                  <a:srgbClr val="DE5A1D"/>
                </a:solidFill>
              </a:defRPr>
            </a:lvl1pPr>
            <a:lvl2pPr algn="l">
              <a:defRPr sz="1500" b="1">
                <a:solidFill>
                  <a:srgbClr val="DE5A1D"/>
                </a:solidFill>
              </a:defRPr>
            </a:lvl2pPr>
            <a:lvl3pPr algn="l">
              <a:defRPr sz="1500" b="1">
                <a:solidFill>
                  <a:srgbClr val="DE5A1D"/>
                </a:solidFill>
              </a:defRPr>
            </a:lvl3pPr>
            <a:lvl4pPr algn="l">
              <a:defRPr sz="1500" b="1">
                <a:solidFill>
                  <a:srgbClr val="DE5A1D"/>
                </a:solidFill>
              </a:defRPr>
            </a:lvl4pPr>
            <a:lvl5pPr algn="l">
              <a:defRPr sz="1500" b="1">
                <a:solidFill>
                  <a:srgbClr val="DE5A1D"/>
                </a:solidFill>
              </a:defRPr>
            </a:lvl5pPr>
            <a:lvl6pPr algn="l">
              <a:defRPr sz="1500" b="1">
                <a:solidFill>
                  <a:srgbClr val="DE5A1D"/>
                </a:solidFill>
              </a:defRPr>
            </a:lvl6pPr>
            <a:lvl7pPr algn="l">
              <a:defRPr sz="1500" b="1">
                <a:solidFill>
                  <a:srgbClr val="DE5A1D"/>
                </a:solidFill>
              </a:defRPr>
            </a:lvl7pPr>
            <a:lvl8pPr algn="l">
              <a:defRPr sz="1500" b="1">
                <a:solidFill>
                  <a:srgbClr val="DE5A1D"/>
                </a:solidFill>
              </a:defRPr>
            </a:lvl8pPr>
            <a:lvl9pPr algn="l">
              <a:defRPr sz="150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E5A1D"/>
                </a:solidFill>
              </a:defRPr>
            </a:pPr>
            <a:r>
              <a:rPr sz="1500" b="1">
                <a:solidFill>
                  <a:srgbClr val="DE5A1D"/>
                </a:solidFill>
              </a:rPr>
              <a:t>An alert is a reason to investigate, not confirmation of an attack.</a:t>
            </a:r>
          </a:p>
        </p:txBody>
      </p:sp>
    </p:spTree>
    <p:extLst>
      <p:ext uri="{BB962C8B-B14F-4D97-AF65-F5344CB8AC3E}">
        <p14:creationId xmlns:p14="http://schemas.microsoft.com/office/powerpoint/2010/main" val="1925087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B9ADF-5FD6-4750-BE08-2295F753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DE5A1D"/>
                </a:solidFill>
              </a:defRPr>
            </a:defPPr>
            <a:lvl1pPr algn="l">
              <a:defRPr sz="1200" b="1">
                <a:solidFill>
                  <a:srgbClr val="DE5A1D"/>
                </a:solidFill>
              </a:defRPr>
            </a:lvl1pPr>
            <a:lvl2pPr algn="l">
              <a:defRPr sz="1200" b="1">
                <a:solidFill>
                  <a:srgbClr val="DE5A1D"/>
                </a:solidFill>
              </a:defRPr>
            </a:lvl2pPr>
            <a:lvl3pPr algn="l">
              <a:defRPr sz="1200" b="1">
                <a:solidFill>
                  <a:srgbClr val="DE5A1D"/>
                </a:solidFill>
              </a:defRPr>
            </a:lvl3pPr>
            <a:lvl4pPr algn="l">
              <a:defRPr sz="1200" b="1">
                <a:solidFill>
                  <a:srgbClr val="DE5A1D"/>
                </a:solidFill>
              </a:defRPr>
            </a:lvl4pPr>
            <a:lvl5pPr algn="l">
              <a:defRPr sz="1200" b="1">
                <a:solidFill>
                  <a:srgbClr val="DE5A1D"/>
                </a:solidFill>
              </a:defRPr>
            </a:lvl5pPr>
            <a:lvl6pPr algn="l">
              <a:defRPr sz="1200" b="1">
                <a:solidFill>
                  <a:srgbClr val="DE5A1D"/>
                </a:solidFill>
              </a:defRPr>
            </a:lvl6pPr>
            <a:lvl7pPr algn="l">
              <a:defRPr sz="1200" b="1">
                <a:solidFill>
                  <a:srgbClr val="DE5A1D"/>
                </a:solidFill>
              </a:defRPr>
            </a:lvl7pPr>
            <a:lvl8pPr algn="l">
              <a:defRPr sz="1200" b="1">
                <a:solidFill>
                  <a:srgbClr val="DE5A1D"/>
                </a:solidFill>
              </a:defRPr>
            </a:lvl8pPr>
            <a:lvl9pPr algn="l">
              <a:defRPr sz="120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E5A1D"/>
                </a:solidFill>
              </a:defRPr>
            </a:pPr>
            <a:r>
              <a:rPr sz="1200" b="1">
                <a:solidFill>
                  <a:srgbClr val="DE5A1D"/>
                </a:solidFill>
              </a:rPr>
              <a:t>MACHINE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C7115-C22B-427E-84E8-400F9926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Two separate ML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6C116-6B20-4AEB-9066-3665A2A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8C8C88"/>
                </a:solidFill>
              </a:defRPr>
            </a:defPPr>
            <a:lvl1pPr algn="r">
              <a:defRPr sz="1050" b="0">
                <a:solidFill>
                  <a:srgbClr val="8C8C88"/>
                </a:solidFill>
              </a:defRPr>
            </a:lvl1pPr>
            <a:lvl2pPr algn="r">
              <a:defRPr sz="1050" b="0">
                <a:solidFill>
                  <a:srgbClr val="8C8C88"/>
                </a:solidFill>
              </a:defRPr>
            </a:lvl2pPr>
            <a:lvl3pPr algn="r">
              <a:defRPr sz="1050" b="0">
                <a:solidFill>
                  <a:srgbClr val="8C8C88"/>
                </a:solidFill>
              </a:defRPr>
            </a:lvl3pPr>
            <a:lvl4pPr algn="r">
              <a:defRPr sz="1050" b="0">
                <a:solidFill>
                  <a:srgbClr val="8C8C88"/>
                </a:solidFill>
              </a:defRPr>
            </a:lvl4pPr>
            <a:lvl5pPr algn="r">
              <a:defRPr sz="1050" b="0">
                <a:solidFill>
                  <a:srgbClr val="8C8C88"/>
                </a:solidFill>
              </a:defRPr>
            </a:lvl5pPr>
            <a:lvl6pPr algn="r">
              <a:defRPr sz="1050" b="0">
                <a:solidFill>
                  <a:srgbClr val="8C8C88"/>
                </a:solidFill>
              </a:defRPr>
            </a:lvl6pPr>
            <a:lvl7pPr algn="r">
              <a:defRPr sz="1050" b="0">
                <a:solidFill>
                  <a:srgbClr val="8C8C88"/>
                </a:solidFill>
              </a:defRPr>
            </a:lvl7pPr>
            <a:lvl8pPr algn="r">
              <a:defRPr sz="1050" b="0">
                <a:solidFill>
                  <a:srgbClr val="8C8C88"/>
                </a:solidFill>
              </a:defRPr>
            </a:lvl8pPr>
            <a:lvl9pPr algn="r">
              <a:defRPr sz="1050" b="0">
                <a:solidFill>
                  <a:srgbClr val="8C8C88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C8C88"/>
                </a:solidFill>
              </a:defRPr>
            </a:pPr>
            <a:r>
              <a:rPr sz="1050" b="0">
                <a:solidFill>
                  <a:srgbClr val="8C8C8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7EE22-6E55-4F03-8532-712FBAD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669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7F7F5"/>
                </a:solidFill>
              </a:defRPr>
            </a:defPPr>
            <a:lvl1pPr algn="l">
              <a:defRPr sz="2250" b="1">
                <a:solidFill>
                  <a:srgbClr val="F7F7F5"/>
                </a:solidFill>
              </a:defRPr>
            </a:lvl1pPr>
            <a:lvl2pPr algn="l">
              <a:defRPr sz="2250" b="1">
                <a:solidFill>
                  <a:srgbClr val="F7F7F5"/>
                </a:solidFill>
              </a:defRPr>
            </a:lvl2pPr>
            <a:lvl3pPr algn="l">
              <a:defRPr sz="2250" b="1">
                <a:solidFill>
                  <a:srgbClr val="F7F7F5"/>
                </a:solidFill>
              </a:defRPr>
            </a:lvl3pPr>
            <a:lvl4pPr algn="l">
              <a:defRPr sz="2250" b="1">
                <a:solidFill>
                  <a:srgbClr val="F7F7F5"/>
                </a:solidFill>
              </a:defRPr>
            </a:lvl4pPr>
            <a:lvl5pPr algn="l">
              <a:defRPr sz="2250" b="1">
                <a:solidFill>
                  <a:srgbClr val="F7F7F5"/>
                </a:solidFill>
              </a:defRPr>
            </a:lvl5pPr>
            <a:lvl6pPr algn="l">
              <a:defRPr sz="2250" b="1">
                <a:solidFill>
                  <a:srgbClr val="F7F7F5"/>
                </a:solidFill>
              </a:defRPr>
            </a:lvl6pPr>
            <a:lvl7pPr algn="l">
              <a:defRPr sz="2250" b="1">
                <a:solidFill>
                  <a:srgbClr val="F7F7F5"/>
                </a:solidFill>
              </a:defRPr>
            </a:lvl7pPr>
            <a:lvl8pPr algn="l">
              <a:defRPr sz="2250" b="1">
                <a:solidFill>
                  <a:srgbClr val="F7F7F5"/>
                </a:solidFill>
              </a:defRPr>
            </a:lvl8pPr>
            <a:lvl9pPr algn="l">
              <a:defRPr sz="225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7F7F5"/>
                </a:solidFill>
              </a:defRPr>
            </a:pPr>
            <a:r>
              <a:rPr sz="2250" b="1">
                <a:solidFill>
                  <a:srgbClr val="F7F7F5"/>
                </a:solidFill>
              </a:rPr>
              <a:t>Dashboard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E14A2-9F75-4492-8DB1-F188A94F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4857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C6C6C2"/>
                </a:solidFill>
              </a:defRPr>
            </a:defPPr>
            <a:lvl1pPr algn="l">
              <a:defRPr sz="1875" b="0">
                <a:solidFill>
                  <a:srgbClr val="C6C6C2"/>
                </a:solidFill>
              </a:defRPr>
            </a:lvl1pPr>
            <a:lvl2pPr algn="l">
              <a:defRPr sz="1875" b="0">
                <a:solidFill>
                  <a:srgbClr val="C6C6C2"/>
                </a:solidFill>
              </a:defRPr>
            </a:lvl2pPr>
            <a:lvl3pPr algn="l">
              <a:defRPr sz="1875" b="0">
                <a:solidFill>
                  <a:srgbClr val="C6C6C2"/>
                </a:solidFill>
              </a:defRPr>
            </a:lvl3pPr>
            <a:lvl4pPr algn="l">
              <a:defRPr sz="1875" b="0">
                <a:solidFill>
                  <a:srgbClr val="C6C6C2"/>
                </a:solidFill>
              </a:defRPr>
            </a:lvl4pPr>
            <a:lvl5pPr algn="l">
              <a:defRPr sz="1875" b="0">
                <a:solidFill>
                  <a:srgbClr val="C6C6C2"/>
                </a:solidFill>
              </a:defRPr>
            </a:lvl5pPr>
            <a:lvl6pPr algn="l">
              <a:defRPr sz="1875" b="0">
                <a:solidFill>
                  <a:srgbClr val="C6C6C2"/>
                </a:solidFill>
              </a:defRPr>
            </a:lvl6pPr>
            <a:lvl7pPr algn="l">
              <a:defRPr sz="1875" b="0">
                <a:solidFill>
                  <a:srgbClr val="C6C6C2"/>
                </a:solidFill>
              </a:defRPr>
            </a:lvl7pPr>
            <a:lvl8pPr algn="l">
              <a:defRPr sz="1875" b="0">
                <a:solidFill>
                  <a:srgbClr val="C6C6C2"/>
                </a:solidFill>
              </a:defRPr>
            </a:lvl8pPr>
            <a:lvl9pPr algn="l">
              <a:defRPr sz="187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C6C6C2"/>
                </a:solidFill>
              </a:defRPr>
            </a:pPr>
            <a:r>
              <a:rPr sz="1875" b="0">
                <a:solidFill>
                  <a:srgbClr val="C6C6C2"/>
                </a:solidFill>
              </a:rPr>
              <a:t>A Random Forest trained on generated examples checks that the training and inference path works. These examples are synthetic.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53D18-2951-420A-A2FD-ED40BF74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7F7F5"/>
                </a:solidFill>
              </a:defRPr>
            </a:defPPr>
            <a:lvl1pPr algn="l">
              <a:defRPr sz="2250" b="1">
                <a:solidFill>
                  <a:srgbClr val="F7F7F5"/>
                </a:solidFill>
              </a:defRPr>
            </a:lvl1pPr>
            <a:lvl2pPr algn="l">
              <a:defRPr sz="2250" b="1">
                <a:solidFill>
                  <a:srgbClr val="F7F7F5"/>
                </a:solidFill>
              </a:defRPr>
            </a:lvl2pPr>
            <a:lvl3pPr algn="l">
              <a:defRPr sz="2250" b="1">
                <a:solidFill>
                  <a:srgbClr val="F7F7F5"/>
                </a:solidFill>
              </a:defRPr>
            </a:lvl3pPr>
            <a:lvl4pPr algn="l">
              <a:defRPr sz="2250" b="1">
                <a:solidFill>
                  <a:srgbClr val="F7F7F5"/>
                </a:solidFill>
              </a:defRPr>
            </a:lvl4pPr>
            <a:lvl5pPr algn="l">
              <a:defRPr sz="2250" b="1">
                <a:solidFill>
                  <a:srgbClr val="F7F7F5"/>
                </a:solidFill>
              </a:defRPr>
            </a:lvl5pPr>
            <a:lvl6pPr algn="l">
              <a:defRPr sz="2250" b="1">
                <a:solidFill>
                  <a:srgbClr val="F7F7F5"/>
                </a:solidFill>
              </a:defRPr>
            </a:lvl6pPr>
            <a:lvl7pPr algn="l">
              <a:defRPr sz="2250" b="1">
                <a:solidFill>
                  <a:srgbClr val="F7F7F5"/>
                </a:solidFill>
              </a:defRPr>
            </a:lvl7pPr>
            <a:lvl8pPr algn="l">
              <a:defRPr sz="2250" b="1">
                <a:solidFill>
                  <a:srgbClr val="F7F7F5"/>
                </a:solidFill>
              </a:defRPr>
            </a:lvl8pPr>
            <a:lvl9pPr algn="l">
              <a:defRPr sz="225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7F7F5"/>
                </a:solidFill>
              </a:defRPr>
            </a:pPr>
            <a:r>
              <a:rPr sz="2250" b="1">
                <a:solidFill>
                  <a:srgbClr val="F7F7F5"/>
                </a:solidFill>
              </a:rPr>
              <a:t>Real-data experiment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2F482-C7FB-47CE-B486-79116290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4857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C6C6C2"/>
                </a:solidFill>
              </a:defRPr>
            </a:defPPr>
            <a:lvl1pPr algn="l">
              <a:defRPr sz="1875" b="0">
                <a:solidFill>
                  <a:srgbClr val="C6C6C2"/>
                </a:solidFill>
              </a:defRPr>
            </a:lvl1pPr>
            <a:lvl2pPr algn="l">
              <a:defRPr sz="1875" b="0">
                <a:solidFill>
                  <a:srgbClr val="C6C6C2"/>
                </a:solidFill>
              </a:defRPr>
            </a:lvl2pPr>
            <a:lvl3pPr algn="l">
              <a:defRPr sz="1875" b="0">
                <a:solidFill>
                  <a:srgbClr val="C6C6C2"/>
                </a:solidFill>
              </a:defRPr>
            </a:lvl3pPr>
            <a:lvl4pPr algn="l">
              <a:defRPr sz="1875" b="0">
                <a:solidFill>
                  <a:srgbClr val="C6C6C2"/>
                </a:solidFill>
              </a:defRPr>
            </a:lvl4pPr>
            <a:lvl5pPr algn="l">
              <a:defRPr sz="1875" b="0">
                <a:solidFill>
                  <a:srgbClr val="C6C6C2"/>
                </a:solidFill>
              </a:defRPr>
            </a:lvl5pPr>
            <a:lvl6pPr algn="l">
              <a:defRPr sz="1875" b="0">
                <a:solidFill>
                  <a:srgbClr val="C6C6C2"/>
                </a:solidFill>
              </a:defRPr>
            </a:lvl6pPr>
            <a:lvl7pPr algn="l">
              <a:defRPr sz="1875" b="0">
                <a:solidFill>
                  <a:srgbClr val="C6C6C2"/>
                </a:solidFill>
              </a:defRPr>
            </a:lvl7pPr>
            <a:lvl8pPr algn="l">
              <a:defRPr sz="1875" b="0">
                <a:solidFill>
                  <a:srgbClr val="C6C6C2"/>
                </a:solidFill>
              </a:defRPr>
            </a:lvl8pPr>
            <a:lvl9pPr algn="l">
              <a:defRPr sz="187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C6C6C2"/>
                </a:solidFill>
              </a:defRPr>
            </a:pPr>
            <a:r>
              <a:rPr sz="1875" b="0">
                <a:solidFill>
                  <a:srgbClr val="C6C6C2"/>
                </a:solidFill>
              </a:rPr>
              <a:t>A separate Random Forest uses CIC flow CSV features. Its external results are too weak for live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169A5-5860-44F8-9B53-1C00B9A8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DE5A1D"/>
                </a:solidFill>
              </a:defRPr>
            </a:defPPr>
            <a:lvl1pPr algn="l">
              <a:defRPr sz="1725" b="1">
                <a:solidFill>
                  <a:srgbClr val="DE5A1D"/>
                </a:solidFill>
              </a:defRPr>
            </a:lvl1pPr>
            <a:lvl2pPr algn="l">
              <a:defRPr sz="1725" b="1">
                <a:solidFill>
                  <a:srgbClr val="DE5A1D"/>
                </a:solidFill>
              </a:defRPr>
            </a:lvl2pPr>
            <a:lvl3pPr algn="l">
              <a:defRPr sz="1725" b="1">
                <a:solidFill>
                  <a:srgbClr val="DE5A1D"/>
                </a:solidFill>
              </a:defRPr>
            </a:lvl3pPr>
            <a:lvl4pPr algn="l">
              <a:defRPr sz="1725" b="1">
                <a:solidFill>
                  <a:srgbClr val="DE5A1D"/>
                </a:solidFill>
              </a:defRPr>
            </a:lvl4pPr>
            <a:lvl5pPr algn="l">
              <a:defRPr sz="1725" b="1">
                <a:solidFill>
                  <a:srgbClr val="DE5A1D"/>
                </a:solidFill>
              </a:defRPr>
            </a:lvl5pPr>
            <a:lvl6pPr algn="l">
              <a:defRPr sz="1725" b="1">
                <a:solidFill>
                  <a:srgbClr val="DE5A1D"/>
                </a:solidFill>
              </a:defRPr>
            </a:lvl6pPr>
            <a:lvl7pPr algn="l">
              <a:defRPr sz="1725" b="1">
                <a:solidFill>
                  <a:srgbClr val="DE5A1D"/>
                </a:solidFill>
              </a:defRPr>
            </a:lvl7pPr>
            <a:lvl8pPr algn="l">
              <a:defRPr sz="1725" b="1">
                <a:solidFill>
                  <a:srgbClr val="DE5A1D"/>
                </a:solidFill>
              </a:defRPr>
            </a:lvl8pPr>
            <a:lvl9pPr algn="l">
              <a:defRPr sz="1725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E5A1D"/>
                </a:solidFill>
              </a:defRPr>
            </a:pPr>
            <a:r>
              <a:rPr sz="1725" b="1">
                <a:solidFill>
                  <a:srgbClr val="DE5A1D"/>
                </a:solidFill>
              </a:rPr>
              <a:t>Flow features and packet-window features are different schemas.</a:t>
            </a:r>
          </a:p>
        </p:txBody>
      </p:sp>
    </p:spTree>
    <p:extLst>
      <p:ext uri="{BB962C8B-B14F-4D97-AF65-F5344CB8AC3E}">
        <p14:creationId xmlns:p14="http://schemas.microsoft.com/office/powerpoint/2010/main" val="609719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0628B-1CC0-4D83-8791-CED5E8F1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DE5A1D"/>
                </a:solidFill>
              </a:defRPr>
            </a:defPPr>
            <a:lvl1pPr algn="l">
              <a:defRPr sz="1200" b="1">
                <a:solidFill>
                  <a:srgbClr val="DE5A1D"/>
                </a:solidFill>
              </a:defRPr>
            </a:lvl1pPr>
            <a:lvl2pPr algn="l">
              <a:defRPr sz="1200" b="1">
                <a:solidFill>
                  <a:srgbClr val="DE5A1D"/>
                </a:solidFill>
              </a:defRPr>
            </a:lvl2pPr>
            <a:lvl3pPr algn="l">
              <a:defRPr sz="1200" b="1">
                <a:solidFill>
                  <a:srgbClr val="DE5A1D"/>
                </a:solidFill>
              </a:defRPr>
            </a:lvl3pPr>
            <a:lvl4pPr algn="l">
              <a:defRPr sz="1200" b="1">
                <a:solidFill>
                  <a:srgbClr val="DE5A1D"/>
                </a:solidFill>
              </a:defRPr>
            </a:lvl4pPr>
            <a:lvl5pPr algn="l">
              <a:defRPr sz="1200" b="1">
                <a:solidFill>
                  <a:srgbClr val="DE5A1D"/>
                </a:solidFill>
              </a:defRPr>
            </a:lvl5pPr>
            <a:lvl6pPr algn="l">
              <a:defRPr sz="1200" b="1">
                <a:solidFill>
                  <a:srgbClr val="DE5A1D"/>
                </a:solidFill>
              </a:defRPr>
            </a:lvl6pPr>
            <a:lvl7pPr algn="l">
              <a:defRPr sz="1200" b="1">
                <a:solidFill>
                  <a:srgbClr val="DE5A1D"/>
                </a:solidFill>
              </a:defRPr>
            </a:lvl7pPr>
            <a:lvl8pPr algn="l">
              <a:defRPr sz="1200" b="1">
                <a:solidFill>
                  <a:srgbClr val="DE5A1D"/>
                </a:solidFill>
              </a:defRPr>
            </a:lvl8pPr>
            <a:lvl9pPr algn="l">
              <a:defRPr sz="120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E5A1D"/>
                </a:solidFill>
              </a:defRPr>
            </a:pPr>
            <a:r>
              <a:rPr sz="1200" b="1">
                <a:solidFill>
                  <a:srgbClr val="DE5A1D"/>
                </a:solidFill>
              </a:rPr>
              <a:t>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1052D-0C6A-4C3D-9E13-3FC89596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Which datasets help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80C2F-8F1E-4B18-AC99-E2419081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8C8C88"/>
                </a:solidFill>
              </a:defRPr>
            </a:defPPr>
            <a:lvl1pPr algn="r">
              <a:defRPr sz="1050" b="0">
                <a:solidFill>
                  <a:srgbClr val="8C8C88"/>
                </a:solidFill>
              </a:defRPr>
            </a:lvl1pPr>
            <a:lvl2pPr algn="r">
              <a:defRPr sz="1050" b="0">
                <a:solidFill>
                  <a:srgbClr val="8C8C88"/>
                </a:solidFill>
              </a:defRPr>
            </a:lvl2pPr>
            <a:lvl3pPr algn="r">
              <a:defRPr sz="1050" b="0">
                <a:solidFill>
                  <a:srgbClr val="8C8C88"/>
                </a:solidFill>
              </a:defRPr>
            </a:lvl3pPr>
            <a:lvl4pPr algn="r">
              <a:defRPr sz="1050" b="0">
                <a:solidFill>
                  <a:srgbClr val="8C8C88"/>
                </a:solidFill>
              </a:defRPr>
            </a:lvl4pPr>
            <a:lvl5pPr algn="r">
              <a:defRPr sz="1050" b="0">
                <a:solidFill>
                  <a:srgbClr val="8C8C88"/>
                </a:solidFill>
              </a:defRPr>
            </a:lvl5pPr>
            <a:lvl6pPr algn="r">
              <a:defRPr sz="1050" b="0">
                <a:solidFill>
                  <a:srgbClr val="8C8C88"/>
                </a:solidFill>
              </a:defRPr>
            </a:lvl6pPr>
            <a:lvl7pPr algn="r">
              <a:defRPr sz="1050" b="0">
                <a:solidFill>
                  <a:srgbClr val="8C8C88"/>
                </a:solidFill>
              </a:defRPr>
            </a:lvl7pPr>
            <a:lvl8pPr algn="r">
              <a:defRPr sz="1050" b="0">
                <a:solidFill>
                  <a:srgbClr val="8C8C88"/>
                </a:solidFill>
              </a:defRPr>
            </a:lvl8pPr>
            <a:lvl9pPr algn="r">
              <a:defRPr sz="1050" b="0">
                <a:solidFill>
                  <a:srgbClr val="8C8C88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C8C88"/>
                </a:solidFill>
              </a:defRPr>
            </a:pPr>
            <a:r>
              <a:rPr sz="1050" b="0">
                <a:solidFill>
                  <a:srgbClr val="8C8C8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F7411-82ED-408D-820D-0EC6E5E8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F2776-FA69-4AAD-8801-90AD05C4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Friday 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1DC7D-4FDD-42C7-9A20-DC8558D5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C6C6C2"/>
                </a:solidFill>
              </a:defRPr>
            </a:defPPr>
            <a:lvl1pPr algn="l">
              <a:defRPr sz="1575" b="0">
                <a:solidFill>
                  <a:srgbClr val="C6C6C2"/>
                </a:solidFill>
              </a:defRPr>
            </a:lvl1pPr>
            <a:lvl2pPr algn="l">
              <a:defRPr sz="1575" b="0">
                <a:solidFill>
                  <a:srgbClr val="C6C6C2"/>
                </a:solidFill>
              </a:defRPr>
            </a:lvl2pPr>
            <a:lvl3pPr algn="l">
              <a:defRPr sz="1575" b="0">
                <a:solidFill>
                  <a:srgbClr val="C6C6C2"/>
                </a:solidFill>
              </a:defRPr>
            </a:lvl3pPr>
            <a:lvl4pPr algn="l">
              <a:defRPr sz="1575" b="0">
                <a:solidFill>
                  <a:srgbClr val="C6C6C2"/>
                </a:solidFill>
              </a:defRPr>
            </a:lvl4pPr>
            <a:lvl5pPr algn="l">
              <a:defRPr sz="1575" b="0">
                <a:solidFill>
                  <a:srgbClr val="C6C6C2"/>
                </a:solidFill>
              </a:defRPr>
            </a:lvl5pPr>
            <a:lvl6pPr algn="l">
              <a:defRPr sz="1575" b="0">
                <a:solidFill>
                  <a:srgbClr val="C6C6C2"/>
                </a:solidFill>
              </a:defRPr>
            </a:lvl6pPr>
            <a:lvl7pPr algn="l">
              <a:defRPr sz="1575" b="0">
                <a:solidFill>
                  <a:srgbClr val="C6C6C2"/>
                </a:solidFill>
              </a:defRPr>
            </a:lvl7pPr>
            <a:lvl8pPr algn="l">
              <a:defRPr sz="1575" b="0">
                <a:solidFill>
                  <a:srgbClr val="C6C6C2"/>
                </a:solidFill>
              </a:defRPr>
            </a:lvl8pPr>
            <a:lvl9pPr algn="l">
              <a:defRPr sz="157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6C6C2"/>
                </a:solidFill>
              </a:defRPr>
            </a:pPr>
            <a:r>
              <a:rPr sz="1575" b="0">
                <a:solidFill>
                  <a:srgbClr val="C6C6C2"/>
                </a:solidFill>
              </a:rPr>
              <a:t>Labeled CIC-IDS2017 flows; already used for external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D5DA4-E8E1-4566-8C34-136E4704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F07C4-58DA-449B-A00D-2B897CC5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98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Thursday PCAP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E979A-EA87-4781-B59A-EB88664B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C6C6C2"/>
                </a:solidFill>
              </a:defRPr>
            </a:defPPr>
            <a:lvl1pPr algn="l">
              <a:defRPr sz="1575" b="0">
                <a:solidFill>
                  <a:srgbClr val="C6C6C2"/>
                </a:solidFill>
              </a:defRPr>
            </a:lvl1pPr>
            <a:lvl2pPr algn="l">
              <a:defRPr sz="1575" b="0">
                <a:solidFill>
                  <a:srgbClr val="C6C6C2"/>
                </a:solidFill>
              </a:defRPr>
            </a:lvl2pPr>
            <a:lvl3pPr algn="l">
              <a:defRPr sz="1575" b="0">
                <a:solidFill>
                  <a:srgbClr val="C6C6C2"/>
                </a:solidFill>
              </a:defRPr>
            </a:lvl3pPr>
            <a:lvl4pPr algn="l">
              <a:defRPr sz="1575" b="0">
                <a:solidFill>
                  <a:srgbClr val="C6C6C2"/>
                </a:solidFill>
              </a:defRPr>
            </a:lvl4pPr>
            <a:lvl5pPr algn="l">
              <a:defRPr sz="1575" b="0">
                <a:solidFill>
                  <a:srgbClr val="C6C6C2"/>
                </a:solidFill>
              </a:defRPr>
            </a:lvl5pPr>
            <a:lvl6pPr algn="l">
              <a:defRPr sz="1575" b="0">
                <a:solidFill>
                  <a:srgbClr val="C6C6C2"/>
                </a:solidFill>
              </a:defRPr>
            </a:lvl6pPr>
            <a:lvl7pPr algn="l">
              <a:defRPr sz="1575" b="0">
                <a:solidFill>
                  <a:srgbClr val="C6C6C2"/>
                </a:solidFill>
              </a:defRPr>
            </a:lvl7pPr>
            <a:lvl8pPr algn="l">
              <a:defRPr sz="1575" b="0">
                <a:solidFill>
                  <a:srgbClr val="C6C6C2"/>
                </a:solidFill>
              </a:defRPr>
            </a:lvl8pPr>
            <a:lvl9pPr algn="l">
              <a:defRPr sz="157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6C6C2"/>
                </a:solidFill>
              </a:defRPr>
            </a:pPr>
            <a:r>
              <a:rPr sz="1575" b="0">
                <a:solidFill>
                  <a:srgbClr val="C6C6C2"/>
                </a:solidFill>
              </a:rPr>
              <a:t>Mixed capture; early sample label remains provisional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A554F-339F-4D51-8551-524B84D5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D6AC0-AA89-45FE-8629-42830BB7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LUCID PCAPs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DD11A-FDA7-426F-B7B3-D4B41237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528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C6C6C2"/>
                </a:solidFill>
              </a:defRPr>
            </a:defPPr>
            <a:lvl1pPr algn="l">
              <a:defRPr sz="1575" b="0">
                <a:solidFill>
                  <a:srgbClr val="C6C6C2"/>
                </a:solidFill>
              </a:defRPr>
            </a:lvl1pPr>
            <a:lvl2pPr algn="l">
              <a:defRPr sz="1575" b="0">
                <a:solidFill>
                  <a:srgbClr val="C6C6C2"/>
                </a:solidFill>
              </a:defRPr>
            </a:lvl2pPr>
            <a:lvl3pPr algn="l">
              <a:defRPr sz="1575" b="0">
                <a:solidFill>
                  <a:srgbClr val="C6C6C2"/>
                </a:solidFill>
              </a:defRPr>
            </a:lvl3pPr>
            <a:lvl4pPr algn="l">
              <a:defRPr sz="1575" b="0">
                <a:solidFill>
                  <a:srgbClr val="C6C6C2"/>
                </a:solidFill>
              </a:defRPr>
            </a:lvl4pPr>
            <a:lvl5pPr algn="l">
              <a:defRPr sz="1575" b="0">
                <a:solidFill>
                  <a:srgbClr val="C6C6C2"/>
                </a:solidFill>
              </a:defRPr>
            </a:lvl5pPr>
            <a:lvl6pPr algn="l">
              <a:defRPr sz="1575" b="0">
                <a:solidFill>
                  <a:srgbClr val="C6C6C2"/>
                </a:solidFill>
              </a:defRPr>
            </a:lvl6pPr>
            <a:lvl7pPr algn="l">
              <a:defRPr sz="1575" b="0">
                <a:solidFill>
                  <a:srgbClr val="C6C6C2"/>
                </a:solidFill>
              </a:defRPr>
            </a:lvl7pPr>
            <a:lvl8pPr algn="l">
              <a:defRPr sz="1575" b="0">
                <a:solidFill>
                  <a:srgbClr val="C6C6C2"/>
                </a:solidFill>
              </a:defRPr>
            </a:lvl8pPr>
            <a:lvl9pPr algn="l">
              <a:defRPr sz="157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6C6C2"/>
                </a:solidFill>
              </a:defRPr>
            </a:pPr>
            <a:r>
              <a:rPr sz="1575" b="0">
                <a:solidFill>
                  <a:srgbClr val="C6C6C2"/>
                </a:solidFill>
              </a:rPr>
              <a:t>Small DDoS excerpts; only one benign capture for a holdout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DD87D-0C9F-4B62-BCC6-4BF80B4C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8094E-5079-4F86-AB69-1556DD5D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577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Xena PCAPs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D6261-5A29-4BDF-BE85-2F7A9316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76775"/>
            <a:ext cx="619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C6C6C2"/>
                </a:solidFill>
              </a:defRPr>
            </a:defPPr>
            <a:lvl1pPr algn="l">
              <a:defRPr sz="1575" b="0">
                <a:solidFill>
                  <a:srgbClr val="C6C6C2"/>
                </a:solidFill>
              </a:defRPr>
            </a:lvl1pPr>
            <a:lvl2pPr algn="l">
              <a:defRPr sz="1575" b="0">
                <a:solidFill>
                  <a:srgbClr val="C6C6C2"/>
                </a:solidFill>
              </a:defRPr>
            </a:lvl2pPr>
            <a:lvl3pPr algn="l">
              <a:defRPr sz="1575" b="0">
                <a:solidFill>
                  <a:srgbClr val="C6C6C2"/>
                </a:solidFill>
              </a:defRPr>
            </a:lvl3pPr>
            <a:lvl4pPr algn="l">
              <a:defRPr sz="1575" b="0">
                <a:solidFill>
                  <a:srgbClr val="C6C6C2"/>
                </a:solidFill>
              </a:defRPr>
            </a:lvl4pPr>
            <a:lvl5pPr algn="l">
              <a:defRPr sz="1575" b="0">
                <a:solidFill>
                  <a:srgbClr val="C6C6C2"/>
                </a:solidFill>
              </a:defRPr>
            </a:lvl5pPr>
            <a:lvl6pPr algn="l">
              <a:defRPr sz="1575" b="0">
                <a:solidFill>
                  <a:srgbClr val="C6C6C2"/>
                </a:solidFill>
              </a:defRPr>
            </a:lvl6pPr>
            <a:lvl7pPr algn="l">
              <a:defRPr sz="1575" b="0">
                <a:solidFill>
                  <a:srgbClr val="C6C6C2"/>
                </a:solidFill>
              </a:defRPr>
            </a:lvl7pPr>
            <a:lvl8pPr algn="l">
              <a:defRPr sz="1575" b="0">
                <a:solidFill>
                  <a:srgbClr val="C6C6C2"/>
                </a:solidFill>
              </a:defRPr>
            </a:lvl8pPr>
            <a:lvl9pPr algn="l">
              <a:defRPr sz="157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6C6C2"/>
                </a:solidFill>
              </a:defRPr>
            </a:pPr>
            <a:r>
              <a:rPr sz="1575" b="0">
                <a:solidFill>
                  <a:srgbClr val="C6C6C2"/>
                </a:solidFill>
              </a:rPr>
              <a:t>25 examples, 98 packets total; no flood benchmark</a:t>
            </a:r>
          </a:p>
        </p:txBody>
      </p:sp>
    </p:spTree>
    <p:extLst>
      <p:ext uri="{BB962C8B-B14F-4D97-AF65-F5344CB8AC3E}">
        <p14:creationId xmlns:p14="http://schemas.microsoft.com/office/powerpoint/2010/main" val="807488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ABC00-8FCB-4073-A2A5-CD039975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DE5A1D"/>
                </a:solidFill>
              </a:defRPr>
            </a:defPPr>
            <a:lvl1pPr algn="l">
              <a:defRPr sz="1200" b="1">
                <a:solidFill>
                  <a:srgbClr val="DE5A1D"/>
                </a:solidFill>
              </a:defRPr>
            </a:lvl1pPr>
            <a:lvl2pPr algn="l">
              <a:defRPr sz="1200" b="1">
                <a:solidFill>
                  <a:srgbClr val="DE5A1D"/>
                </a:solidFill>
              </a:defRPr>
            </a:lvl2pPr>
            <a:lvl3pPr algn="l">
              <a:defRPr sz="1200" b="1">
                <a:solidFill>
                  <a:srgbClr val="DE5A1D"/>
                </a:solidFill>
              </a:defRPr>
            </a:lvl3pPr>
            <a:lvl4pPr algn="l">
              <a:defRPr sz="1200" b="1">
                <a:solidFill>
                  <a:srgbClr val="DE5A1D"/>
                </a:solidFill>
              </a:defRPr>
            </a:lvl4pPr>
            <a:lvl5pPr algn="l">
              <a:defRPr sz="1200" b="1">
                <a:solidFill>
                  <a:srgbClr val="DE5A1D"/>
                </a:solidFill>
              </a:defRPr>
            </a:lvl5pPr>
            <a:lvl6pPr algn="l">
              <a:defRPr sz="1200" b="1">
                <a:solidFill>
                  <a:srgbClr val="DE5A1D"/>
                </a:solidFill>
              </a:defRPr>
            </a:lvl6pPr>
            <a:lvl7pPr algn="l">
              <a:defRPr sz="1200" b="1">
                <a:solidFill>
                  <a:srgbClr val="DE5A1D"/>
                </a:solidFill>
              </a:defRPr>
            </a:lvl7pPr>
            <a:lvl8pPr algn="l">
              <a:defRPr sz="1200" b="1">
                <a:solidFill>
                  <a:srgbClr val="DE5A1D"/>
                </a:solidFill>
              </a:defRPr>
            </a:lvl8pPr>
            <a:lvl9pPr algn="l">
              <a:defRPr sz="120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E5A1D"/>
                </a:solidFill>
              </a:defRPr>
            </a:pPr>
            <a:r>
              <a:rPr sz="1200" b="1">
                <a:solidFill>
                  <a:srgbClr val="DE5A1D"/>
                </a:solidFill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33162-3968-4F3A-896B-62010786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Real-data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DFAE1-3490-4760-AE3A-781890DA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8C8C88"/>
                </a:solidFill>
              </a:defRPr>
            </a:defPPr>
            <a:lvl1pPr algn="r">
              <a:defRPr sz="1050" b="0">
                <a:solidFill>
                  <a:srgbClr val="8C8C88"/>
                </a:solidFill>
              </a:defRPr>
            </a:lvl1pPr>
            <a:lvl2pPr algn="r">
              <a:defRPr sz="1050" b="0">
                <a:solidFill>
                  <a:srgbClr val="8C8C88"/>
                </a:solidFill>
              </a:defRPr>
            </a:lvl2pPr>
            <a:lvl3pPr algn="r">
              <a:defRPr sz="1050" b="0">
                <a:solidFill>
                  <a:srgbClr val="8C8C88"/>
                </a:solidFill>
              </a:defRPr>
            </a:lvl3pPr>
            <a:lvl4pPr algn="r">
              <a:defRPr sz="1050" b="0">
                <a:solidFill>
                  <a:srgbClr val="8C8C88"/>
                </a:solidFill>
              </a:defRPr>
            </a:lvl4pPr>
            <a:lvl5pPr algn="r">
              <a:defRPr sz="1050" b="0">
                <a:solidFill>
                  <a:srgbClr val="8C8C88"/>
                </a:solidFill>
              </a:defRPr>
            </a:lvl5pPr>
            <a:lvl6pPr algn="r">
              <a:defRPr sz="1050" b="0">
                <a:solidFill>
                  <a:srgbClr val="8C8C88"/>
                </a:solidFill>
              </a:defRPr>
            </a:lvl6pPr>
            <a:lvl7pPr algn="r">
              <a:defRPr sz="1050" b="0">
                <a:solidFill>
                  <a:srgbClr val="8C8C88"/>
                </a:solidFill>
              </a:defRPr>
            </a:lvl7pPr>
            <a:lvl8pPr algn="r">
              <a:defRPr sz="1050" b="0">
                <a:solidFill>
                  <a:srgbClr val="8C8C88"/>
                </a:solidFill>
              </a:defRPr>
            </a:lvl8pPr>
            <a:lvl9pPr algn="r">
              <a:defRPr sz="1050" b="0">
                <a:solidFill>
                  <a:srgbClr val="8C8C88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C8C88"/>
                </a:solidFill>
              </a:defRPr>
            </a:pPr>
            <a:r>
              <a:rPr sz="1050" b="0">
                <a:solidFill>
                  <a:srgbClr val="8C8C8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7324C-6076-474F-839A-53B75271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4810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5175" b="1">
                <a:solidFill>
                  <a:srgbClr val="DE5A1D"/>
                </a:solidFill>
              </a:defRPr>
            </a:defPPr>
            <a:lvl1pPr algn="l">
              <a:defRPr sz="5175" b="1">
                <a:solidFill>
                  <a:srgbClr val="DE5A1D"/>
                </a:solidFill>
              </a:defRPr>
            </a:lvl1pPr>
            <a:lvl2pPr algn="l">
              <a:defRPr sz="5175" b="1">
                <a:solidFill>
                  <a:srgbClr val="DE5A1D"/>
                </a:solidFill>
              </a:defRPr>
            </a:lvl2pPr>
            <a:lvl3pPr algn="l">
              <a:defRPr sz="5175" b="1">
                <a:solidFill>
                  <a:srgbClr val="DE5A1D"/>
                </a:solidFill>
              </a:defRPr>
            </a:lvl3pPr>
            <a:lvl4pPr algn="l">
              <a:defRPr sz="5175" b="1">
                <a:solidFill>
                  <a:srgbClr val="DE5A1D"/>
                </a:solidFill>
              </a:defRPr>
            </a:lvl4pPr>
            <a:lvl5pPr algn="l">
              <a:defRPr sz="5175" b="1">
                <a:solidFill>
                  <a:srgbClr val="DE5A1D"/>
                </a:solidFill>
              </a:defRPr>
            </a:lvl5pPr>
            <a:lvl6pPr algn="l">
              <a:defRPr sz="5175" b="1">
                <a:solidFill>
                  <a:srgbClr val="DE5A1D"/>
                </a:solidFill>
              </a:defRPr>
            </a:lvl6pPr>
            <a:lvl7pPr algn="l">
              <a:defRPr sz="5175" b="1">
                <a:solidFill>
                  <a:srgbClr val="DE5A1D"/>
                </a:solidFill>
              </a:defRPr>
            </a:lvl7pPr>
            <a:lvl8pPr algn="l">
              <a:defRPr sz="5175" b="1">
                <a:solidFill>
                  <a:srgbClr val="DE5A1D"/>
                </a:solidFill>
              </a:defRPr>
            </a:lvl8pPr>
            <a:lvl9pPr algn="l">
              <a:defRPr sz="5175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DE5A1D"/>
                </a:solidFill>
              </a:defRPr>
            </a:pPr>
            <a:r>
              <a:rPr sz="5175" b="1">
                <a:solidFill>
                  <a:srgbClr val="DE5A1D"/>
                </a:solidFill>
              </a:rPr>
              <a:t>36.4%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3CF13-93AF-48C7-9A16-F21FC1BF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905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F7F7F5"/>
                </a:solidFill>
              </a:defRPr>
            </a:defPPr>
            <a:lvl1pPr algn="l">
              <a:defRPr sz="1875" b="0">
                <a:solidFill>
                  <a:srgbClr val="F7F7F5"/>
                </a:solidFill>
              </a:defRPr>
            </a:lvl1pPr>
            <a:lvl2pPr algn="l">
              <a:defRPr sz="1875" b="0">
                <a:solidFill>
                  <a:srgbClr val="F7F7F5"/>
                </a:solidFill>
              </a:defRPr>
            </a:lvl2pPr>
            <a:lvl3pPr algn="l">
              <a:defRPr sz="1875" b="0">
                <a:solidFill>
                  <a:srgbClr val="F7F7F5"/>
                </a:solidFill>
              </a:defRPr>
            </a:lvl3pPr>
            <a:lvl4pPr algn="l">
              <a:defRPr sz="1875" b="0">
                <a:solidFill>
                  <a:srgbClr val="F7F7F5"/>
                </a:solidFill>
              </a:defRPr>
            </a:lvl4pPr>
            <a:lvl5pPr algn="l">
              <a:defRPr sz="1875" b="0">
                <a:solidFill>
                  <a:srgbClr val="F7F7F5"/>
                </a:solidFill>
              </a:defRPr>
            </a:lvl5pPr>
            <a:lvl6pPr algn="l">
              <a:defRPr sz="1875" b="0">
                <a:solidFill>
                  <a:srgbClr val="F7F7F5"/>
                </a:solidFill>
              </a:defRPr>
            </a:lvl6pPr>
            <a:lvl7pPr algn="l">
              <a:defRPr sz="1875" b="0">
                <a:solidFill>
                  <a:srgbClr val="F7F7F5"/>
                </a:solidFill>
              </a:defRPr>
            </a:lvl7pPr>
            <a:lvl8pPr algn="l">
              <a:defRPr sz="1875" b="0">
                <a:solidFill>
                  <a:srgbClr val="F7F7F5"/>
                </a:solidFill>
              </a:defRPr>
            </a:lvl8pPr>
            <a:lvl9pPr algn="l">
              <a:defRPr sz="1875" b="0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7F7F5"/>
                </a:solidFill>
              </a:defRPr>
            </a:pPr>
            <a:r>
              <a:rPr sz="1875" b="0">
                <a:solidFill>
                  <a:srgbClr val="F7F7F5"/>
                </a:solidFill>
              </a:rPr>
              <a:t>DDoS recall on Friday 2017 flows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248FC-CFC0-4B4B-B490-C3FA8B5D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5175" b="1">
                <a:solidFill>
                  <a:srgbClr val="DE5A1D"/>
                </a:solidFill>
              </a:defRPr>
            </a:defPPr>
            <a:lvl1pPr algn="l">
              <a:defRPr sz="5175" b="1">
                <a:solidFill>
                  <a:srgbClr val="DE5A1D"/>
                </a:solidFill>
              </a:defRPr>
            </a:lvl1pPr>
            <a:lvl2pPr algn="l">
              <a:defRPr sz="5175" b="1">
                <a:solidFill>
                  <a:srgbClr val="DE5A1D"/>
                </a:solidFill>
              </a:defRPr>
            </a:lvl2pPr>
            <a:lvl3pPr algn="l">
              <a:defRPr sz="5175" b="1">
                <a:solidFill>
                  <a:srgbClr val="DE5A1D"/>
                </a:solidFill>
              </a:defRPr>
            </a:lvl3pPr>
            <a:lvl4pPr algn="l">
              <a:defRPr sz="5175" b="1">
                <a:solidFill>
                  <a:srgbClr val="DE5A1D"/>
                </a:solidFill>
              </a:defRPr>
            </a:lvl4pPr>
            <a:lvl5pPr algn="l">
              <a:defRPr sz="5175" b="1">
                <a:solidFill>
                  <a:srgbClr val="DE5A1D"/>
                </a:solidFill>
              </a:defRPr>
            </a:lvl5pPr>
            <a:lvl6pPr algn="l">
              <a:defRPr sz="5175" b="1">
                <a:solidFill>
                  <a:srgbClr val="DE5A1D"/>
                </a:solidFill>
              </a:defRPr>
            </a:lvl6pPr>
            <a:lvl7pPr algn="l">
              <a:defRPr sz="5175" b="1">
                <a:solidFill>
                  <a:srgbClr val="DE5A1D"/>
                </a:solidFill>
              </a:defRPr>
            </a:lvl7pPr>
            <a:lvl8pPr algn="l">
              <a:defRPr sz="5175" b="1">
                <a:solidFill>
                  <a:srgbClr val="DE5A1D"/>
                </a:solidFill>
              </a:defRPr>
            </a:lvl8pPr>
            <a:lvl9pPr algn="l">
              <a:defRPr sz="5175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DE5A1D"/>
                </a:solidFill>
              </a:defRPr>
            </a:pPr>
            <a:r>
              <a:rPr sz="5175" b="1">
                <a:solidFill>
                  <a:srgbClr val="DE5A1D"/>
                </a:solidFill>
              </a:rPr>
              <a:t>24.8%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0C2D7-F576-4701-8A0C-87E72682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4905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F7F7F5"/>
                </a:solidFill>
              </a:defRPr>
            </a:defPPr>
            <a:lvl1pPr algn="l">
              <a:defRPr sz="1875" b="0">
                <a:solidFill>
                  <a:srgbClr val="F7F7F5"/>
                </a:solidFill>
              </a:defRPr>
            </a:lvl1pPr>
            <a:lvl2pPr algn="l">
              <a:defRPr sz="1875" b="0">
                <a:solidFill>
                  <a:srgbClr val="F7F7F5"/>
                </a:solidFill>
              </a:defRPr>
            </a:lvl2pPr>
            <a:lvl3pPr algn="l">
              <a:defRPr sz="1875" b="0">
                <a:solidFill>
                  <a:srgbClr val="F7F7F5"/>
                </a:solidFill>
              </a:defRPr>
            </a:lvl3pPr>
            <a:lvl4pPr algn="l">
              <a:defRPr sz="1875" b="0">
                <a:solidFill>
                  <a:srgbClr val="F7F7F5"/>
                </a:solidFill>
              </a:defRPr>
            </a:lvl4pPr>
            <a:lvl5pPr algn="l">
              <a:defRPr sz="1875" b="0">
                <a:solidFill>
                  <a:srgbClr val="F7F7F5"/>
                </a:solidFill>
              </a:defRPr>
            </a:lvl5pPr>
            <a:lvl6pPr algn="l">
              <a:defRPr sz="1875" b="0">
                <a:solidFill>
                  <a:srgbClr val="F7F7F5"/>
                </a:solidFill>
              </a:defRPr>
            </a:lvl6pPr>
            <a:lvl7pPr algn="l">
              <a:defRPr sz="1875" b="0">
                <a:solidFill>
                  <a:srgbClr val="F7F7F5"/>
                </a:solidFill>
              </a:defRPr>
            </a:lvl7pPr>
            <a:lvl8pPr algn="l">
              <a:defRPr sz="1875" b="0">
                <a:solidFill>
                  <a:srgbClr val="F7F7F5"/>
                </a:solidFill>
              </a:defRPr>
            </a:lvl8pPr>
            <a:lvl9pPr algn="l">
              <a:defRPr sz="1875" b="0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7F7F5"/>
                </a:solidFill>
              </a:defRPr>
            </a:pPr>
            <a:r>
              <a:rPr sz="1875" b="0">
                <a:solidFill>
                  <a:srgbClr val="F7F7F5"/>
                </a:solidFill>
              </a:rPr>
              <a:t>False-alarm rate on benign Friday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B4C9E-350D-41E9-BFEE-89534037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C6C6C2"/>
                </a:solidFill>
              </a:defRPr>
            </a:defPPr>
            <a:lvl1pPr algn="l">
              <a:defRPr sz="1950" b="0">
                <a:solidFill>
                  <a:srgbClr val="C6C6C2"/>
                </a:solidFill>
              </a:defRPr>
            </a:lvl1pPr>
            <a:lvl2pPr algn="l">
              <a:defRPr sz="1950" b="0">
                <a:solidFill>
                  <a:srgbClr val="C6C6C2"/>
                </a:solidFill>
              </a:defRPr>
            </a:lvl2pPr>
            <a:lvl3pPr algn="l">
              <a:defRPr sz="1950" b="0">
                <a:solidFill>
                  <a:srgbClr val="C6C6C2"/>
                </a:solidFill>
              </a:defRPr>
            </a:lvl3pPr>
            <a:lvl4pPr algn="l">
              <a:defRPr sz="1950" b="0">
                <a:solidFill>
                  <a:srgbClr val="C6C6C2"/>
                </a:solidFill>
              </a:defRPr>
            </a:lvl4pPr>
            <a:lvl5pPr algn="l">
              <a:defRPr sz="1950" b="0">
                <a:solidFill>
                  <a:srgbClr val="C6C6C2"/>
                </a:solidFill>
              </a:defRPr>
            </a:lvl5pPr>
            <a:lvl6pPr algn="l">
              <a:defRPr sz="1950" b="0">
                <a:solidFill>
                  <a:srgbClr val="C6C6C2"/>
                </a:solidFill>
              </a:defRPr>
            </a:lvl6pPr>
            <a:lvl7pPr algn="l">
              <a:defRPr sz="1950" b="0">
                <a:solidFill>
                  <a:srgbClr val="C6C6C2"/>
                </a:solidFill>
              </a:defRPr>
            </a:lvl7pPr>
            <a:lvl8pPr algn="l">
              <a:defRPr sz="1950" b="0">
                <a:solidFill>
                  <a:srgbClr val="C6C6C2"/>
                </a:solidFill>
              </a:defRPr>
            </a:lvl8pPr>
            <a:lvl9pPr algn="l">
              <a:defRPr sz="1950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C6C6C2"/>
                </a:solidFill>
              </a:defRPr>
            </a:pPr>
            <a:r>
              <a:rPr sz="1950" b="0">
                <a:solidFill>
                  <a:srgbClr val="C6C6C2"/>
                </a:solidFill>
              </a:rPr>
              <a:t>Held-out 2018 file: 26 of 687,742 labeled DDoS flows detected (0.0038% recall).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D4D30-9B19-4A72-8AF0-9B2F9541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7F7F5"/>
                </a:solidFill>
              </a:defRPr>
            </a:defPPr>
            <a:lvl1pPr algn="l">
              <a:defRPr sz="1650" b="1">
                <a:solidFill>
                  <a:srgbClr val="F7F7F5"/>
                </a:solidFill>
              </a:defRPr>
            </a:lvl1pPr>
            <a:lvl2pPr algn="l">
              <a:defRPr sz="1650" b="1">
                <a:solidFill>
                  <a:srgbClr val="F7F7F5"/>
                </a:solidFill>
              </a:defRPr>
            </a:lvl2pPr>
            <a:lvl3pPr algn="l">
              <a:defRPr sz="1650" b="1">
                <a:solidFill>
                  <a:srgbClr val="F7F7F5"/>
                </a:solidFill>
              </a:defRPr>
            </a:lvl3pPr>
            <a:lvl4pPr algn="l">
              <a:defRPr sz="1650" b="1">
                <a:solidFill>
                  <a:srgbClr val="F7F7F5"/>
                </a:solidFill>
              </a:defRPr>
            </a:lvl4pPr>
            <a:lvl5pPr algn="l">
              <a:defRPr sz="1650" b="1">
                <a:solidFill>
                  <a:srgbClr val="F7F7F5"/>
                </a:solidFill>
              </a:defRPr>
            </a:lvl5pPr>
            <a:lvl6pPr algn="l">
              <a:defRPr sz="1650" b="1">
                <a:solidFill>
                  <a:srgbClr val="F7F7F5"/>
                </a:solidFill>
              </a:defRPr>
            </a:lvl6pPr>
            <a:lvl7pPr algn="l">
              <a:defRPr sz="1650" b="1">
                <a:solidFill>
                  <a:srgbClr val="F7F7F5"/>
                </a:solidFill>
              </a:defRPr>
            </a:lvl7pPr>
            <a:lvl8pPr algn="l">
              <a:defRPr sz="1650" b="1">
                <a:solidFill>
                  <a:srgbClr val="F7F7F5"/>
                </a:solidFill>
              </a:defRPr>
            </a:lvl8pPr>
            <a:lvl9pPr algn="l">
              <a:defRPr sz="165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7F7F5"/>
                </a:solidFill>
              </a:defRPr>
            </a:pPr>
            <a:r>
              <a:rPr sz="1650" b="1">
                <a:solidFill>
                  <a:srgbClr val="F7F7F5"/>
                </a:solidFill>
              </a:rPr>
              <a:t>The real-data models stay out of live decisions.</a:t>
            </a:r>
          </a:p>
        </p:txBody>
      </p:sp>
    </p:spTree>
    <p:extLst>
      <p:ext uri="{BB962C8B-B14F-4D97-AF65-F5344CB8AC3E}">
        <p14:creationId xmlns:p14="http://schemas.microsoft.com/office/powerpoint/2010/main" val="11747309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B34DC-CECE-4C56-BE7B-38B40B85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DE5A1D"/>
                </a:solidFill>
              </a:defRPr>
            </a:defPPr>
            <a:lvl1pPr algn="l">
              <a:defRPr sz="1200" b="1">
                <a:solidFill>
                  <a:srgbClr val="DE5A1D"/>
                </a:solidFill>
              </a:defRPr>
            </a:lvl1pPr>
            <a:lvl2pPr algn="l">
              <a:defRPr sz="1200" b="1">
                <a:solidFill>
                  <a:srgbClr val="DE5A1D"/>
                </a:solidFill>
              </a:defRPr>
            </a:lvl2pPr>
            <a:lvl3pPr algn="l">
              <a:defRPr sz="1200" b="1">
                <a:solidFill>
                  <a:srgbClr val="DE5A1D"/>
                </a:solidFill>
              </a:defRPr>
            </a:lvl3pPr>
            <a:lvl4pPr algn="l">
              <a:defRPr sz="1200" b="1">
                <a:solidFill>
                  <a:srgbClr val="DE5A1D"/>
                </a:solidFill>
              </a:defRPr>
            </a:lvl4pPr>
            <a:lvl5pPr algn="l">
              <a:defRPr sz="1200" b="1">
                <a:solidFill>
                  <a:srgbClr val="DE5A1D"/>
                </a:solidFill>
              </a:defRPr>
            </a:lvl5pPr>
            <a:lvl6pPr algn="l">
              <a:defRPr sz="1200" b="1">
                <a:solidFill>
                  <a:srgbClr val="DE5A1D"/>
                </a:solidFill>
              </a:defRPr>
            </a:lvl6pPr>
            <a:lvl7pPr algn="l">
              <a:defRPr sz="1200" b="1">
                <a:solidFill>
                  <a:srgbClr val="DE5A1D"/>
                </a:solidFill>
              </a:defRPr>
            </a:lvl7pPr>
            <a:lvl8pPr algn="l">
              <a:defRPr sz="1200" b="1">
                <a:solidFill>
                  <a:srgbClr val="DE5A1D"/>
                </a:solidFill>
              </a:defRPr>
            </a:lvl8pPr>
            <a:lvl9pPr algn="l">
              <a:defRPr sz="120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E5A1D"/>
                </a:solidFill>
              </a:defRPr>
            </a:pPr>
            <a:r>
              <a:rPr sz="1200" b="1">
                <a:solidFill>
                  <a:srgbClr val="DE5A1D"/>
                </a:solidFill>
              </a:rPr>
              <a:t>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58EFE-0845-4022-BBA9-D72F71A5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Demo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56CA6-F943-40CD-8D95-EC78ECF4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8C8C88"/>
                </a:solidFill>
              </a:defRPr>
            </a:defPPr>
            <a:lvl1pPr algn="r">
              <a:defRPr sz="1050" b="0">
                <a:solidFill>
                  <a:srgbClr val="8C8C88"/>
                </a:solidFill>
              </a:defRPr>
            </a:lvl1pPr>
            <a:lvl2pPr algn="r">
              <a:defRPr sz="1050" b="0">
                <a:solidFill>
                  <a:srgbClr val="8C8C88"/>
                </a:solidFill>
              </a:defRPr>
            </a:lvl2pPr>
            <a:lvl3pPr algn="r">
              <a:defRPr sz="1050" b="0">
                <a:solidFill>
                  <a:srgbClr val="8C8C88"/>
                </a:solidFill>
              </a:defRPr>
            </a:lvl3pPr>
            <a:lvl4pPr algn="r">
              <a:defRPr sz="1050" b="0">
                <a:solidFill>
                  <a:srgbClr val="8C8C88"/>
                </a:solidFill>
              </a:defRPr>
            </a:lvl4pPr>
            <a:lvl5pPr algn="r">
              <a:defRPr sz="1050" b="0">
                <a:solidFill>
                  <a:srgbClr val="8C8C88"/>
                </a:solidFill>
              </a:defRPr>
            </a:lvl5pPr>
            <a:lvl6pPr algn="r">
              <a:defRPr sz="1050" b="0">
                <a:solidFill>
                  <a:srgbClr val="8C8C88"/>
                </a:solidFill>
              </a:defRPr>
            </a:lvl6pPr>
            <a:lvl7pPr algn="r">
              <a:defRPr sz="1050" b="0">
                <a:solidFill>
                  <a:srgbClr val="8C8C88"/>
                </a:solidFill>
              </a:defRPr>
            </a:lvl7pPr>
            <a:lvl8pPr algn="r">
              <a:defRPr sz="1050" b="0">
                <a:solidFill>
                  <a:srgbClr val="8C8C88"/>
                </a:solidFill>
              </a:defRPr>
            </a:lvl8pPr>
            <a:lvl9pPr algn="r">
              <a:defRPr sz="1050" b="0">
                <a:solidFill>
                  <a:srgbClr val="8C8C88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C8C88"/>
                </a:solidFill>
              </a:defRPr>
            </a:pPr>
            <a:r>
              <a:rPr sz="1050" b="0">
                <a:solidFill>
                  <a:srgbClr val="8C8C88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D4AD9-97AD-4365-A227-9AF5F264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A4C23-112D-4E7B-B3F2-12F2C5B6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Select a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E91FA-9EB3-4901-8759-A308EAD3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C6C6C2"/>
                </a:solidFill>
              </a:defRPr>
            </a:defPPr>
            <a:lvl1pPr algn="l">
              <a:defRPr sz="1725" b="0">
                <a:solidFill>
                  <a:srgbClr val="C6C6C2"/>
                </a:solidFill>
              </a:defRPr>
            </a:lvl1pPr>
            <a:lvl2pPr algn="l">
              <a:defRPr sz="1725" b="0">
                <a:solidFill>
                  <a:srgbClr val="C6C6C2"/>
                </a:solidFill>
              </a:defRPr>
            </a:lvl2pPr>
            <a:lvl3pPr algn="l">
              <a:defRPr sz="1725" b="0">
                <a:solidFill>
                  <a:srgbClr val="C6C6C2"/>
                </a:solidFill>
              </a:defRPr>
            </a:lvl3pPr>
            <a:lvl4pPr algn="l">
              <a:defRPr sz="1725" b="0">
                <a:solidFill>
                  <a:srgbClr val="C6C6C2"/>
                </a:solidFill>
              </a:defRPr>
            </a:lvl4pPr>
            <a:lvl5pPr algn="l">
              <a:defRPr sz="1725" b="0">
                <a:solidFill>
                  <a:srgbClr val="C6C6C2"/>
                </a:solidFill>
              </a:defRPr>
            </a:lvl5pPr>
            <a:lvl6pPr algn="l">
              <a:defRPr sz="1725" b="0">
                <a:solidFill>
                  <a:srgbClr val="C6C6C2"/>
                </a:solidFill>
              </a:defRPr>
            </a:lvl6pPr>
            <a:lvl7pPr algn="l">
              <a:defRPr sz="1725" b="0">
                <a:solidFill>
                  <a:srgbClr val="C6C6C2"/>
                </a:solidFill>
              </a:defRPr>
            </a:lvl7pPr>
            <a:lvl8pPr algn="l">
              <a:defRPr sz="1725" b="0">
                <a:solidFill>
                  <a:srgbClr val="C6C6C2"/>
                </a:solidFill>
              </a:defRPr>
            </a:lvl8pPr>
            <a:lvl9pPr algn="l">
              <a:defRPr sz="172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6C6C2"/>
                </a:solidFill>
              </a:defRPr>
            </a:pPr>
            <a:r>
              <a:rPr sz="1725" b="0">
                <a:solidFill>
                  <a:srgbClr val="C6C6C2"/>
                </a:solidFill>
              </a:rPr>
              <a:t>Switch between Normal, Mixed, and SYN-heavy traffic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33F96-C79D-4171-A0C6-CE3FEBD8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75FF9-1543-4B29-9565-AEE725F4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385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Open reasons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E00E7-0DC4-4B88-84B8-0AEDA37F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C6C6C2"/>
                </a:solidFill>
              </a:defRPr>
            </a:defPPr>
            <a:lvl1pPr algn="l">
              <a:defRPr sz="1725" b="0">
                <a:solidFill>
                  <a:srgbClr val="C6C6C2"/>
                </a:solidFill>
              </a:defRPr>
            </a:lvl1pPr>
            <a:lvl2pPr algn="l">
              <a:defRPr sz="1725" b="0">
                <a:solidFill>
                  <a:srgbClr val="C6C6C2"/>
                </a:solidFill>
              </a:defRPr>
            </a:lvl2pPr>
            <a:lvl3pPr algn="l">
              <a:defRPr sz="1725" b="0">
                <a:solidFill>
                  <a:srgbClr val="C6C6C2"/>
                </a:solidFill>
              </a:defRPr>
            </a:lvl3pPr>
            <a:lvl4pPr algn="l">
              <a:defRPr sz="1725" b="0">
                <a:solidFill>
                  <a:srgbClr val="C6C6C2"/>
                </a:solidFill>
              </a:defRPr>
            </a:lvl4pPr>
            <a:lvl5pPr algn="l">
              <a:defRPr sz="1725" b="0">
                <a:solidFill>
                  <a:srgbClr val="C6C6C2"/>
                </a:solidFill>
              </a:defRPr>
            </a:lvl5pPr>
            <a:lvl6pPr algn="l">
              <a:defRPr sz="1725" b="0">
                <a:solidFill>
                  <a:srgbClr val="C6C6C2"/>
                </a:solidFill>
              </a:defRPr>
            </a:lvl6pPr>
            <a:lvl7pPr algn="l">
              <a:defRPr sz="1725" b="0">
                <a:solidFill>
                  <a:srgbClr val="C6C6C2"/>
                </a:solidFill>
              </a:defRPr>
            </a:lvl7pPr>
            <a:lvl8pPr algn="l">
              <a:defRPr sz="1725" b="0">
                <a:solidFill>
                  <a:srgbClr val="C6C6C2"/>
                </a:solidFill>
              </a:defRPr>
            </a:lvl8pPr>
            <a:lvl9pPr algn="l">
              <a:defRPr sz="172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6C6C2"/>
                </a:solidFill>
              </a:defRPr>
            </a:pPr>
            <a:r>
              <a:rPr sz="1725" b="0">
                <a:solidFill>
                  <a:srgbClr val="C6C6C2"/>
                </a:solidFill>
              </a:rPr>
              <a:t>Read the packet-rate chart and each rule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3A7DF-8542-4B28-B79E-18D98B5D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DE5A1D"/>
                </a:solidFill>
              </a:defRPr>
            </a:defPPr>
            <a:lvl1pPr algn="l">
              <a:defRPr sz="1950" b="1">
                <a:solidFill>
                  <a:srgbClr val="DE5A1D"/>
                </a:solidFill>
              </a:defRPr>
            </a:lvl1pPr>
            <a:lvl2pPr algn="l">
              <a:defRPr sz="1950" b="1">
                <a:solidFill>
                  <a:srgbClr val="DE5A1D"/>
                </a:solidFill>
              </a:defRPr>
            </a:lvl2pPr>
            <a:lvl3pPr algn="l">
              <a:defRPr sz="1950" b="1">
                <a:solidFill>
                  <a:srgbClr val="DE5A1D"/>
                </a:solidFill>
              </a:defRPr>
            </a:lvl3pPr>
            <a:lvl4pPr algn="l">
              <a:defRPr sz="1950" b="1">
                <a:solidFill>
                  <a:srgbClr val="DE5A1D"/>
                </a:solidFill>
              </a:defRPr>
            </a:lvl4pPr>
            <a:lvl5pPr algn="l">
              <a:defRPr sz="1950" b="1">
                <a:solidFill>
                  <a:srgbClr val="DE5A1D"/>
                </a:solidFill>
              </a:defRPr>
            </a:lvl5pPr>
            <a:lvl6pPr algn="l">
              <a:defRPr sz="1950" b="1">
                <a:solidFill>
                  <a:srgbClr val="DE5A1D"/>
                </a:solidFill>
              </a:defRPr>
            </a:lvl6pPr>
            <a:lvl7pPr algn="l">
              <a:defRPr sz="1950" b="1">
                <a:solidFill>
                  <a:srgbClr val="DE5A1D"/>
                </a:solidFill>
              </a:defRPr>
            </a:lvl7pPr>
            <a:lvl8pPr algn="l">
              <a:defRPr sz="1950" b="1">
                <a:solidFill>
                  <a:srgbClr val="DE5A1D"/>
                </a:solidFill>
              </a:defRPr>
            </a:lvl8pPr>
            <a:lvl9pPr algn="l">
              <a:defRPr sz="195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E5A1D"/>
                </a:solidFill>
              </a:defRPr>
            </a:pPr>
            <a:r>
              <a:rPr sz="1950" b="1">
                <a:solidFill>
                  <a:srgbClr val="DE5A1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A21B0-19B5-4328-B8C2-A0DC163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815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7F7F5"/>
                </a:solidFill>
              </a:defRPr>
            </a:defPPr>
            <a:lvl1pPr algn="l">
              <a:defRPr sz="2025" b="1">
                <a:solidFill>
                  <a:srgbClr val="F7F7F5"/>
                </a:solidFill>
              </a:defRPr>
            </a:lvl1pPr>
            <a:lvl2pPr algn="l">
              <a:defRPr sz="2025" b="1">
                <a:solidFill>
                  <a:srgbClr val="F7F7F5"/>
                </a:solidFill>
              </a:defRPr>
            </a:lvl2pPr>
            <a:lvl3pPr algn="l">
              <a:defRPr sz="2025" b="1">
                <a:solidFill>
                  <a:srgbClr val="F7F7F5"/>
                </a:solidFill>
              </a:defRPr>
            </a:lvl3pPr>
            <a:lvl4pPr algn="l">
              <a:defRPr sz="2025" b="1">
                <a:solidFill>
                  <a:srgbClr val="F7F7F5"/>
                </a:solidFill>
              </a:defRPr>
            </a:lvl4pPr>
            <a:lvl5pPr algn="l">
              <a:defRPr sz="2025" b="1">
                <a:solidFill>
                  <a:srgbClr val="F7F7F5"/>
                </a:solidFill>
              </a:defRPr>
            </a:lvl5pPr>
            <a:lvl6pPr algn="l">
              <a:defRPr sz="2025" b="1">
                <a:solidFill>
                  <a:srgbClr val="F7F7F5"/>
                </a:solidFill>
              </a:defRPr>
            </a:lvl6pPr>
            <a:lvl7pPr algn="l">
              <a:defRPr sz="2025" b="1">
                <a:solidFill>
                  <a:srgbClr val="F7F7F5"/>
                </a:solidFill>
              </a:defRPr>
            </a:lvl7pPr>
            <a:lvl8pPr algn="l">
              <a:defRPr sz="2025" b="1">
                <a:solidFill>
                  <a:srgbClr val="F7F7F5"/>
                </a:solidFill>
              </a:defRPr>
            </a:lvl8pPr>
            <a:lvl9pPr algn="l">
              <a:defRPr sz="20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Simulate a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73565-B4BB-4746-ACCD-66672BC3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005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C6C6C2"/>
                </a:solidFill>
              </a:defRPr>
            </a:defPPr>
            <a:lvl1pPr algn="l">
              <a:defRPr sz="1725" b="0">
                <a:solidFill>
                  <a:srgbClr val="C6C6C2"/>
                </a:solidFill>
              </a:defRPr>
            </a:lvl1pPr>
            <a:lvl2pPr algn="l">
              <a:defRPr sz="1725" b="0">
                <a:solidFill>
                  <a:srgbClr val="C6C6C2"/>
                </a:solidFill>
              </a:defRPr>
            </a:lvl2pPr>
            <a:lvl3pPr algn="l">
              <a:defRPr sz="1725" b="0">
                <a:solidFill>
                  <a:srgbClr val="C6C6C2"/>
                </a:solidFill>
              </a:defRPr>
            </a:lvl3pPr>
            <a:lvl4pPr algn="l">
              <a:defRPr sz="1725" b="0">
                <a:solidFill>
                  <a:srgbClr val="C6C6C2"/>
                </a:solidFill>
              </a:defRPr>
            </a:lvl4pPr>
            <a:lvl5pPr algn="l">
              <a:defRPr sz="1725" b="0">
                <a:solidFill>
                  <a:srgbClr val="C6C6C2"/>
                </a:solidFill>
              </a:defRPr>
            </a:lvl5pPr>
            <a:lvl6pPr algn="l">
              <a:defRPr sz="1725" b="0">
                <a:solidFill>
                  <a:srgbClr val="C6C6C2"/>
                </a:solidFill>
              </a:defRPr>
            </a:lvl6pPr>
            <a:lvl7pPr algn="l">
              <a:defRPr sz="1725" b="0">
                <a:solidFill>
                  <a:srgbClr val="C6C6C2"/>
                </a:solidFill>
              </a:defRPr>
            </a:lvl7pPr>
            <a:lvl8pPr algn="l">
              <a:defRPr sz="1725" b="0">
                <a:solidFill>
                  <a:srgbClr val="C6C6C2"/>
                </a:solidFill>
              </a:defRPr>
            </a:lvl8pPr>
            <a:lvl9pPr algn="l">
              <a:defRPr sz="172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6C6C2"/>
                </a:solidFill>
              </a:defRPr>
            </a:pPr>
            <a:r>
              <a:rPr sz="1725" b="0">
                <a:solidFill>
                  <a:srgbClr val="C6C6C2"/>
                </a:solidFill>
              </a:rPr>
              <a:t>Show an expiring database entry; no firewall 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BDE35-C901-4F49-9EB1-4B54F00B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DE5A1D"/>
                </a:solidFill>
              </a:defRPr>
            </a:defPPr>
            <a:lvl1pPr algn="l">
              <a:defRPr sz="1575" b="1">
                <a:solidFill>
                  <a:srgbClr val="DE5A1D"/>
                </a:solidFill>
              </a:defRPr>
            </a:lvl1pPr>
            <a:lvl2pPr algn="l">
              <a:defRPr sz="1575" b="1">
                <a:solidFill>
                  <a:srgbClr val="DE5A1D"/>
                </a:solidFill>
              </a:defRPr>
            </a:lvl2pPr>
            <a:lvl3pPr algn="l">
              <a:defRPr sz="1575" b="1">
                <a:solidFill>
                  <a:srgbClr val="DE5A1D"/>
                </a:solidFill>
              </a:defRPr>
            </a:lvl3pPr>
            <a:lvl4pPr algn="l">
              <a:defRPr sz="1575" b="1">
                <a:solidFill>
                  <a:srgbClr val="DE5A1D"/>
                </a:solidFill>
              </a:defRPr>
            </a:lvl4pPr>
            <a:lvl5pPr algn="l">
              <a:defRPr sz="1575" b="1">
                <a:solidFill>
                  <a:srgbClr val="DE5A1D"/>
                </a:solidFill>
              </a:defRPr>
            </a:lvl5pPr>
            <a:lvl6pPr algn="l">
              <a:defRPr sz="1575" b="1">
                <a:solidFill>
                  <a:srgbClr val="DE5A1D"/>
                </a:solidFill>
              </a:defRPr>
            </a:lvl6pPr>
            <a:lvl7pPr algn="l">
              <a:defRPr sz="1575" b="1">
                <a:solidFill>
                  <a:srgbClr val="DE5A1D"/>
                </a:solidFill>
              </a:defRPr>
            </a:lvl7pPr>
            <a:lvl8pPr algn="l">
              <a:defRPr sz="1575" b="1">
                <a:solidFill>
                  <a:srgbClr val="DE5A1D"/>
                </a:solidFill>
              </a:defRPr>
            </a:lvl8pPr>
            <a:lvl9pPr algn="l">
              <a:defRPr sz="1575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DE5A1D"/>
                </a:solidFill>
              </a:defRPr>
            </a:pPr>
            <a:r>
              <a:rPr sz="1575" b="1">
                <a:solidFill>
                  <a:srgbClr val="DE5A1D"/>
                </a:solidFill>
              </a:rPr>
              <a:t>The demo works without a network interface or a new download.</a:t>
            </a:r>
          </a:p>
        </p:txBody>
      </p:sp>
    </p:spTree>
    <p:extLst>
      <p:ext uri="{BB962C8B-B14F-4D97-AF65-F5344CB8AC3E}">
        <p14:creationId xmlns:p14="http://schemas.microsoft.com/office/powerpoint/2010/main" val="7947603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47EAD-4EDF-40CA-BDDB-EA7DBEFD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DE5A1D"/>
                </a:solidFill>
              </a:defRPr>
            </a:defPPr>
            <a:lvl1pPr algn="l">
              <a:defRPr sz="1200" b="1">
                <a:solidFill>
                  <a:srgbClr val="DE5A1D"/>
                </a:solidFill>
              </a:defRPr>
            </a:lvl1pPr>
            <a:lvl2pPr algn="l">
              <a:defRPr sz="1200" b="1">
                <a:solidFill>
                  <a:srgbClr val="DE5A1D"/>
                </a:solidFill>
              </a:defRPr>
            </a:lvl2pPr>
            <a:lvl3pPr algn="l">
              <a:defRPr sz="1200" b="1">
                <a:solidFill>
                  <a:srgbClr val="DE5A1D"/>
                </a:solidFill>
              </a:defRPr>
            </a:lvl3pPr>
            <a:lvl4pPr algn="l">
              <a:defRPr sz="1200" b="1">
                <a:solidFill>
                  <a:srgbClr val="DE5A1D"/>
                </a:solidFill>
              </a:defRPr>
            </a:lvl4pPr>
            <a:lvl5pPr algn="l">
              <a:defRPr sz="1200" b="1">
                <a:solidFill>
                  <a:srgbClr val="DE5A1D"/>
                </a:solidFill>
              </a:defRPr>
            </a:lvl5pPr>
            <a:lvl6pPr algn="l">
              <a:defRPr sz="1200" b="1">
                <a:solidFill>
                  <a:srgbClr val="DE5A1D"/>
                </a:solidFill>
              </a:defRPr>
            </a:lvl6pPr>
            <a:lvl7pPr algn="l">
              <a:defRPr sz="1200" b="1">
                <a:solidFill>
                  <a:srgbClr val="DE5A1D"/>
                </a:solidFill>
              </a:defRPr>
            </a:lvl7pPr>
            <a:lvl8pPr algn="l">
              <a:defRPr sz="1200" b="1">
                <a:solidFill>
                  <a:srgbClr val="DE5A1D"/>
                </a:solidFill>
              </a:defRPr>
            </a:lvl8pPr>
            <a:lvl9pPr algn="l">
              <a:defRPr sz="120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E5A1D"/>
                </a:solidFill>
              </a:defRPr>
            </a:pPr>
            <a:r>
              <a:rPr sz="1200" b="1">
                <a:solidFill>
                  <a:srgbClr val="DE5A1D"/>
                </a:solidFill>
              </a:rPr>
              <a:t>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2F9C5-9AEB-42FB-BE9A-6585DB8A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00" b="1">
                <a:solidFill>
                  <a:srgbClr val="F7F7F5"/>
                </a:solidFill>
              </a:defRPr>
            </a:defPPr>
            <a:lvl1pPr algn="l">
              <a:defRPr sz="3000" b="1">
                <a:solidFill>
                  <a:srgbClr val="F7F7F5"/>
                </a:solidFill>
              </a:defRPr>
            </a:lvl1pPr>
            <a:lvl2pPr algn="l">
              <a:defRPr sz="3000" b="1">
                <a:solidFill>
                  <a:srgbClr val="F7F7F5"/>
                </a:solidFill>
              </a:defRPr>
            </a:lvl2pPr>
            <a:lvl3pPr algn="l">
              <a:defRPr sz="3000" b="1">
                <a:solidFill>
                  <a:srgbClr val="F7F7F5"/>
                </a:solidFill>
              </a:defRPr>
            </a:lvl3pPr>
            <a:lvl4pPr algn="l">
              <a:defRPr sz="3000" b="1">
                <a:solidFill>
                  <a:srgbClr val="F7F7F5"/>
                </a:solidFill>
              </a:defRPr>
            </a:lvl4pPr>
            <a:lvl5pPr algn="l">
              <a:defRPr sz="3000" b="1">
                <a:solidFill>
                  <a:srgbClr val="F7F7F5"/>
                </a:solidFill>
              </a:defRPr>
            </a:lvl5pPr>
            <a:lvl6pPr algn="l">
              <a:defRPr sz="3000" b="1">
                <a:solidFill>
                  <a:srgbClr val="F7F7F5"/>
                </a:solidFill>
              </a:defRPr>
            </a:lvl6pPr>
            <a:lvl7pPr algn="l">
              <a:defRPr sz="3000" b="1">
                <a:solidFill>
                  <a:srgbClr val="F7F7F5"/>
                </a:solidFill>
              </a:defRPr>
            </a:lvl7pPr>
            <a:lvl8pPr algn="l">
              <a:defRPr sz="3000" b="1">
                <a:solidFill>
                  <a:srgbClr val="F7F7F5"/>
                </a:solidFill>
              </a:defRPr>
            </a:lvl8pPr>
            <a:lvl9pPr algn="l">
              <a:defRPr sz="300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7F7F5"/>
                </a:solidFill>
              </a:defRPr>
            </a:pPr>
            <a:r>
              <a:rPr sz="3000" b="1">
                <a:solidFill>
                  <a:srgbClr val="F7F7F5"/>
                </a:solidFill>
              </a:rPr>
              <a:t>What is complete and what remains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A4239-249A-4B78-9C2F-F8851694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8C8C88"/>
                </a:solidFill>
              </a:defRPr>
            </a:defPPr>
            <a:lvl1pPr algn="r">
              <a:defRPr sz="1050" b="0">
                <a:solidFill>
                  <a:srgbClr val="8C8C88"/>
                </a:solidFill>
              </a:defRPr>
            </a:lvl1pPr>
            <a:lvl2pPr algn="r">
              <a:defRPr sz="1050" b="0">
                <a:solidFill>
                  <a:srgbClr val="8C8C88"/>
                </a:solidFill>
              </a:defRPr>
            </a:lvl2pPr>
            <a:lvl3pPr algn="r">
              <a:defRPr sz="1050" b="0">
                <a:solidFill>
                  <a:srgbClr val="8C8C88"/>
                </a:solidFill>
              </a:defRPr>
            </a:lvl3pPr>
            <a:lvl4pPr algn="r">
              <a:defRPr sz="1050" b="0">
                <a:solidFill>
                  <a:srgbClr val="8C8C88"/>
                </a:solidFill>
              </a:defRPr>
            </a:lvl4pPr>
            <a:lvl5pPr algn="r">
              <a:defRPr sz="1050" b="0">
                <a:solidFill>
                  <a:srgbClr val="8C8C88"/>
                </a:solidFill>
              </a:defRPr>
            </a:lvl5pPr>
            <a:lvl6pPr algn="r">
              <a:defRPr sz="1050" b="0">
                <a:solidFill>
                  <a:srgbClr val="8C8C88"/>
                </a:solidFill>
              </a:defRPr>
            </a:lvl6pPr>
            <a:lvl7pPr algn="r">
              <a:defRPr sz="1050" b="0">
                <a:solidFill>
                  <a:srgbClr val="8C8C88"/>
                </a:solidFill>
              </a:defRPr>
            </a:lvl7pPr>
            <a:lvl8pPr algn="r">
              <a:defRPr sz="1050" b="0">
                <a:solidFill>
                  <a:srgbClr val="8C8C88"/>
                </a:solidFill>
              </a:defRPr>
            </a:lvl8pPr>
            <a:lvl9pPr algn="r">
              <a:defRPr sz="1050" b="0">
                <a:solidFill>
                  <a:srgbClr val="8C8C88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C8C88"/>
                </a:solidFill>
              </a:defRPr>
            </a:pPr>
            <a:r>
              <a:rPr sz="1050" b="0">
                <a:solidFill>
                  <a:srgbClr val="8C8C88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4E662-34E6-44C6-B39B-DE4D5664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F7F7F5"/>
                </a:solidFill>
              </a:defRPr>
            </a:defPPr>
            <a:lvl1pPr algn="l">
              <a:defRPr sz="2325" b="1">
                <a:solidFill>
                  <a:srgbClr val="F7F7F5"/>
                </a:solidFill>
              </a:defRPr>
            </a:lvl1pPr>
            <a:lvl2pPr algn="l">
              <a:defRPr sz="2325" b="1">
                <a:solidFill>
                  <a:srgbClr val="F7F7F5"/>
                </a:solidFill>
              </a:defRPr>
            </a:lvl2pPr>
            <a:lvl3pPr algn="l">
              <a:defRPr sz="2325" b="1">
                <a:solidFill>
                  <a:srgbClr val="F7F7F5"/>
                </a:solidFill>
              </a:defRPr>
            </a:lvl3pPr>
            <a:lvl4pPr algn="l">
              <a:defRPr sz="2325" b="1">
                <a:solidFill>
                  <a:srgbClr val="F7F7F5"/>
                </a:solidFill>
              </a:defRPr>
            </a:lvl4pPr>
            <a:lvl5pPr algn="l">
              <a:defRPr sz="2325" b="1">
                <a:solidFill>
                  <a:srgbClr val="F7F7F5"/>
                </a:solidFill>
              </a:defRPr>
            </a:lvl5pPr>
            <a:lvl6pPr algn="l">
              <a:defRPr sz="2325" b="1">
                <a:solidFill>
                  <a:srgbClr val="F7F7F5"/>
                </a:solidFill>
              </a:defRPr>
            </a:lvl6pPr>
            <a:lvl7pPr algn="l">
              <a:defRPr sz="2325" b="1">
                <a:solidFill>
                  <a:srgbClr val="F7F7F5"/>
                </a:solidFill>
              </a:defRPr>
            </a:lvl7pPr>
            <a:lvl8pPr algn="l">
              <a:defRPr sz="2325" b="1">
                <a:solidFill>
                  <a:srgbClr val="F7F7F5"/>
                </a:solidFill>
              </a:defRPr>
            </a:lvl8pPr>
            <a:lvl9pPr algn="l">
              <a:defRPr sz="23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7F7F5"/>
                </a:solidFill>
              </a:defRPr>
            </a:pPr>
            <a:r>
              <a:rPr sz="2325" b="1">
                <a:solidFill>
                  <a:srgbClr val="F7F7F5"/>
                </a:solidFill>
              </a:rPr>
              <a:t>Working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0BB02-9978-4461-970A-8F0133F1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48577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C6C6C2"/>
                </a:solidFill>
              </a:defRPr>
            </a:defPPr>
            <a:lvl1pPr algn="l">
              <a:defRPr sz="1875" b="0">
                <a:solidFill>
                  <a:srgbClr val="C6C6C2"/>
                </a:solidFill>
              </a:defRPr>
            </a:lvl1pPr>
            <a:lvl2pPr algn="l">
              <a:defRPr sz="1875" b="0">
                <a:solidFill>
                  <a:srgbClr val="C6C6C2"/>
                </a:solidFill>
              </a:defRPr>
            </a:lvl2pPr>
            <a:lvl3pPr algn="l">
              <a:defRPr sz="1875" b="0">
                <a:solidFill>
                  <a:srgbClr val="C6C6C2"/>
                </a:solidFill>
              </a:defRPr>
            </a:lvl3pPr>
            <a:lvl4pPr algn="l">
              <a:defRPr sz="1875" b="0">
                <a:solidFill>
                  <a:srgbClr val="C6C6C2"/>
                </a:solidFill>
              </a:defRPr>
            </a:lvl4pPr>
            <a:lvl5pPr algn="l">
              <a:defRPr sz="1875" b="0">
                <a:solidFill>
                  <a:srgbClr val="C6C6C2"/>
                </a:solidFill>
              </a:defRPr>
            </a:lvl5pPr>
            <a:lvl6pPr algn="l">
              <a:defRPr sz="1875" b="0">
                <a:solidFill>
                  <a:srgbClr val="C6C6C2"/>
                </a:solidFill>
              </a:defRPr>
            </a:lvl6pPr>
            <a:lvl7pPr algn="l">
              <a:defRPr sz="1875" b="0">
                <a:solidFill>
                  <a:srgbClr val="C6C6C2"/>
                </a:solidFill>
              </a:defRPr>
            </a:lvl7pPr>
            <a:lvl8pPr algn="l">
              <a:defRPr sz="1875" b="0">
                <a:solidFill>
                  <a:srgbClr val="C6C6C2"/>
                </a:solidFill>
              </a:defRPr>
            </a:lvl8pPr>
            <a:lvl9pPr algn="l">
              <a:defRPr sz="187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C6C6C2"/>
                </a:solidFill>
              </a:defRPr>
            </a:pPr>
            <a:r>
              <a:rPr sz="1875" b="0">
                <a:solidFill>
                  <a:srgbClr val="C6C6C2"/>
                </a:solidFill>
              </a:rPr>
              <a:t>Traffic processing, adaptive rules, dashboard, alerts, safe mitigation simulation, ML training, and dataset audits.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8CD13-E997-401E-B2BD-F2F9CC05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F7F7F5"/>
                </a:solidFill>
              </a:defRPr>
            </a:defPPr>
            <a:lvl1pPr algn="l">
              <a:defRPr sz="2325" b="1">
                <a:solidFill>
                  <a:srgbClr val="F7F7F5"/>
                </a:solidFill>
              </a:defRPr>
            </a:lvl1pPr>
            <a:lvl2pPr algn="l">
              <a:defRPr sz="2325" b="1">
                <a:solidFill>
                  <a:srgbClr val="F7F7F5"/>
                </a:solidFill>
              </a:defRPr>
            </a:lvl2pPr>
            <a:lvl3pPr algn="l">
              <a:defRPr sz="2325" b="1">
                <a:solidFill>
                  <a:srgbClr val="F7F7F5"/>
                </a:solidFill>
              </a:defRPr>
            </a:lvl3pPr>
            <a:lvl4pPr algn="l">
              <a:defRPr sz="2325" b="1">
                <a:solidFill>
                  <a:srgbClr val="F7F7F5"/>
                </a:solidFill>
              </a:defRPr>
            </a:lvl4pPr>
            <a:lvl5pPr algn="l">
              <a:defRPr sz="2325" b="1">
                <a:solidFill>
                  <a:srgbClr val="F7F7F5"/>
                </a:solidFill>
              </a:defRPr>
            </a:lvl5pPr>
            <a:lvl6pPr algn="l">
              <a:defRPr sz="2325" b="1">
                <a:solidFill>
                  <a:srgbClr val="F7F7F5"/>
                </a:solidFill>
              </a:defRPr>
            </a:lvl6pPr>
            <a:lvl7pPr algn="l">
              <a:defRPr sz="2325" b="1">
                <a:solidFill>
                  <a:srgbClr val="F7F7F5"/>
                </a:solidFill>
              </a:defRPr>
            </a:lvl7pPr>
            <a:lvl8pPr algn="l">
              <a:defRPr sz="2325" b="1">
                <a:solidFill>
                  <a:srgbClr val="F7F7F5"/>
                </a:solidFill>
              </a:defRPr>
            </a:lvl8pPr>
            <a:lvl9pPr algn="l">
              <a:defRPr sz="2325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7F7F5"/>
                </a:solidFill>
              </a:defRPr>
            </a:pPr>
            <a:r>
              <a:rPr sz="2325" b="1">
                <a:solidFill>
                  <a:srgbClr val="F7F7F5"/>
                </a:solidFill>
              </a:rPr>
              <a:t>Research still needed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546C4-F06C-4C6E-854A-4C7FD335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8577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C6C6C2"/>
                </a:solidFill>
              </a:defRPr>
            </a:defPPr>
            <a:lvl1pPr algn="l">
              <a:defRPr sz="1875" b="0">
                <a:solidFill>
                  <a:srgbClr val="C6C6C2"/>
                </a:solidFill>
              </a:defRPr>
            </a:lvl1pPr>
            <a:lvl2pPr algn="l">
              <a:defRPr sz="1875" b="0">
                <a:solidFill>
                  <a:srgbClr val="C6C6C2"/>
                </a:solidFill>
              </a:defRPr>
            </a:lvl2pPr>
            <a:lvl3pPr algn="l">
              <a:defRPr sz="1875" b="0">
                <a:solidFill>
                  <a:srgbClr val="C6C6C2"/>
                </a:solidFill>
              </a:defRPr>
            </a:lvl3pPr>
            <a:lvl4pPr algn="l">
              <a:defRPr sz="1875" b="0">
                <a:solidFill>
                  <a:srgbClr val="C6C6C2"/>
                </a:solidFill>
              </a:defRPr>
            </a:lvl4pPr>
            <a:lvl5pPr algn="l">
              <a:defRPr sz="1875" b="0">
                <a:solidFill>
                  <a:srgbClr val="C6C6C2"/>
                </a:solidFill>
              </a:defRPr>
            </a:lvl5pPr>
            <a:lvl6pPr algn="l">
              <a:defRPr sz="1875" b="0">
                <a:solidFill>
                  <a:srgbClr val="C6C6C2"/>
                </a:solidFill>
              </a:defRPr>
            </a:lvl6pPr>
            <a:lvl7pPr algn="l">
              <a:defRPr sz="1875" b="0">
                <a:solidFill>
                  <a:srgbClr val="C6C6C2"/>
                </a:solidFill>
              </a:defRPr>
            </a:lvl7pPr>
            <a:lvl8pPr algn="l">
              <a:defRPr sz="1875" b="0">
                <a:solidFill>
                  <a:srgbClr val="C6C6C2"/>
                </a:solidFill>
              </a:defRPr>
            </a:lvl8pPr>
            <a:lvl9pPr algn="l">
              <a:defRPr sz="187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C6C6C2"/>
                </a:solidFill>
              </a:defRPr>
            </a:pPr>
            <a:r>
              <a:rPr sz="1875" b="0">
                <a:solidFill>
                  <a:srgbClr val="C6C6C2"/>
                </a:solidFill>
              </a:rPr>
              <a:t>More independent labeled captures, verified clock and labels, held-out packet-window evaluation, and model calibration.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470C7-7E6C-462A-956F-51DFF3EE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DE5A1D"/>
                </a:solidFill>
              </a:defRPr>
            </a:defPPr>
            <a:lvl1pPr algn="l">
              <a:defRPr sz="1800" b="1">
                <a:solidFill>
                  <a:srgbClr val="DE5A1D"/>
                </a:solidFill>
              </a:defRPr>
            </a:lvl1pPr>
            <a:lvl2pPr algn="l">
              <a:defRPr sz="1800" b="1">
                <a:solidFill>
                  <a:srgbClr val="DE5A1D"/>
                </a:solidFill>
              </a:defRPr>
            </a:lvl2pPr>
            <a:lvl3pPr algn="l">
              <a:defRPr sz="1800" b="1">
                <a:solidFill>
                  <a:srgbClr val="DE5A1D"/>
                </a:solidFill>
              </a:defRPr>
            </a:lvl3pPr>
            <a:lvl4pPr algn="l">
              <a:defRPr sz="1800" b="1">
                <a:solidFill>
                  <a:srgbClr val="DE5A1D"/>
                </a:solidFill>
              </a:defRPr>
            </a:lvl4pPr>
            <a:lvl5pPr algn="l">
              <a:defRPr sz="1800" b="1">
                <a:solidFill>
                  <a:srgbClr val="DE5A1D"/>
                </a:solidFill>
              </a:defRPr>
            </a:lvl5pPr>
            <a:lvl6pPr algn="l">
              <a:defRPr sz="1800" b="1">
                <a:solidFill>
                  <a:srgbClr val="DE5A1D"/>
                </a:solidFill>
              </a:defRPr>
            </a:lvl6pPr>
            <a:lvl7pPr algn="l">
              <a:defRPr sz="1800" b="1">
                <a:solidFill>
                  <a:srgbClr val="DE5A1D"/>
                </a:solidFill>
              </a:defRPr>
            </a:lvl7pPr>
            <a:lvl8pPr algn="l">
              <a:defRPr sz="1800" b="1">
                <a:solidFill>
                  <a:srgbClr val="DE5A1D"/>
                </a:solidFill>
              </a:defRPr>
            </a:lvl8pPr>
            <a:lvl9pPr algn="l">
              <a:defRPr sz="1800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E5A1D"/>
                </a:solidFill>
              </a:defRPr>
            </a:pPr>
            <a:r>
              <a:rPr sz="1800" b="1">
                <a:solidFill>
                  <a:srgbClr val="DE5A1D"/>
                </a:solidFill>
              </a:rPr>
              <a:t>Current claim: a demonstrable monitoring prototype with measured limitations.</a:t>
            </a:r>
          </a:p>
        </p:txBody>
      </p:sp>
    </p:spTree>
    <p:extLst>
      <p:ext uri="{BB962C8B-B14F-4D97-AF65-F5344CB8AC3E}">
        <p14:creationId xmlns:p14="http://schemas.microsoft.com/office/powerpoint/2010/main" val="2061618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39862-360F-4DFA-B6DD-D09FC3D7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DE5A1D"/>
                </a:solidFill>
              </a:defRPr>
            </a:defPPr>
            <a:lvl1pPr algn="l">
              <a:defRPr sz="1275" b="1">
                <a:solidFill>
                  <a:srgbClr val="DE5A1D"/>
                </a:solidFill>
              </a:defRPr>
            </a:lvl1pPr>
            <a:lvl2pPr algn="l">
              <a:defRPr sz="1275" b="1">
                <a:solidFill>
                  <a:srgbClr val="DE5A1D"/>
                </a:solidFill>
              </a:defRPr>
            </a:lvl2pPr>
            <a:lvl3pPr algn="l">
              <a:defRPr sz="1275" b="1">
                <a:solidFill>
                  <a:srgbClr val="DE5A1D"/>
                </a:solidFill>
              </a:defRPr>
            </a:lvl3pPr>
            <a:lvl4pPr algn="l">
              <a:defRPr sz="1275" b="1">
                <a:solidFill>
                  <a:srgbClr val="DE5A1D"/>
                </a:solidFill>
              </a:defRPr>
            </a:lvl4pPr>
            <a:lvl5pPr algn="l">
              <a:defRPr sz="1275" b="1">
                <a:solidFill>
                  <a:srgbClr val="DE5A1D"/>
                </a:solidFill>
              </a:defRPr>
            </a:lvl5pPr>
            <a:lvl6pPr algn="l">
              <a:defRPr sz="1275" b="1">
                <a:solidFill>
                  <a:srgbClr val="DE5A1D"/>
                </a:solidFill>
              </a:defRPr>
            </a:lvl6pPr>
            <a:lvl7pPr algn="l">
              <a:defRPr sz="1275" b="1">
                <a:solidFill>
                  <a:srgbClr val="DE5A1D"/>
                </a:solidFill>
              </a:defRPr>
            </a:lvl7pPr>
            <a:lvl8pPr algn="l">
              <a:defRPr sz="1275" b="1">
                <a:solidFill>
                  <a:srgbClr val="DE5A1D"/>
                </a:solidFill>
              </a:defRPr>
            </a:lvl8pPr>
            <a:lvl9pPr algn="l">
              <a:defRPr sz="1275" b="1">
                <a:solidFill>
                  <a:srgbClr val="DE5A1D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E5A1D"/>
                </a:solidFill>
              </a:defRPr>
            </a:pPr>
            <a:r>
              <a:rPr sz="1275" b="1">
                <a:solidFill>
                  <a:srgbClr val="DE5A1D"/>
                </a:solidFill>
              </a:rPr>
              <a:t>SENTINELSHIELD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B09A5-B615-4CEF-B385-FC43AF59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5100" b="1">
                <a:solidFill>
                  <a:srgbClr val="F7F7F5"/>
                </a:solidFill>
              </a:defRPr>
            </a:defPPr>
            <a:lvl1pPr algn="l">
              <a:defRPr sz="5100" b="1">
                <a:solidFill>
                  <a:srgbClr val="F7F7F5"/>
                </a:solidFill>
              </a:defRPr>
            </a:lvl1pPr>
            <a:lvl2pPr algn="l">
              <a:defRPr sz="5100" b="1">
                <a:solidFill>
                  <a:srgbClr val="F7F7F5"/>
                </a:solidFill>
              </a:defRPr>
            </a:lvl2pPr>
            <a:lvl3pPr algn="l">
              <a:defRPr sz="5100" b="1">
                <a:solidFill>
                  <a:srgbClr val="F7F7F5"/>
                </a:solidFill>
              </a:defRPr>
            </a:lvl3pPr>
            <a:lvl4pPr algn="l">
              <a:defRPr sz="5100" b="1">
                <a:solidFill>
                  <a:srgbClr val="F7F7F5"/>
                </a:solidFill>
              </a:defRPr>
            </a:lvl4pPr>
            <a:lvl5pPr algn="l">
              <a:defRPr sz="5100" b="1">
                <a:solidFill>
                  <a:srgbClr val="F7F7F5"/>
                </a:solidFill>
              </a:defRPr>
            </a:lvl5pPr>
            <a:lvl6pPr algn="l">
              <a:defRPr sz="5100" b="1">
                <a:solidFill>
                  <a:srgbClr val="F7F7F5"/>
                </a:solidFill>
              </a:defRPr>
            </a:lvl6pPr>
            <a:lvl7pPr algn="l">
              <a:defRPr sz="5100" b="1">
                <a:solidFill>
                  <a:srgbClr val="F7F7F5"/>
                </a:solidFill>
              </a:defRPr>
            </a:lvl7pPr>
            <a:lvl8pPr algn="l">
              <a:defRPr sz="5100" b="1">
                <a:solidFill>
                  <a:srgbClr val="F7F7F5"/>
                </a:solidFill>
              </a:defRPr>
            </a:lvl8pPr>
            <a:lvl9pPr algn="l">
              <a:defRPr sz="5100" b="1">
                <a:solidFill>
                  <a:srgbClr val="F7F7F5"/>
                </a:solidFill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F7F7F5"/>
                </a:solidFill>
              </a:defRPr>
            </a:pPr>
            <a:r>
              <a:rPr sz="5100" b="1">
                <a:solidFill>
                  <a:srgbClr val="F7F7F5"/>
                </a:solidFill>
              </a:rPr>
              <a:t>Questions?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0E50A-5E50-4429-A03E-26CF8AB1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C6C6C2"/>
                </a:solidFill>
              </a:defRPr>
            </a:defPPr>
            <a:lvl1pPr algn="l">
              <a:defRPr sz="1875" b="0">
                <a:solidFill>
                  <a:srgbClr val="C6C6C2"/>
                </a:solidFill>
              </a:defRPr>
            </a:lvl1pPr>
            <a:lvl2pPr algn="l">
              <a:defRPr sz="1875" b="0">
                <a:solidFill>
                  <a:srgbClr val="C6C6C2"/>
                </a:solidFill>
              </a:defRPr>
            </a:lvl2pPr>
            <a:lvl3pPr algn="l">
              <a:defRPr sz="1875" b="0">
                <a:solidFill>
                  <a:srgbClr val="C6C6C2"/>
                </a:solidFill>
              </a:defRPr>
            </a:lvl3pPr>
            <a:lvl4pPr algn="l">
              <a:defRPr sz="1875" b="0">
                <a:solidFill>
                  <a:srgbClr val="C6C6C2"/>
                </a:solidFill>
              </a:defRPr>
            </a:lvl4pPr>
            <a:lvl5pPr algn="l">
              <a:defRPr sz="1875" b="0">
                <a:solidFill>
                  <a:srgbClr val="C6C6C2"/>
                </a:solidFill>
              </a:defRPr>
            </a:lvl5pPr>
            <a:lvl6pPr algn="l">
              <a:defRPr sz="1875" b="0">
                <a:solidFill>
                  <a:srgbClr val="C6C6C2"/>
                </a:solidFill>
              </a:defRPr>
            </a:lvl6pPr>
            <a:lvl7pPr algn="l">
              <a:defRPr sz="1875" b="0">
                <a:solidFill>
                  <a:srgbClr val="C6C6C2"/>
                </a:solidFill>
              </a:defRPr>
            </a:lvl7pPr>
            <a:lvl8pPr algn="l">
              <a:defRPr sz="1875" b="0">
                <a:solidFill>
                  <a:srgbClr val="C6C6C2"/>
                </a:solidFill>
              </a:defRPr>
            </a:lvl8pPr>
            <a:lvl9pPr algn="l">
              <a:defRPr sz="1875" b="0">
                <a:solidFill>
                  <a:srgbClr val="C6C6C2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C6C6C2"/>
                </a:solidFill>
              </a:defRPr>
            </a:pPr>
            <a:r>
              <a:rPr sz="1875" b="0">
                <a:solidFill>
                  <a:srgbClr val="C6C6C2"/>
                </a:solidFill>
              </a:rPr>
              <a:t>Monitoring prototype with explainable decisions and honest evaluation</a:t>
            </a:r>
          </a:p>
        </p:txBody>
      </p:sp>
    </p:spTree>
    <p:extLst>
      <p:ext uri="{BB962C8B-B14F-4D97-AF65-F5344CB8AC3E}">
        <p14:creationId xmlns:p14="http://schemas.microsoft.com/office/powerpoint/2010/main" val="1656841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2026-10-20T10:47:05.6910000Z</dcterms:created>
  <dcterms:modified xsi:type="dcterms:W3CDTF">2026-10-20T10:47:05.6910000Z</dcterms:modified>
</coreProperties>
</file>