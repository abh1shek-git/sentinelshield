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cc6a54124f41b2" /><Relationship Type="http://schemas.openxmlformats.org/officeDocument/2006/relationships/extended-properties" Target="/docProps/app.xml" Id="R8022220402ae4f22" /><Relationship Type="http://schemas.openxmlformats.org/officeDocument/2006/relationships/officeDocument" Target="/ppt/presentation.xml" Id="Rcca3e9a5edcd40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338667fe8e4526"/>
  </p:sldMasterIdLst>
  <p:notesMasterIdLst>
    <p:notesMasterId xmlns:r="http://schemas.openxmlformats.org/officeDocument/2006/relationships" r:id="R97a621551c9a4eff"/>
  </p:notesMasterIdLst>
  <p:sldIdLst>
    <p:sldId xmlns:r="http://schemas.openxmlformats.org/officeDocument/2006/relationships" id="256" r:id="R48c5fbf2d0054556"/>
    <p:sldId xmlns:r="http://schemas.openxmlformats.org/officeDocument/2006/relationships" id="257" r:id="R8240277877614935"/>
    <p:sldId xmlns:r="http://schemas.openxmlformats.org/officeDocument/2006/relationships" id="258" r:id="R57d823cefd204ac9"/>
    <p:sldId xmlns:r="http://schemas.openxmlformats.org/officeDocument/2006/relationships" id="259" r:id="Rd92516833b124d91"/>
    <p:sldId xmlns:r="http://schemas.openxmlformats.org/officeDocument/2006/relationships" id="260" r:id="R6016572787af4b1f"/>
    <p:sldId xmlns:r="http://schemas.openxmlformats.org/officeDocument/2006/relationships" id="261" r:id="Rfd2197c38b184892"/>
    <p:sldId xmlns:r="http://schemas.openxmlformats.org/officeDocument/2006/relationships" id="262" r:id="Rcbbeee9dc5bb4839"/>
    <p:sldId xmlns:r="http://schemas.openxmlformats.org/officeDocument/2006/relationships" id="263" r:id="Rb874894942de47ec"/>
    <p:sldId xmlns:r="http://schemas.openxmlformats.org/officeDocument/2006/relationships" id="264" r:id="R9864f2f847724e01"/>
    <p:sldId xmlns:r="http://schemas.openxmlformats.org/officeDocument/2006/relationships" id="265" r:id="R30166de1249140fb"/>
    <p:sldId xmlns:r="http://schemas.openxmlformats.org/officeDocument/2006/relationships" id="266" r:id="Rbaca2c2617d64ff5"/>
    <p:sldId xmlns:r="http://schemas.openxmlformats.org/officeDocument/2006/relationships" id="267" r:id="R35e9d67fe7524bff"/>
    <p:sldId xmlns:r="http://schemas.openxmlformats.org/officeDocument/2006/relationships" id="268" r:id="R7456cd109cce47a3"/>
    <p:sldId xmlns:r="http://schemas.openxmlformats.org/officeDocument/2006/relationships" id="269" r:id="R1e5f335e45c34f3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ca3fb6054c4a85" /><Relationship Type="http://schemas.openxmlformats.org/officeDocument/2006/relationships/slideMaster" Target="/ppt/slideMasters/slideMaster1.xml" Id="Rc1338667fe8e4526" /><Relationship Type="http://schemas.openxmlformats.org/officeDocument/2006/relationships/notesMaster" Target="/ppt/notesMasters/notesMaster1.xml" Id="R97a621551c9a4eff" /><Relationship Type="http://schemas.openxmlformats.org/officeDocument/2006/relationships/presProps" Target="/ppt/presProps.xml" Id="R1bc564e5f7244697" /><Relationship Type="http://schemas.openxmlformats.org/officeDocument/2006/relationships/tableStyles" Target="/ppt/tableStyles.xml" Id="Rf27d1af0b95a4439" /><Relationship Type="http://schemas.openxmlformats.org/officeDocument/2006/relationships/slide" Target="/ppt/slides/slide1.xml" Id="R48c5fbf2d0054556" /><Relationship Type="http://schemas.openxmlformats.org/officeDocument/2006/relationships/slide" Target="/ppt/slides/slide2.xml" Id="R8240277877614935" /><Relationship Type="http://schemas.openxmlformats.org/officeDocument/2006/relationships/slide" Target="/ppt/slides/slide3.xml" Id="R57d823cefd204ac9" /><Relationship Type="http://schemas.openxmlformats.org/officeDocument/2006/relationships/slide" Target="/ppt/slides/slide4.xml" Id="Rd92516833b124d91" /><Relationship Type="http://schemas.openxmlformats.org/officeDocument/2006/relationships/slide" Target="/ppt/slides/slide5.xml" Id="R6016572787af4b1f" /><Relationship Type="http://schemas.openxmlformats.org/officeDocument/2006/relationships/slide" Target="/ppt/slides/slide6.xml" Id="Rfd2197c38b184892" /><Relationship Type="http://schemas.openxmlformats.org/officeDocument/2006/relationships/slide" Target="/ppt/slides/slide7.xml" Id="Rcbbeee9dc5bb4839" /><Relationship Type="http://schemas.openxmlformats.org/officeDocument/2006/relationships/slide" Target="/ppt/slides/slide8.xml" Id="Rb874894942de47ec" /><Relationship Type="http://schemas.openxmlformats.org/officeDocument/2006/relationships/slide" Target="/ppt/slides/slide9.xml" Id="R9864f2f847724e01" /><Relationship Type="http://schemas.openxmlformats.org/officeDocument/2006/relationships/slide" Target="/ppt/slides/slide10.xml" Id="R30166de1249140fb" /><Relationship Type="http://schemas.openxmlformats.org/officeDocument/2006/relationships/slide" Target="/ppt/slides/slide11.xml" Id="Rbaca2c2617d64ff5" /><Relationship Type="http://schemas.openxmlformats.org/officeDocument/2006/relationships/slide" Target="/ppt/slides/slide12.xml" Id="R35e9d67fe7524bff" /><Relationship Type="http://schemas.openxmlformats.org/officeDocument/2006/relationships/slide" Target="/ppt/slides/slide13.xml" Id="R7456cd109cce47a3" /><Relationship Type="http://schemas.openxmlformats.org/officeDocument/2006/relationships/slide" Target="/ppt/slides/slide14.xml" Id="R1e5f335e45c34f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ce282f9e1e421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b0711c9e7c44ae" /><Relationship Type="http://schemas.openxmlformats.org/officeDocument/2006/relationships/notesMaster" Target="/ppt/notesMasters/notesMaster1.xml" Id="R2cfbb3cc21404a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a81e29530b459b" /><Relationship Type="http://schemas.openxmlformats.org/officeDocument/2006/relationships/notesMaster" Target="/ppt/notesMasters/notesMaster1.xml" Id="Ra1ef8863509a49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bc659fad9c41fe" /><Relationship Type="http://schemas.openxmlformats.org/officeDocument/2006/relationships/notesMaster" Target="/ppt/notesMasters/notesMaster1.xml" Id="R949f46c15ed74d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49bf51c2674643" /><Relationship Type="http://schemas.openxmlformats.org/officeDocument/2006/relationships/notesMaster" Target="/ppt/notesMasters/notesMaster1.xml" Id="R31222623d34b4d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8607c7ee954039" /><Relationship Type="http://schemas.openxmlformats.org/officeDocument/2006/relationships/notesMaster" Target="/ppt/notesMasters/notesMaster1.xml" Id="R3d1c1c13d0874a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cefedec4524f8f" /><Relationship Type="http://schemas.openxmlformats.org/officeDocument/2006/relationships/notesMaster" Target="/ppt/notesMasters/notesMaster1.xml" Id="Rcf0ba4024ee04b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04fc7978d64ceb" /><Relationship Type="http://schemas.openxmlformats.org/officeDocument/2006/relationships/notesMaster" Target="/ppt/notesMasters/notesMaster1.xml" Id="R4f04fbaec99c47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9c56acfed4f4703" /><Relationship Type="http://schemas.openxmlformats.org/officeDocument/2006/relationships/notesMaster" Target="/ppt/notesMasters/notesMaster1.xml" Id="R4926bd230f1f4f2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65bdd37d624f22" /><Relationship Type="http://schemas.openxmlformats.org/officeDocument/2006/relationships/notesMaster" Target="/ppt/notesMasters/notesMaster1.xml" Id="R73546a9301d647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7ff33c78394cf1" /><Relationship Type="http://schemas.openxmlformats.org/officeDocument/2006/relationships/notesMaster" Target="/ppt/notesMasters/notesMaster1.xml" Id="R4aa0786fa5fb44e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a33bb5254d40c3" /><Relationship Type="http://schemas.openxmlformats.org/officeDocument/2006/relationships/notesMaster" Target="/ppt/notesMasters/notesMaster1.xml" Id="R7c55ee6e6ad3412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47733a45e54537" /><Relationship Type="http://schemas.openxmlformats.org/officeDocument/2006/relationships/notesMaster" Target="/ppt/notesMasters/notesMaster1.xml" Id="R455b8722ab0e478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304608f99bf4745" /><Relationship Type="http://schemas.openxmlformats.org/officeDocument/2006/relationships/notesMaster" Target="/ppt/notesMasters/notesMaster1.xml" Id="R42dc993bea6e451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8f19c3b5c40417b" /><Relationship Type="http://schemas.openxmlformats.org/officeDocument/2006/relationships/notesMaster" Target="/ppt/notesMasters/notesMaster1.xml" Id="R4eb54ad85e1240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SentinelShield as a local, research-oriented monitoring prototype. It processes authorized captures or a local synthetic demonstration.</a:t>
            </a:r>
          </a:p>
          <a:p xmlns:a="http://schemas.openxmlformats.org/drawingml/2006/main">
            <a:r>
              <a:t>The core presentation is the packet-window pipeline and its real evaluation evidence.</a:t>
            </a:r>
          </a:p>
          <a:p xmlns:a="http://schemas.openxmlformats.org/drawingml/2006/main">
            <a:r>
              <a:t>Source: D:/Project/DDOS project/docs/REVIEW_BRIEF.md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practical objective: monitor patterns, flag unusual windows, and provide reasons to investigate.</a:t>
            </a:r>
          </a:p>
          <a:p xmlns:a="http://schemas.openxmlformats.org/drawingml/2006/main">
            <a:r>
              <a:t>The labels are signals rather than ground truth about an attack.</a:t>
            </a:r>
          </a:p>
          <a:p xmlns:a="http://schemas.openxmlformats.org/drawingml/2006/main">
            <a:r>
              <a:t>Source: D:/Project/DDOS project/README.md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user chooses one of three input modes. Live capture must be explicitly started and is bounded; no packet capture is needed for the synthetic demo.</a:t>
            </a:r>
          </a:p>
          <a:p xmlns:a="http://schemas.openxmlformats.org/drawingml/2006/main">
            <a:r>
              <a:t>The project stores aggregate windows and alerts. Temporary block entries are simulation only and do not modify firewall rules.</a:t>
            </a:r>
          </a:p>
          <a:p xmlns:a="http://schemas.openxmlformats.org/drawingml/2006/main">
            <a:r>
              <a:t>Sources: D:/Project/DDOS project/README.md and docs/REVIEW_BRIEF.md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feature window contains 21 ordered numeric columns. Packet rate means packet_count divided by the five-second window duration.</a:t>
            </a:r>
          </a:p>
          <a:p xmlns:a="http://schemas.openxmlformats.org/drawingml/2006/main">
            <a:r>
              <a:t>SYN ratio helps distinguish connection-attempt patterns from general traffic growth. It is still only a signal.</a:t>
            </a:r>
          </a:p>
          <a:p xmlns:a="http://schemas.openxmlformats.org/drawingml/2006/main">
            <a:r>
              <a:t>Source: D:/Project/DDOS project/docs/FEATURES.md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floor for unusual traffic is 100 packets/s by default. A warm-up of normal-looking windows establishes a rolling baseline.</a:t>
            </a:r>
          </a:p>
          <a:p xmlns:a="http://schemas.openxmlformats.org/drawingml/2006/main">
            <a:r>
              <a:t>The combined high-rate and SYN condition receives Potential DDoS Activity. Rule reasons are visible per window.</a:t>
            </a:r>
          </a:p>
          <a:p xmlns:a="http://schemas.openxmlformats.org/drawingml/2006/main">
            <a:r>
              <a:t>Source: D:/Project/DDOS project/docs/DETECTION.md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synthetic trainer defaults to 200 trees and a fixed seed. Its perfect four-class holdout score comes from hand-designed, separable examples and is not real-world accuracy.</a:t>
            </a:r>
          </a:p>
          <a:p xmlns:a="http://schemas.openxmlformats.org/drawingml/2006/main">
            <a:r>
              <a:t>The real-data flow model was evaluated separately. Its features are different from packet-window features, so it is not connected to live decisions.</a:t>
            </a:r>
          </a:p>
          <a:p xmlns:a="http://schemas.openxmlformats.org/drawingml/2006/main">
            <a:r>
              <a:t>Source: D:/Project/DDOS project/docs/ML_EVALUATION.md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supplied Friday file is a flow CSV despite 'pcap' in its filename. The local audit matched its hash and label counts to the existing evaluation report.</a:t>
            </a:r>
          </a:p>
          <a:p xmlns:a="http://schemas.openxmlformats.org/drawingml/2006/main">
            <a:r>
              <a:t>The CIC-DDoS2019 CSV provenance has not been independently verified. The 2018 mirror completeness has not been verified against the original release.</a:t>
            </a:r>
          </a:p>
          <a:p xmlns:a="http://schemas.openxmlformats.org/drawingml/2006/main">
            <a:r>
              <a:t>The five LUCID PCAP excerpts produce 567 windows but include only one benign capture, so no independent packet-window performance estimate was issued.</a:t>
            </a:r>
          </a:p>
          <a:p xmlns:a="http://schemas.openxmlformats.org/drawingml/2006/main">
            <a:r>
              <a:t>Sources: D:/Project/DDOS project/docs/ML_EVALUATION.md; results/review-dataset-audit.json; https://www.unb.ca/cic/datasets/ids-2017.html; https://www.unb.ca/cic/datasets/ids-2018.html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External files test whether the model transfers between traffic distributions. Randomly splitting neighboring windows could inflate performance.</a:t>
            </a:r>
          </a:p>
          <a:p xmlns:a="http://schemas.openxmlformats.org/drawingml/2006/main">
            <a:r>
              <a:t>The 2018 file was later inspected to diagnose failure, so any future adjusted model needs a new untouched evaluation capture.</a:t>
            </a:r>
          </a:p>
          <a:p xmlns:a="http://schemas.openxmlformats.org/drawingml/2006/main">
            <a:r>
              <a:t>Source: D:/Project/DDOS project/docs/ML_EVALUATION.md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evaluation uses 225,711 valid rows after 34 non-finite rows were excluded.</a:t>
            </a:r>
          </a:p>
          <a:p xmlns:a="http://schemas.openxmlformats.org/drawingml/2006/main">
            <a:r>
              <a:t>Confusion matrix: actual benign [73,445 predicted benign, 24,241 predicted DDoS]; actual DDoS [81,433 predicted benign, 46,592 predicted DDoS]. Accuracy was 53.2% on this attack-heavy file.</a:t>
            </a:r>
          </a:p>
          <a:p xmlns:a="http://schemas.openxmlformats.org/drawingml/2006/main">
            <a:r>
              <a:t>Source: D:/Project/DDOS project/results/cic-flow-baseline.json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second model trained on 657,082 valid 2019 and 2017 flows. On the 2018 file, it produced 312 false alarms among 360,833 benign flows.</a:t>
            </a:r>
          </a:p>
          <a:p xmlns:a="http://schemas.openxmlformats.org/drawingml/2006/main">
            <a:r>
              <a:t>The source distributions differ. Inspection found zero median forward/backward byte totals for 2018 DDoS flows, unlike the earlier sources. That is an observed difference, not proof of one specific cause.</a:t>
            </a:r>
          </a:p>
          <a:p xmlns:a="http://schemas.openxmlformats.org/drawingml/2006/main">
            <a:r>
              <a:t>Source: D:/Project/DDOS project/results/cic-multisource-flow.json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screenshot from the running Streamlit app using the Mixed demonstration synthetic scenario.</a:t>
            </a:r>
          </a:p>
          <a:p xmlns:a="http://schemas.openxmlformats.org/drawingml/2006/main">
            <a:r>
              <a:t>Read the alert explanation, window counts, and orange packet-rate line against the dashed threshold. The scenario is generated locally and is not a real attack benchmark.</a:t>
            </a:r>
          </a:p>
          <a:p xmlns:a="http://schemas.openxmlformats.org/drawingml/2006/main">
            <a:r>
              <a:t>Source: D:/Project/DDOS project/sentinelshield/dashboard/app.py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dashboard is ready for a live review using locally generated synthetic traffic. It also supports authorized PCAP/PCAPNG and bounded opt-in live capture.</a:t>
            </a:r>
          </a:p>
          <a:p xmlns:a="http://schemas.openxmlformats.org/drawingml/2006/main">
            <a:r>
              <a:t>A temporary block is an expiring SQLite simulation entry. The program does not block traffic in the operating system firewall.</a:t>
            </a:r>
          </a:p>
          <a:p xmlns:a="http://schemas.openxmlformats.org/drawingml/2006/main">
            <a:r>
              <a:t>Source: D:/Project/DDOS project/docs/REVIEW_BRIEF.md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Then evaluate on whole held-out captures, tune thresholds or redesign the model, and repeat on another untouched source before claiming deployment readiness.</a:t>
            </a:r>
          </a:p>
          <a:p xmlns:a="http://schemas.openxmlformats.org/drawingml/2006/main">
            <a:r>
              <a:t>The current LUCID excerpts lack a second benign capture and therefore cannot support this benchmark.</a:t>
            </a:r>
          </a:p>
          <a:p xmlns:a="http://schemas.openxmlformats.org/drawingml/2006/main">
            <a:r>
              <a:t>Sources: D:/Project/DDOS project/docs/ML_EVALUATION.md and docs/REVIEW_BRIEF.md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Invite questions about the rule baseline, where ML is used, cross-dataset results, and the gap before deployment.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73763a30df4c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cf10ec748247d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0ef6a7af12487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aeac2f306a44e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08efcbc97449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72b122c6b848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79C53A-681E-4FB3-82A5-6EEF6AB5EE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62A92BB-09BD-48F4-BF78-1493D37DDED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2EC0B0A-2065-43F3-9A86-21E267CC64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9DBC6C-D288-4271-8B15-C022203099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0DD8C9B-8AB5-4205-B585-682621F7D5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1A3F528-F720-4CE9-A8C1-1ED3FC706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1042D7F-154E-4C11-BE45-305B6D9FFA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A968DFF-B491-4DAB-92DD-33CFEA25F6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3D0C2E-4EC0-43D8-8E1A-86C2223A5B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092759-6F99-46CF-9FAB-4D0ECE4949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522bcfaa7f48da" /><Relationship Type="http://schemas.openxmlformats.org/officeDocument/2006/relationships/slideLayout" Target="/ppt/slideLayouts/slideLayout1.xml" Id="R170347cbc1834704" /><Relationship Type="http://schemas.openxmlformats.org/officeDocument/2006/relationships/slideLayout" Target="/ppt/slideLayouts/slideLayout2.xml" Id="R33024e34ee984e7a" /><Relationship Type="http://schemas.openxmlformats.org/officeDocument/2006/relationships/slideLayout" Target="/ppt/slideLayouts/slideLayout3.xml" Id="Rc998a01b28764c40" /><Relationship Type="http://schemas.openxmlformats.org/officeDocument/2006/relationships/slideLayout" Target="/ppt/slideLayouts/slideLayout4.xml" Id="R14cb75d0234c4b73" /><Relationship Type="http://schemas.openxmlformats.org/officeDocument/2006/relationships/slideLayout" Target="/ppt/slideLayouts/slideLayout5.xml" Id="R1afc9aa8b38a4873" /><Relationship Type="http://schemas.openxmlformats.org/officeDocument/2006/relationships/slideLayout" Target="/ppt/slideLayouts/slideLayout6.xml" Id="Reacaf7fdb6b340b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0347cbc1834704"/>
    <p:sldLayoutId xmlns:r="http://schemas.openxmlformats.org/officeDocument/2006/relationships" id="2147483650" r:id="R33024e34ee984e7a"/>
    <p:sldLayoutId xmlns:r="http://schemas.openxmlformats.org/officeDocument/2006/relationships" id="2147483651" r:id="Rc998a01b28764c40"/>
    <p:sldLayoutId xmlns:r="http://schemas.openxmlformats.org/officeDocument/2006/relationships" id="2147483652" r:id="R14cb75d0234c4b73"/>
    <p:sldLayoutId xmlns:r="http://schemas.openxmlformats.org/officeDocument/2006/relationships" id="2147483653" r:id="R1afc9aa8b38a4873"/>
    <p:sldLayoutId xmlns:r="http://schemas.openxmlformats.org/officeDocument/2006/relationships" id="2147483654" r:id="Reacaf7fdb6b340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7356a1550d4d36" /><Relationship Type="http://schemas.openxmlformats.org/officeDocument/2006/relationships/notesSlide" Target="/ppt/notesSlides/notesSlide1.xml" Id="R511e17f4b59f4a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cb840e282443e0" /><Relationship Type="http://schemas.openxmlformats.org/officeDocument/2006/relationships/notesSlide" Target="/ppt/notesSlides/notesSlide2.xml" Id="Rf2341c4dfa0f44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7954945aca414f" /><Relationship Type="http://schemas.openxmlformats.org/officeDocument/2006/relationships/notesSlide" Target="/ppt/notesSlides/notesSlide3.xml" Id="Rcc02c055cb4b48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e3c8b57011466a" /><Relationship Type="http://schemas.openxmlformats.org/officeDocument/2006/relationships/notesSlide" Target="/ppt/notesSlides/notesSlide4.xml" Id="R3cf2cfd2712d46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61416921a74e65" /><Relationship Type="http://schemas.openxmlformats.org/officeDocument/2006/relationships/notesSlide" Target="/ppt/notesSlides/notesSlide5.xml" Id="R694f4aa5bbad4a8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dc15af9ce84397" /><Relationship Type="http://schemas.openxmlformats.org/officeDocument/2006/relationships/notesSlide" Target="/ppt/notesSlides/notesSlide6.xml" Id="Rf074dd75b3cc41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b415c1358845d1" /><Relationship Type="http://schemas.openxmlformats.org/officeDocument/2006/relationships/notesSlide" Target="/ppt/notesSlides/notesSlide7.xml" Id="Rbdbddd44e74c49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6697cc9d044e31" /><Relationship Type="http://schemas.openxmlformats.org/officeDocument/2006/relationships/notesSlide" Target="/ppt/notesSlides/notesSlide8.xml" Id="Re6bd2d8cb2c6487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cf6efcc82b485f" /><Relationship Type="http://schemas.openxmlformats.org/officeDocument/2006/relationships/notesSlide" Target="/ppt/notesSlides/notesSlide9.xml" Id="Rbbedc1c811604c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d7a9394a84eac" /><Relationship Type="http://schemas.openxmlformats.org/officeDocument/2006/relationships/notesSlide" Target="/ppt/notesSlides/notesSlide10.xml" Id="R403ff5343af44ae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3806ec15c447e2" /><Relationship Type="http://schemas.openxmlformats.org/officeDocument/2006/relationships/image" Target="/ppt/media/image.jpeg" Id="R28672e7c59c74744" /><Relationship Type="http://schemas.openxmlformats.org/officeDocument/2006/relationships/notesSlide" Target="/ppt/notesSlides/notesSlide11.xml" Id="R9a2b7cc0c8b3418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eccb900e854ea3" /><Relationship Type="http://schemas.openxmlformats.org/officeDocument/2006/relationships/notesSlide" Target="/ppt/notesSlides/notesSlide12.xml" Id="R40b0b542e92b456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a236aff2654bb9" /><Relationship Type="http://schemas.openxmlformats.org/officeDocument/2006/relationships/notesSlide" Target="/ppt/notesSlides/notesSlide13.xml" Id="R1c4fd76d52574b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c83e42eda048fb" /><Relationship Type="http://schemas.openxmlformats.org/officeDocument/2006/relationships/notesSlide" Target="/ppt/notesSlides/notesSlide14.xml" Id="Rbc9fd375e9094a0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0EE79-2A4A-4F33-B9D2-C6EFABB5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933450"/>
            <a:ext cx="8572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DE5A1D"/>
                </a:solidFill>
              </a:defRPr>
            </a:defPPr>
            <a:lvl1pPr algn="l">
              <a:defRPr sz="1275" b="1">
                <a:solidFill>
                  <a:srgbClr val="DE5A1D"/>
                </a:solidFill>
              </a:defRPr>
            </a:lvl1pPr>
            <a:lvl2pPr algn="l">
              <a:defRPr sz="1275" b="1">
                <a:solidFill>
                  <a:srgbClr val="DE5A1D"/>
                </a:solidFill>
              </a:defRPr>
            </a:lvl2pPr>
            <a:lvl3pPr algn="l">
              <a:defRPr sz="1275" b="1">
                <a:solidFill>
                  <a:srgbClr val="DE5A1D"/>
                </a:solidFill>
              </a:defRPr>
            </a:lvl3pPr>
            <a:lvl4pPr algn="l">
              <a:defRPr sz="1275" b="1">
                <a:solidFill>
                  <a:srgbClr val="DE5A1D"/>
                </a:solidFill>
              </a:defRPr>
            </a:lvl4pPr>
            <a:lvl5pPr algn="l">
              <a:defRPr sz="1275" b="1">
                <a:solidFill>
                  <a:srgbClr val="DE5A1D"/>
                </a:solidFill>
              </a:defRPr>
            </a:lvl5pPr>
            <a:lvl6pPr algn="l">
              <a:defRPr sz="1275" b="1">
                <a:solidFill>
                  <a:srgbClr val="DE5A1D"/>
                </a:solidFill>
              </a:defRPr>
            </a:lvl6pPr>
            <a:lvl7pPr algn="l">
              <a:defRPr sz="1275" b="1">
                <a:solidFill>
                  <a:srgbClr val="DE5A1D"/>
                </a:solidFill>
              </a:defRPr>
            </a:lvl7pPr>
            <a:lvl8pPr algn="l">
              <a:defRPr sz="1275" b="1">
                <a:solidFill>
                  <a:srgbClr val="DE5A1D"/>
                </a:solidFill>
              </a:defRPr>
            </a:lvl8pPr>
            <a:lvl9pPr algn="l">
              <a:defRPr sz="12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DE5A1D"/>
                </a:solidFill>
              </a:defRPr>
            </a:pPr>
            <a:r>
              <a:rPr sz="1275" b="1">
                <a:solidFill>
                  <a:srgbClr val="DE5A1D"/>
                </a:solidFill>
              </a:rPr>
              <a:t>PROJECT PRESENTATION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3E92E-1492-4848-AFA8-27573651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24050"/>
            <a:ext cx="10572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5775" b="1">
                <a:solidFill>
                  <a:srgbClr val="F7F7F5"/>
                </a:solidFill>
              </a:defRPr>
            </a:defPPr>
            <a:lvl1pPr algn="l">
              <a:defRPr sz="5775" b="1">
                <a:solidFill>
                  <a:srgbClr val="F7F7F5"/>
                </a:solidFill>
              </a:defRPr>
            </a:lvl1pPr>
            <a:lvl2pPr algn="l">
              <a:defRPr sz="5775" b="1">
                <a:solidFill>
                  <a:srgbClr val="F7F7F5"/>
                </a:solidFill>
              </a:defRPr>
            </a:lvl2pPr>
            <a:lvl3pPr algn="l">
              <a:defRPr sz="5775" b="1">
                <a:solidFill>
                  <a:srgbClr val="F7F7F5"/>
                </a:solidFill>
              </a:defRPr>
            </a:lvl3pPr>
            <a:lvl4pPr algn="l">
              <a:defRPr sz="5775" b="1">
                <a:solidFill>
                  <a:srgbClr val="F7F7F5"/>
                </a:solidFill>
              </a:defRPr>
            </a:lvl4pPr>
            <a:lvl5pPr algn="l">
              <a:defRPr sz="5775" b="1">
                <a:solidFill>
                  <a:srgbClr val="F7F7F5"/>
                </a:solidFill>
              </a:defRPr>
            </a:lvl5pPr>
            <a:lvl6pPr algn="l">
              <a:defRPr sz="5775" b="1">
                <a:solidFill>
                  <a:srgbClr val="F7F7F5"/>
                </a:solidFill>
              </a:defRPr>
            </a:lvl6pPr>
            <a:lvl7pPr algn="l">
              <a:defRPr sz="5775" b="1">
                <a:solidFill>
                  <a:srgbClr val="F7F7F5"/>
                </a:solidFill>
              </a:defRPr>
            </a:lvl7pPr>
            <a:lvl8pPr algn="l">
              <a:defRPr sz="5775" b="1">
                <a:solidFill>
                  <a:srgbClr val="F7F7F5"/>
                </a:solidFill>
              </a:defRPr>
            </a:lvl8pPr>
            <a:lvl9pPr algn="l">
              <a:defRPr sz="57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5775" b="1">
                <a:solidFill>
                  <a:srgbClr val="F7F7F5"/>
                </a:solidFill>
              </a:defRPr>
            </a:pPr>
            <a:r>
              <a:rPr sz="5775" b="1">
                <a:solidFill>
                  <a:srgbClr val="F7F7F5"/>
                </a:solidFill>
              </a:rPr>
              <a:t>SentinelShield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BEA81D-56AB-487C-93F5-154F5E12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10096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0">
                <a:solidFill>
                  <a:srgbClr val="B6B6B3"/>
                </a:solidFill>
              </a:defRPr>
            </a:defPPr>
            <a:lvl1pPr algn="l">
              <a:defRPr sz="2550" b="0">
                <a:solidFill>
                  <a:srgbClr val="B6B6B3"/>
                </a:solidFill>
              </a:defRPr>
            </a:lvl1pPr>
            <a:lvl2pPr algn="l">
              <a:defRPr sz="2550" b="0">
                <a:solidFill>
                  <a:srgbClr val="B6B6B3"/>
                </a:solidFill>
              </a:defRPr>
            </a:lvl2pPr>
            <a:lvl3pPr algn="l">
              <a:defRPr sz="2550" b="0">
                <a:solidFill>
                  <a:srgbClr val="B6B6B3"/>
                </a:solidFill>
              </a:defRPr>
            </a:lvl3pPr>
            <a:lvl4pPr algn="l">
              <a:defRPr sz="2550" b="0">
                <a:solidFill>
                  <a:srgbClr val="B6B6B3"/>
                </a:solidFill>
              </a:defRPr>
            </a:lvl4pPr>
            <a:lvl5pPr algn="l">
              <a:defRPr sz="2550" b="0">
                <a:solidFill>
                  <a:srgbClr val="B6B6B3"/>
                </a:solidFill>
              </a:defRPr>
            </a:lvl5pPr>
            <a:lvl6pPr algn="l">
              <a:defRPr sz="2550" b="0">
                <a:solidFill>
                  <a:srgbClr val="B6B6B3"/>
                </a:solidFill>
              </a:defRPr>
            </a:lvl6pPr>
            <a:lvl7pPr algn="l">
              <a:defRPr sz="2550" b="0">
                <a:solidFill>
                  <a:srgbClr val="B6B6B3"/>
                </a:solidFill>
              </a:defRPr>
            </a:lvl7pPr>
            <a:lvl8pPr algn="l">
              <a:defRPr sz="2550" b="0">
                <a:solidFill>
                  <a:srgbClr val="B6B6B3"/>
                </a:solidFill>
              </a:defRPr>
            </a:lvl8pPr>
            <a:lvl9pPr algn="l">
              <a:defRPr sz="25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B6B6B3"/>
                </a:solidFill>
              </a:defRPr>
            </a:pPr>
            <a:r>
              <a:rPr sz="2550" b="0">
                <a:solidFill>
                  <a:srgbClr val="B6B6B3"/>
                </a:solidFill>
              </a:rPr>
              <a:t>Adaptive DDoS monitoring prototype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465D6-BAA2-47F2-AEA7-C4DD8ED6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F7F7F5"/>
                </a:solidFill>
              </a:defRPr>
            </a:defPPr>
            <a:lvl1pPr algn="l">
              <a:defRPr sz="1725" b="0">
                <a:solidFill>
                  <a:srgbClr val="F7F7F5"/>
                </a:solidFill>
              </a:defRPr>
            </a:lvl1pPr>
            <a:lvl2pPr algn="l">
              <a:defRPr sz="1725" b="0">
                <a:solidFill>
                  <a:srgbClr val="F7F7F5"/>
                </a:solidFill>
              </a:defRPr>
            </a:lvl2pPr>
            <a:lvl3pPr algn="l">
              <a:defRPr sz="1725" b="0">
                <a:solidFill>
                  <a:srgbClr val="F7F7F5"/>
                </a:solidFill>
              </a:defRPr>
            </a:lvl3pPr>
            <a:lvl4pPr algn="l">
              <a:defRPr sz="1725" b="0">
                <a:solidFill>
                  <a:srgbClr val="F7F7F5"/>
                </a:solidFill>
              </a:defRPr>
            </a:lvl4pPr>
            <a:lvl5pPr algn="l">
              <a:defRPr sz="1725" b="0">
                <a:solidFill>
                  <a:srgbClr val="F7F7F5"/>
                </a:solidFill>
              </a:defRPr>
            </a:lvl5pPr>
            <a:lvl6pPr algn="l">
              <a:defRPr sz="1725" b="0">
                <a:solidFill>
                  <a:srgbClr val="F7F7F5"/>
                </a:solidFill>
              </a:defRPr>
            </a:lvl6pPr>
            <a:lvl7pPr algn="l">
              <a:defRPr sz="1725" b="0">
                <a:solidFill>
                  <a:srgbClr val="F7F7F5"/>
                </a:solidFill>
              </a:defRPr>
            </a:lvl7pPr>
            <a:lvl8pPr algn="l">
              <a:defRPr sz="1725" b="0">
                <a:solidFill>
                  <a:srgbClr val="F7F7F5"/>
                </a:solidFill>
              </a:defRPr>
            </a:lvl8pPr>
            <a:lvl9pPr algn="l">
              <a:defRPr sz="1725" b="0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7F7F5"/>
                </a:solidFill>
              </a:defRPr>
            </a:pPr>
            <a:r>
              <a:rPr sz="1725" b="0">
                <a:solidFill>
                  <a:srgbClr val="F7F7F5"/>
                </a:solidFill>
              </a:rPr>
              <a:t>Architecture, datasets, dashboard and measured results</a:t>
            </a:r>
          </a:p>
        </p:txBody>
      </p:sp>
    </p:spTree>
    <p:extLst>
      <p:ext uri="{BB962C8B-B14F-4D97-AF65-F5344CB8AC3E}">
        <p14:creationId xmlns:p14="http://schemas.microsoft.com/office/powerpoint/2010/main" val="6676099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489AC-D75E-4C12-9801-B4FA96D3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OBJECTIVE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01E40-A8EA-4FA5-8038-66092838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CD56A-CB63-4448-A7CF-56CA88F5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71FFD-933E-4B3B-A2D7-59AC21D7B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1042987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325" b="0">
                <a:solidFill>
                  <a:srgbClr val="F7F7F5"/>
                </a:solidFill>
              </a:defRPr>
            </a:defPPr>
            <a:lvl1pPr algn="l">
              <a:defRPr sz="2325" b="0">
                <a:solidFill>
                  <a:srgbClr val="F7F7F5"/>
                </a:solidFill>
              </a:defRPr>
            </a:lvl1pPr>
            <a:lvl2pPr algn="l">
              <a:defRPr sz="2325" b="0">
                <a:solidFill>
                  <a:srgbClr val="F7F7F5"/>
                </a:solidFill>
              </a:defRPr>
            </a:lvl2pPr>
            <a:lvl3pPr algn="l">
              <a:defRPr sz="2325" b="0">
                <a:solidFill>
                  <a:srgbClr val="F7F7F5"/>
                </a:solidFill>
              </a:defRPr>
            </a:lvl3pPr>
            <a:lvl4pPr algn="l">
              <a:defRPr sz="2325" b="0">
                <a:solidFill>
                  <a:srgbClr val="F7F7F5"/>
                </a:solidFill>
              </a:defRPr>
            </a:lvl4pPr>
            <a:lvl5pPr algn="l">
              <a:defRPr sz="2325" b="0">
                <a:solidFill>
                  <a:srgbClr val="F7F7F5"/>
                </a:solidFill>
              </a:defRPr>
            </a:lvl5pPr>
            <a:lvl6pPr algn="l">
              <a:defRPr sz="2325" b="0">
                <a:solidFill>
                  <a:srgbClr val="F7F7F5"/>
                </a:solidFill>
              </a:defRPr>
            </a:lvl6pPr>
            <a:lvl7pPr algn="l">
              <a:defRPr sz="2325" b="0">
                <a:solidFill>
                  <a:srgbClr val="F7F7F5"/>
                </a:solidFill>
              </a:defRPr>
            </a:lvl7pPr>
            <a:lvl8pPr algn="l">
              <a:defRPr sz="2325" b="0">
                <a:solidFill>
                  <a:srgbClr val="F7F7F5"/>
                </a:solidFill>
              </a:defRPr>
            </a:lvl8pPr>
            <a:lvl9pPr algn="l">
              <a:defRPr sz="2325" b="0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F7F7F5"/>
                </a:solidFill>
              </a:defRPr>
            </a:pPr>
            <a:r>
              <a:rPr sz="2325" b="0">
                <a:solidFill>
                  <a:srgbClr val="F7F7F5"/>
                </a:solidFill>
              </a:rPr>
              <a:t>DDoS traffic can exhaust a service by flooding it with requests or connection attempts.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CEAD48-63C1-4018-987A-6FD54028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90925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DE5A1D"/>
                </a:solidFill>
              </a:defRPr>
            </a:defPPr>
            <a:lvl1pPr algn="l">
              <a:defRPr sz="1650" b="1">
                <a:solidFill>
                  <a:srgbClr val="DE5A1D"/>
                </a:solidFill>
              </a:defRPr>
            </a:lvl1pPr>
            <a:lvl2pPr algn="l">
              <a:defRPr sz="1650" b="1">
                <a:solidFill>
                  <a:srgbClr val="DE5A1D"/>
                </a:solidFill>
              </a:defRPr>
            </a:lvl2pPr>
            <a:lvl3pPr algn="l">
              <a:defRPr sz="1650" b="1">
                <a:solidFill>
                  <a:srgbClr val="DE5A1D"/>
                </a:solidFill>
              </a:defRPr>
            </a:lvl3pPr>
            <a:lvl4pPr algn="l">
              <a:defRPr sz="1650" b="1">
                <a:solidFill>
                  <a:srgbClr val="DE5A1D"/>
                </a:solidFill>
              </a:defRPr>
            </a:lvl4pPr>
            <a:lvl5pPr algn="l">
              <a:defRPr sz="1650" b="1">
                <a:solidFill>
                  <a:srgbClr val="DE5A1D"/>
                </a:solidFill>
              </a:defRPr>
            </a:lvl5pPr>
            <a:lvl6pPr algn="l">
              <a:defRPr sz="1650" b="1">
                <a:solidFill>
                  <a:srgbClr val="DE5A1D"/>
                </a:solidFill>
              </a:defRPr>
            </a:lvl6pPr>
            <a:lvl7pPr algn="l">
              <a:defRPr sz="1650" b="1">
                <a:solidFill>
                  <a:srgbClr val="DE5A1D"/>
                </a:solidFill>
              </a:defRPr>
            </a:lvl7pPr>
            <a:lvl8pPr algn="l">
              <a:defRPr sz="1650" b="1">
                <a:solidFill>
                  <a:srgbClr val="DE5A1D"/>
                </a:solidFill>
              </a:defRPr>
            </a:lvl8pPr>
            <a:lvl9pPr algn="l">
              <a:defRPr sz="165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DE5A1D"/>
                </a:solidFill>
              </a:defRPr>
            </a:pPr>
            <a:r>
              <a:rPr sz="1650" b="1">
                <a:solidFill>
                  <a:srgbClr val="DE5A1D"/>
                </a:solidFill>
              </a:rPr>
              <a:t>The challenge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3E3E44-238C-48AB-AAD7-739F172E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57650"/>
            <a:ext cx="1009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B6B6B3"/>
                </a:solidFill>
              </a:defRPr>
            </a:defPPr>
            <a:lvl1pPr algn="l">
              <a:defRPr sz="2100" b="0">
                <a:solidFill>
                  <a:srgbClr val="B6B6B3"/>
                </a:solidFill>
              </a:defRPr>
            </a:lvl1pPr>
            <a:lvl2pPr algn="l">
              <a:defRPr sz="2100" b="0">
                <a:solidFill>
                  <a:srgbClr val="B6B6B3"/>
                </a:solidFill>
              </a:defRPr>
            </a:lvl2pPr>
            <a:lvl3pPr algn="l">
              <a:defRPr sz="2100" b="0">
                <a:solidFill>
                  <a:srgbClr val="B6B6B3"/>
                </a:solidFill>
              </a:defRPr>
            </a:lvl3pPr>
            <a:lvl4pPr algn="l">
              <a:defRPr sz="2100" b="0">
                <a:solidFill>
                  <a:srgbClr val="B6B6B3"/>
                </a:solidFill>
              </a:defRPr>
            </a:lvl4pPr>
            <a:lvl5pPr algn="l">
              <a:defRPr sz="2100" b="0">
                <a:solidFill>
                  <a:srgbClr val="B6B6B3"/>
                </a:solidFill>
              </a:defRPr>
            </a:lvl5pPr>
            <a:lvl6pPr algn="l">
              <a:defRPr sz="2100" b="0">
                <a:solidFill>
                  <a:srgbClr val="B6B6B3"/>
                </a:solidFill>
              </a:defRPr>
            </a:lvl6pPr>
            <a:lvl7pPr algn="l">
              <a:defRPr sz="2100" b="0">
                <a:solidFill>
                  <a:srgbClr val="B6B6B3"/>
                </a:solidFill>
              </a:defRPr>
            </a:lvl7pPr>
            <a:lvl8pPr algn="l">
              <a:defRPr sz="2100" b="0">
                <a:solidFill>
                  <a:srgbClr val="B6B6B3"/>
                </a:solidFill>
              </a:defRPr>
            </a:lvl8pPr>
            <a:lvl9pPr algn="l">
              <a:defRPr sz="210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B6B6B3"/>
                </a:solidFill>
              </a:defRPr>
            </a:pPr>
            <a:r>
              <a:rPr sz="2100" b="0">
                <a:solidFill>
                  <a:srgbClr val="B6B6B3"/>
                </a:solidFill>
              </a:rPr>
              <a:t>A traffic spike can be legitimate. A high packet rate alone cannot prove an attack.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ACD78-AED5-46F2-A198-B22711BB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292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F7F7F5"/>
                </a:solidFill>
              </a:defRPr>
            </a:defPPr>
            <a:lvl1pPr algn="l">
              <a:defRPr sz="1875" b="1">
                <a:solidFill>
                  <a:srgbClr val="F7F7F5"/>
                </a:solidFill>
              </a:defRPr>
            </a:lvl1pPr>
            <a:lvl2pPr algn="l">
              <a:defRPr sz="1875" b="1">
                <a:solidFill>
                  <a:srgbClr val="F7F7F5"/>
                </a:solidFill>
              </a:defRPr>
            </a:lvl2pPr>
            <a:lvl3pPr algn="l">
              <a:defRPr sz="1875" b="1">
                <a:solidFill>
                  <a:srgbClr val="F7F7F5"/>
                </a:solidFill>
              </a:defRPr>
            </a:lvl3pPr>
            <a:lvl4pPr algn="l">
              <a:defRPr sz="1875" b="1">
                <a:solidFill>
                  <a:srgbClr val="F7F7F5"/>
                </a:solidFill>
              </a:defRPr>
            </a:lvl4pPr>
            <a:lvl5pPr algn="l">
              <a:defRPr sz="1875" b="1">
                <a:solidFill>
                  <a:srgbClr val="F7F7F5"/>
                </a:solidFill>
              </a:defRPr>
            </a:lvl5pPr>
            <a:lvl6pPr algn="l">
              <a:defRPr sz="1875" b="1">
                <a:solidFill>
                  <a:srgbClr val="F7F7F5"/>
                </a:solidFill>
              </a:defRPr>
            </a:lvl6pPr>
            <a:lvl7pPr algn="l">
              <a:defRPr sz="1875" b="1">
                <a:solidFill>
                  <a:srgbClr val="F7F7F5"/>
                </a:solidFill>
              </a:defRPr>
            </a:lvl7pPr>
            <a:lvl8pPr algn="l">
              <a:defRPr sz="1875" b="1">
                <a:solidFill>
                  <a:srgbClr val="F7F7F5"/>
                </a:solidFill>
              </a:defRPr>
            </a:lvl8pPr>
            <a:lvl9pPr algn="l">
              <a:defRPr sz="18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7F7F5"/>
                </a:solidFill>
              </a:defRPr>
            </a:pPr>
            <a:r>
              <a:rPr sz="1875" b="1">
                <a:solidFill>
                  <a:srgbClr val="F7F7F5"/>
                </a:solidFill>
              </a:rPr>
              <a:t>SentinelShield measures short traffic windows and shows the reason behind each alert.</a:t>
            </a:r>
          </a:p>
        </p:txBody>
      </p:sp>
    </p:spTree>
    <p:extLst>
      <p:ext uri="{BB962C8B-B14F-4D97-AF65-F5344CB8AC3E}">
        <p14:creationId xmlns:p14="http://schemas.microsoft.com/office/powerpoint/2010/main" val="10002141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716D6C-4165-4502-BB36-AAFF4CCA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SYSTEM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192938-3F76-4D65-8243-1BA14900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From packets to an alert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24C658-2048-477C-BDDC-3135BDA9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5127F-DB0E-4D21-8C43-C81CF788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2238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450" b="1">
                <a:solidFill>
                  <a:srgbClr val="DE5A1D"/>
                </a:solidFill>
              </a:defRPr>
            </a:defPPr>
            <a:lvl1pPr algn="l">
              <a:defRPr sz="3450" b="1">
                <a:solidFill>
                  <a:srgbClr val="DE5A1D"/>
                </a:solidFill>
              </a:defRPr>
            </a:lvl1pPr>
            <a:lvl2pPr algn="l">
              <a:defRPr sz="3450" b="1">
                <a:solidFill>
                  <a:srgbClr val="DE5A1D"/>
                </a:solidFill>
              </a:defRPr>
            </a:lvl2pPr>
            <a:lvl3pPr algn="l">
              <a:defRPr sz="3450" b="1">
                <a:solidFill>
                  <a:srgbClr val="DE5A1D"/>
                </a:solidFill>
              </a:defRPr>
            </a:lvl3pPr>
            <a:lvl4pPr algn="l">
              <a:defRPr sz="3450" b="1">
                <a:solidFill>
                  <a:srgbClr val="DE5A1D"/>
                </a:solidFill>
              </a:defRPr>
            </a:lvl4pPr>
            <a:lvl5pPr algn="l">
              <a:defRPr sz="3450" b="1">
                <a:solidFill>
                  <a:srgbClr val="DE5A1D"/>
                </a:solidFill>
              </a:defRPr>
            </a:lvl5pPr>
            <a:lvl6pPr algn="l">
              <a:defRPr sz="3450" b="1">
                <a:solidFill>
                  <a:srgbClr val="DE5A1D"/>
                </a:solidFill>
              </a:defRPr>
            </a:lvl6pPr>
            <a:lvl7pPr algn="l">
              <a:defRPr sz="3450" b="1">
                <a:solidFill>
                  <a:srgbClr val="DE5A1D"/>
                </a:solidFill>
              </a:defRPr>
            </a:lvl7pPr>
            <a:lvl8pPr algn="l">
              <a:defRPr sz="3450" b="1">
                <a:solidFill>
                  <a:srgbClr val="DE5A1D"/>
                </a:solidFill>
              </a:defRPr>
            </a:lvl8pPr>
            <a:lvl9pPr algn="l">
              <a:defRPr sz="345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DE5A1D"/>
                </a:solidFill>
              </a:defRPr>
            </a:pPr>
            <a:r>
              <a:rPr sz="3450" b="1">
                <a:solidFill>
                  <a:srgbClr val="DE5A1D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E573B0-AB43-4826-B3CE-465675C1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3372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1">
                <a:solidFill>
                  <a:srgbClr val="F7F7F5"/>
                </a:solidFill>
              </a:defRPr>
            </a:defPPr>
            <a:lvl1pPr algn="l">
              <a:defRPr sz="2175" b="1">
                <a:solidFill>
                  <a:srgbClr val="F7F7F5"/>
                </a:solidFill>
              </a:defRPr>
            </a:lvl1pPr>
            <a:lvl2pPr algn="l">
              <a:defRPr sz="2175" b="1">
                <a:solidFill>
                  <a:srgbClr val="F7F7F5"/>
                </a:solidFill>
              </a:defRPr>
            </a:lvl2pPr>
            <a:lvl3pPr algn="l">
              <a:defRPr sz="2175" b="1">
                <a:solidFill>
                  <a:srgbClr val="F7F7F5"/>
                </a:solidFill>
              </a:defRPr>
            </a:lvl3pPr>
            <a:lvl4pPr algn="l">
              <a:defRPr sz="2175" b="1">
                <a:solidFill>
                  <a:srgbClr val="F7F7F5"/>
                </a:solidFill>
              </a:defRPr>
            </a:lvl4pPr>
            <a:lvl5pPr algn="l">
              <a:defRPr sz="2175" b="1">
                <a:solidFill>
                  <a:srgbClr val="F7F7F5"/>
                </a:solidFill>
              </a:defRPr>
            </a:lvl5pPr>
            <a:lvl6pPr algn="l">
              <a:defRPr sz="2175" b="1">
                <a:solidFill>
                  <a:srgbClr val="F7F7F5"/>
                </a:solidFill>
              </a:defRPr>
            </a:lvl6pPr>
            <a:lvl7pPr algn="l">
              <a:defRPr sz="2175" b="1">
                <a:solidFill>
                  <a:srgbClr val="F7F7F5"/>
                </a:solidFill>
              </a:defRPr>
            </a:lvl7pPr>
            <a:lvl8pPr algn="l">
              <a:defRPr sz="2175" b="1">
                <a:solidFill>
                  <a:srgbClr val="F7F7F5"/>
                </a:solidFill>
              </a:defRPr>
            </a:lvl8pPr>
            <a:lvl9pPr algn="l">
              <a:defRPr sz="21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7F7F5"/>
                </a:solidFill>
              </a:defRPr>
            </a:pPr>
            <a:r>
              <a:rPr sz="2175" b="1">
                <a:solidFill>
                  <a:srgbClr val="F7F7F5"/>
                </a:solidFill>
              </a:rPr>
              <a:t>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33E8E1-68D2-4719-A4B6-ED4341C3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10000"/>
            <a:ext cx="23336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B6B6B3"/>
                </a:solidFill>
              </a:defRPr>
            </a:defPPr>
            <a:lvl1pPr algn="l">
              <a:defRPr sz="1725" b="0">
                <a:solidFill>
                  <a:srgbClr val="B6B6B3"/>
                </a:solidFill>
              </a:defRPr>
            </a:lvl1pPr>
            <a:lvl2pPr algn="l">
              <a:defRPr sz="1725" b="0">
                <a:solidFill>
                  <a:srgbClr val="B6B6B3"/>
                </a:solidFill>
              </a:defRPr>
            </a:lvl2pPr>
            <a:lvl3pPr algn="l">
              <a:defRPr sz="1725" b="0">
                <a:solidFill>
                  <a:srgbClr val="B6B6B3"/>
                </a:solidFill>
              </a:defRPr>
            </a:lvl3pPr>
            <a:lvl4pPr algn="l">
              <a:defRPr sz="1725" b="0">
                <a:solidFill>
                  <a:srgbClr val="B6B6B3"/>
                </a:solidFill>
              </a:defRPr>
            </a:lvl4pPr>
            <a:lvl5pPr algn="l">
              <a:defRPr sz="1725" b="0">
                <a:solidFill>
                  <a:srgbClr val="B6B6B3"/>
                </a:solidFill>
              </a:defRPr>
            </a:lvl5pPr>
            <a:lvl6pPr algn="l">
              <a:defRPr sz="1725" b="0">
                <a:solidFill>
                  <a:srgbClr val="B6B6B3"/>
                </a:solidFill>
              </a:defRPr>
            </a:lvl6pPr>
            <a:lvl7pPr algn="l">
              <a:defRPr sz="1725" b="0">
                <a:solidFill>
                  <a:srgbClr val="B6B6B3"/>
                </a:solidFill>
              </a:defRPr>
            </a:lvl7pPr>
            <a:lvl8pPr algn="l">
              <a:defRPr sz="1725" b="0">
                <a:solidFill>
                  <a:srgbClr val="B6B6B3"/>
                </a:solidFill>
              </a:defRPr>
            </a:lvl8pPr>
            <a:lvl9pPr algn="l">
              <a:defRPr sz="172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6B6B3"/>
                </a:solidFill>
              </a:defRPr>
            </a:pPr>
            <a:r>
              <a:rPr sz="1725" b="0">
                <a:solidFill>
                  <a:srgbClr val="B6B6B3"/>
                </a:solidFill>
              </a:rPr>
              <a:t>Synthetic demo, authorized file or opt-in live capture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30418-0410-4C47-BA7A-162F7C78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76450"/>
            <a:ext cx="2238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450" b="1">
                <a:solidFill>
                  <a:srgbClr val="DE5A1D"/>
                </a:solidFill>
              </a:defRPr>
            </a:defPPr>
            <a:lvl1pPr algn="l">
              <a:defRPr sz="3450" b="1">
                <a:solidFill>
                  <a:srgbClr val="DE5A1D"/>
                </a:solidFill>
              </a:defRPr>
            </a:lvl1pPr>
            <a:lvl2pPr algn="l">
              <a:defRPr sz="3450" b="1">
                <a:solidFill>
                  <a:srgbClr val="DE5A1D"/>
                </a:solidFill>
              </a:defRPr>
            </a:lvl2pPr>
            <a:lvl3pPr algn="l">
              <a:defRPr sz="3450" b="1">
                <a:solidFill>
                  <a:srgbClr val="DE5A1D"/>
                </a:solidFill>
              </a:defRPr>
            </a:lvl3pPr>
            <a:lvl4pPr algn="l">
              <a:defRPr sz="3450" b="1">
                <a:solidFill>
                  <a:srgbClr val="DE5A1D"/>
                </a:solidFill>
              </a:defRPr>
            </a:lvl4pPr>
            <a:lvl5pPr algn="l">
              <a:defRPr sz="3450" b="1">
                <a:solidFill>
                  <a:srgbClr val="DE5A1D"/>
                </a:solidFill>
              </a:defRPr>
            </a:lvl5pPr>
            <a:lvl6pPr algn="l">
              <a:defRPr sz="3450" b="1">
                <a:solidFill>
                  <a:srgbClr val="DE5A1D"/>
                </a:solidFill>
              </a:defRPr>
            </a:lvl6pPr>
            <a:lvl7pPr algn="l">
              <a:defRPr sz="3450" b="1">
                <a:solidFill>
                  <a:srgbClr val="DE5A1D"/>
                </a:solidFill>
              </a:defRPr>
            </a:lvl7pPr>
            <a:lvl8pPr algn="l">
              <a:defRPr sz="3450" b="1">
                <a:solidFill>
                  <a:srgbClr val="DE5A1D"/>
                </a:solidFill>
              </a:defRPr>
            </a:lvl8pPr>
            <a:lvl9pPr algn="l">
              <a:defRPr sz="345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DE5A1D"/>
                </a:solidFill>
              </a:defRPr>
            </a:pPr>
            <a:r>
              <a:rPr sz="3450" b="1">
                <a:solidFill>
                  <a:srgbClr val="DE5A1D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1E2FA-D42D-47D4-B0CB-D2D6CA93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3372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1">
                <a:solidFill>
                  <a:srgbClr val="F7F7F5"/>
                </a:solidFill>
              </a:defRPr>
            </a:defPPr>
            <a:lvl1pPr algn="l">
              <a:defRPr sz="2175" b="1">
                <a:solidFill>
                  <a:srgbClr val="F7F7F5"/>
                </a:solidFill>
              </a:defRPr>
            </a:lvl1pPr>
            <a:lvl2pPr algn="l">
              <a:defRPr sz="2175" b="1">
                <a:solidFill>
                  <a:srgbClr val="F7F7F5"/>
                </a:solidFill>
              </a:defRPr>
            </a:lvl2pPr>
            <a:lvl3pPr algn="l">
              <a:defRPr sz="2175" b="1">
                <a:solidFill>
                  <a:srgbClr val="F7F7F5"/>
                </a:solidFill>
              </a:defRPr>
            </a:lvl3pPr>
            <a:lvl4pPr algn="l">
              <a:defRPr sz="2175" b="1">
                <a:solidFill>
                  <a:srgbClr val="F7F7F5"/>
                </a:solidFill>
              </a:defRPr>
            </a:lvl4pPr>
            <a:lvl5pPr algn="l">
              <a:defRPr sz="2175" b="1">
                <a:solidFill>
                  <a:srgbClr val="F7F7F5"/>
                </a:solidFill>
              </a:defRPr>
            </a:lvl5pPr>
            <a:lvl6pPr algn="l">
              <a:defRPr sz="2175" b="1">
                <a:solidFill>
                  <a:srgbClr val="F7F7F5"/>
                </a:solidFill>
              </a:defRPr>
            </a:lvl6pPr>
            <a:lvl7pPr algn="l">
              <a:defRPr sz="2175" b="1">
                <a:solidFill>
                  <a:srgbClr val="F7F7F5"/>
                </a:solidFill>
              </a:defRPr>
            </a:lvl7pPr>
            <a:lvl8pPr algn="l">
              <a:defRPr sz="2175" b="1">
                <a:solidFill>
                  <a:srgbClr val="F7F7F5"/>
                </a:solidFill>
              </a:defRPr>
            </a:lvl8pPr>
            <a:lvl9pPr algn="l">
              <a:defRPr sz="21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7F7F5"/>
                </a:solidFill>
              </a:defRPr>
            </a:pPr>
            <a:r>
              <a:rPr sz="2175" b="1">
                <a:solidFill>
                  <a:srgbClr val="F7F7F5"/>
                </a:solidFill>
              </a:rPr>
              <a:t>Window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B2EEC5-445B-4CD5-AEBA-98DA27A30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810000"/>
            <a:ext cx="23336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B6B6B3"/>
                </a:solidFill>
              </a:defRPr>
            </a:defPPr>
            <a:lvl1pPr algn="l">
              <a:defRPr sz="1725" b="0">
                <a:solidFill>
                  <a:srgbClr val="B6B6B3"/>
                </a:solidFill>
              </a:defRPr>
            </a:lvl1pPr>
            <a:lvl2pPr algn="l">
              <a:defRPr sz="1725" b="0">
                <a:solidFill>
                  <a:srgbClr val="B6B6B3"/>
                </a:solidFill>
              </a:defRPr>
            </a:lvl2pPr>
            <a:lvl3pPr algn="l">
              <a:defRPr sz="1725" b="0">
                <a:solidFill>
                  <a:srgbClr val="B6B6B3"/>
                </a:solidFill>
              </a:defRPr>
            </a:lvl3pPr>
            <a:lvl4pPr algn="l">
              <a:defRPr sz="1725" b="0">
                <a:solidFill>
                  <a:srgbClr val="B6B6B3"/>
                </a:solidFill>
              </a:defRPr>
            </a:lvl4pPr>
            <a:lvl5pPr algn="l">
              <a:defRPr sz="1725" b="0">
                <a:solidFill>
                  <a:srgbClr val="B6B6B3"/>
                </a:solidFill>
              </a:defRPr>
            </a:lvl5pPr>
            <a:lvl6pPr algn="l">
              <a:defRPr sz="1725" b="0">
                <a:solidFill>
                  <a:srgbClr val="B6B6B3"/>
                </a:solidFill>
              </a:defRPr>
            </a:lvl6pPr>
            <a:lvl7pPr algn="l">
              <a:defRPr sz="1725" b="0">
                <a:solidFill>
                  <a:srgbClr val="B6B6B3"/>
                </a:solidFill>
              </a:defRPr>
            </a:lvl7pPr>
            <a:lvl8pPr algn="l">
              <a:defRPr sz="1725" b="0">
                <a:solidFill>
                  <a:srgbClr val="B6B6B3"/>
                </a:solidFill>
              </a:defRPr>
            </a:lvl8pPr>
            <a:lvl9pPr algn="l">
              <a:defRPr sz="172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6B6B3"/>
                </a:solidFill>
              </a:defRPr>
            </a:pPr>
            <a:r>
              <a:rPr sz="1725" b="0">
                <a:solidFill>
                  <a:srgbClr val="B6B6B3"/>
                </a:solidFill>
              </a:rPr>
              <a:t>Packet metadata grouped into five-second windows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F468D-90A3-49C8-B8A9-F5690047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76450"/>
            <a:ext cx="2238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450" b="1">
                <a:solidFill>
                  <a:srgbClr val="DE5A1D"/>
                </a:solidFill>
              </a:defRPr>
            </a:defPPr>
            <a:lvl1pPr algn="l">
              <a:defRPr sz="3450" b="1">
                <a:solidFill>
                  <a:srgbClr val="DE5A1D"/>
                </a:solidFill>
              </a:defRPr>
            </a:lvl1pPr>
            <a:lvl2pPr algn="l">
              <a:defRPr sz="3450" b="1">
                <a:solidFill>
                  <a:srgbClr val="DE5A1D"/>
                </a:solidFill>
              </a:defRPr>
            </a:lvl2pPr>
            <a:lvl3pPr algn="l">
              <a:defRPr sz="3450" b="1">
                <a:solidFill>
                  <a:srgbClr val="DE5A1D"/>
                </a:solidFill>
              </a:defRPr>
            </a:lvl3pPr>
            <a:lvl4pPr algn="l">
              <a:defRPr sz="3450" b="1">
                <a:solidFill>
                  <a:srgbClr val="DE5A1D"/>
                </a:solidFill>
              </a:defRPr>
            </a:lvl4pPr>
            <a:lvl5pPr algn="l">
              <a:defRPr sz="3450" b="1">
                <a:solidFill>
                  <a:srgbClr val="DE5A1D"/>
                </a:solidFill>
              </a:defRPr>
            </a:lvl5pPr>
            <a:lvl6pPr algn="l">
              <a:defRPr sz="3450" b="1">
                <a:solidFill>
                  <a:srgbClr val="DE5A1D"/>
                </a:solidFill>
              </a:defRPr>
            </a:lvl6pPr>
            <a:lvl7pPr algn="l">
              <a:defRPr sz="3450" b="1">
                <a:solidFill>
                  <a:srgbClr val="DE5A1D"/>
                </a:solidFill>
              </a:defRPr>
            </a:lvl7pPr>
            <a:lvl8pPr algn="l">
              <a:defRPr sz="3450" b="1">
                <a:solidFill>
                  <a:srgbClr val="DE5A1D"/>
                </a:solidFill>
              </a:defRPr>
            </a:lvl8pPr>
            <a:lvl9pPr algn="l">
              <a:defRPr sz="345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DE5A1D"/>
                </a:solidFill>
              </a:defRPr>
            </a:pPr>
            <a:r>
              <a:rPr sz="3450" b="1">
                <a:solidFill>
                  <a:srgbClr val="DE5A1D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E567B-562B-473F-99C4-FF9416E1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3372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1">
                <a:solidFill>
                  <a:srgbClr val="F7F7F5"/>
                </a:solidFill>
              </a:defRPr>
            </a:defPPr>
            <a:lvl1pPr algn="l">
              <a:defRPr sz="2175" b="1">
                <a:solidFill>
                  <a:srgbClr val="F7F7F5"/>
                </a:solidFill>
              </a:defRPr>
            </a:lvl1pPr>
            <a:lvl2pPr algn="l">
              <a:defRPr sz="2175" b="1">
                <a:solidFill>
                  <a:srgbClr val="F7F7F5"/>
                </a:solidFill>
              </a:defRPr>
            </a:lvl2pPr>
            <a:lvl3pPr algn="l">
              <a:defRPr sz="2175" b="1">
                <a:solidFill>
                  <a:srgbClr val="F7F7F5"/>
                </a:solidFill>
              </a:defRPr>
            </a:lvl3pPr>
            <a:lvl4pPr algn="l">
              <a:defRPr sz="2175" b="1">
                <a:solidFill>
                  <a:srgbClr val="F7F7F5"/>
                </a:solidFill>
              </a:defRPr>
            </a:lvl4pPr>
            <a:lvl5pPr algn="l">
              <a:defRPr sz="2175" b="1">
                <a:solidFill>
                  <a:srgbClr val="F7F7F5"/>
                </a:solidFill>
              </a:defRPr>
            </a:lvl5pPr>
            <a:lvl6pPr algn="l">
              <a:defRPr sz="2175" b="1">
                <a:solidFill>
                  <a:srgbClr val="F7F7F5"/>
                </a:solidFill>
              </a:defRPr>
            </a:lvl6pPr>
            <a:lvl7pPr algn="l">
              <a:defRPr sz="2175" b="1">
                <a:solidFill>
                  <a:srgbClr val="F7F7F5"/>
                </a:solidFill>
              </a:defRPr>
            </a:lvl7pPr>
            <a:lvl8pPr algn="l">
              <a:defRPr sz="2175" b="1">
                <a:solidFill>
                  <a:srgbClr val="F7F7F5"/>
                </a:solidFill>
              </a:defRPr>
            </a:lvl8pPr>
            <a:lvl9pPr algn="l">
              <a:defRPr sz="21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7F7F5"/>
                </a:solidFill>
              </a:defRPr>
            </a:pPr>
            <a:r>
              <a:rPr sz="2175" b="1">
                <a:solidFill>
                  <a:srgbClr val="F7F7F5"/>
                </a:solidFill>
              </a:rPr>
              <a:t>Rule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74CD08-85D1-43F3-8AB2-E9A784A3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810000"/>
            <a:ext cx="23336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B6B6B3"/>
                </a:solidFill>
              </a:defRPr>
            </a:defPPr>
            <a:lvl1pPr algn="l">
              <a:defRPr sz="1725" b="0">
                <a:solidFill>
                  <a:srgbClr val="B6B6B3"/>
                </a:solidFill>
              </a:defRPr>
            </a:lvl1pPr>
            <a:lvl2pPr algn="l">
              <a:defRPr sz="1725" b="0">
                <a:solidFill>
                  <a:srgbClr val="B6B6B3"/>
                </a:solidFill>
              </a:defRPr>
            </a:lvl2pPr>
            <a:lvl3pPr algn="l">
              <a:defRPr sz="1725" b="0">
                <a:solidFill>
                  <a:srgbClr val="B6B6B3"/>
                </a:solidFill>
              </a:defRPr>
            </a:lvl3pPr>
            <a:lvl4pPr algn="l">
              <a:defRPr sz="1725" b="0">
                <a:solidFill>
                  <a:srgbClr val="B6B6B3"/>
                </a:solidFill>
              </a:defRPr>
            </a:lvl4pPr>
            <a:lvl5pPr algn="l">
              <a:defRPr sz="1725" b="0">
                <a:solidFill>
                  <a:srgbClr val="B6B6B3"/>
                </a:solidFill>
              </a:defRPr>
            </a:lvl5pPr>
            <a:lvl6pPr algn="l">
              <a:defRPr sz="1725" b="0">
                <a:solidFill>
                  <a:srgbClr val="B6B6B3"/>
                </a:solidFill>
              </a:defRPr>
            </a:lvl6pPr>
            <a:lvl7pPr algn="l">
              <a:defRPr sz="1725" b="0">
                <a:solidFill>
                  <a:srgbClr val="B6B6B3"/>
                </a:solidFill>
              </a:defRPr>
            </a:lvl7pPr>
            <a:lvl8pPr algn="l">
              <a:defRPr sz="1725" b="0">
                <a:solidFill>
                  <a:srgbClr val="B6B6B3"/>
                </a:solidFill>
              </a:defRPr>
            </a:lvl8pPr>
            <a:lvl9pPr algn="l">
              <a:defRPr sz="172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6B6B3"/>
                </a:solidFill>
              </a:defRPr>
            </a:pPr>
            <a:r>
              <a:rPr sz="1725" b="0">
                <a:solidFill>
                  <a:srgbClr val="B6B6B3"/>
                </a:solidFill>
              </a:rPr>
              <a:t>Adaptive packet-rate and TCP SYN signals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A9ABCE-405A-47BB-9EBB-60113959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076450"/>
            <a:ext cx="2238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450" b="1">
                <a:solidFill>
                  <a:srgbClr val="DE5A1D"/>
                </a:solidFill>
              </a:defRPr>
            </a:defPPr>
            <a:lvl1pPr algn="l">
              <a:defRPr sz="3450" b="1">
                <a:solidFill>
                  <a:srgbClr val="DE5A1D"/>
                </a:solidFill>
              </a:defRPr>
            </a:lvl1pPr>
            <a:lvl2pPr algn="l">
              <a:defRPr sz="3450" b="1">
                <a:solidFill>
                  <a:srgbClr val="DE5A1D"/>
                </a:solidFill>
              </a:defRPr>
            </a:lvl2pPr>
            <a:lvl3pPr algn="l">
              <a:defRPr sz="3450" b="1">
                <a:solidFill>
                  <a:srgbClr val="DE5A1D"/>
                </a:solidFill>
              </a:defRPr>
            </a:lvl3pPr>
            <a:lvl4pPr algn="l">
              <a:defRPr sz="3450" b="1">
                <a:solidFill>
                  <a:srgbClr val="DE5A1D"/>
                </a:solidFill>
              </a:defRPr>
            </a:lvl4pPr>
            <a:lvl5pPr algn="l">
              <a:defRPr sz="3450" b="1">
                <a:solidFill>
                  <a:srgbClr val="DE5A1D"/>
                </a:solidFill>
              </a:defRPr>
            </a:lvl5pPr>
            <a:lvl6pPr algn="l">
              <a:defRPr sz="3450" b="1">
                <a:solidFill>
                  <a:srgbClr val="DE5A1D"/>
                </a:solidFill>
              </a:defRPr>
            </a:lvl6pPr>
            <a:lvl7pPr algn="l">
              <a:defRPr sz="3450" b="1">
                <a:solidFill>
                  <a:srgbClr val="DE5A1D"/>
                </a:solidFill>
              </a:defRPr>
            </a:lvl7pPr>
            <a:lvl8pPr algn="l">
              <a:defRPr sz="3450" b="1">
                <a:solidFill>
                  <a:srgbClr val="DE5A1D"/>
                </a:solidFill>
              </a:defRPr>
            </a:lvl8pPr>
            <a:lvl9pPr algn="l">
              <a:defRPr sz="345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DE5A1D"/>
                </a:solidFill>
              </a:defRPr>
            </a:pPr>
            <a:r>
              <a:rPr sz="3450" b="1">
                <a:solidFill>
                  <a:srgbClr val="DE5A1D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5EC316-7788-4243-986B-F4C6C3C0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3372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1">
                <a:solidFill>
                  <a:srgbClr val="F7F7F5"/>
                </a:solidFill>
              </a:defRPr>
            </a:defPPr>
            <a:lvl1pPr algn="l">
              <a:defRPr sz="2175" b="1">
                <a:solidFill>
                  <a:srgbClr val="F7F7F5"/>
                </a:solidFill>
              </a:defRPr>
            </a:lvl1pPr>
            <a:lvl2pPr algn="l">
              <a:defRPr sz="2175" b="1">
                <a:solidFill>
                  <a:srgbClr val="F7F7F5"/>
                </a:solidFill>
              </a:defRPr>
            </a:lvl2pPr>
            <a:lvl3pPr algn="l">
              <a:defRPr sz="2175" b="1">
                <a:solidFill>
                  <a:srgbClr val="F7F7F5"/>
                </a:solidFill>
              </a:defRPr>
            </a:lvl3pPr>
            <a:lvl4pPr algn="l">
              <a:defRPr sz="2175" b="1">
                <a:solidFill>
                  <a:srgbClr val="F7F7F5"/>
                </a:solidFill>
              </a:defRPr>
            </a:lvl4pPr>
            <a:lvl5pPr algn="l">
              <a:defRPr sz="2175" b="1">
                <a:solidFill>
                  <a:srgbClr val="F7F7F5"/>
                </a:solidFill>
              </a:defRPr>
            </a:lvl5pPr>
            <a:lvl6pPr algn="l">
              <a:defRPr sz="2175" b="1">
                <a:solidFill>
                  <a:srgbClr val="F7F7F5"/>
                </a:solidFill>
              </a:defRPr>
            </a:lvl6pPr>
            <a:lvl7pPr algn="l">
              <a:defRPr sz="2175" b="1">
                <a:solidFill>
                  <a:srgbClr val="F7F7F5"/>
                </a:solidFill>
              </a:defRPr>
            </a:lvl7pPr>
            <a:lvl8pPr algn="l">
              <a:defRPr sz="2175" b="1">
                <a:solidFill>
                  <a:srgbClr val="F7F7F5"/>
                </a:solidFill>
              </a:defRPr>
            </a:lvl8pPr>
            <a:lvl9pPr algn="l">
              <a:defRPr sz="21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7F7F5"/>
                </a:solidFill>
              </a:defRPr>
            </a:pPr>
            <a:r>
              <a:rPr sz="2175" b="1">
                <a:solidFill>
                  <a:srgbClr val="F7F7F5"/>
                </a:solidFill>
              </a:rPr>
              <a:t>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76AA93-82FC-48BB-AA5C-85E6E7E3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810000"/>
            <a:ext cx="233362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B6B6B3"/>
                </a:solidFill>
              </a:defRPr>
            </a:defPPr>
            <a:lvl1pPr algn="l">
              <a:defRPr sz="1725" b="0">
                <a:solidFill>
                  <a:srgbClr val="B6B6B3"/>
                </a:solidFill>
              </a:defRPr>
            </a:lvl1pPr>
            <a:lvl2pPr algn="l">
              <a:defRPr sz="1725" b="0">
                <a:solidFill>
                  <a:srgbClr val="B6B6B3"/>
                </a:solidFill>
              </a:defRPr>
            </a:lvl2pPr>
            <a:lvl3pPr algn="l">
              <a:defRPr sz="1725" b="0">
                <a:solidFill>
                  <a:srgbClr val="B6B6B3"/>
                </a:solidFill>
              </a:defRPr>
            </a:lvl3pPr>
            <a:lvl4pPr algn="l">
              <a:defRPr sz="1725" b="0">
                <a:solidFill>
                  <a:srgbClr val="B6B6B3"/>
                </a:solidFill>
              </a:defRPr>
            </a:lvl4pPr>
            <a:lvl5pPr algn="l">
              <a:defRPr sz="1725" b="0">
                <a:solidFill>
                  <a:srgbClr val="B6B6B3"/>
                </a:solidFill>
              </a:defRPr>
            </a:lvl5pPr>
            <a:lvl6pPr algn="l">
              <a:defRPr sz="1725" b="0">
                <a:solidFill>
                  <a:srgbClr val="B6B6B3"/>
                </a:solidFill>
              </a:defRPr>
            </a:lvl6pPr>
            <a:lvl7pPr algn="l">
              <a:defRPr sz="1725" b="0">
                <a:solidFill>
                  <a:srgbClr val="B6B6B3"/>
                </a:solidFill>
              </a:defRPr>
            </a:lvl7pPr>
            <a:lvl8pPr algn="l">
              <a:defRPr sz="1725" b="0">
                <a:solidFill>
                  <a:srgbClr val="B6B6B3"/>
                </a:solidFill>
              </a:defRPr>
            </a:lvl8pPr>
            <a:lvl9pPr algn="l">
              <a:defRPr sz="172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6B6B3"/>
                </a:solidFill>
              </a:defRPr>
            </a:pPr>
            <a:r>
              <a:rPr sz="1725" b="0">
                <a:solidFill>
                  <a:srgbClr val="B6B6B3"/>
                </a:solidFill>
              </a:rPr>
              <a:t>Charts, reasons and SQLite aggregate alerts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98935E-7BF1-47FB-881F-F3F40374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76925"/>
            <a:ext cx="1009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F7F7F5"/>
                </a:solidFill>
              </a:defRPr>
            </a:defPPr>
            <a:lvl1pPr algn="l">
              <a:defRPr sz="1650" b="1">
                <a:solidFill>
                  <a:srgbClr val="F7F7F5"/>
                </a:solidFill>
              </a:defRPr>
            </a:lvl1pPr>
            <a:lvl2pPr algn="l">
              <a:defRPr sz="1650" b="1">
                <a:solidFill>
                  <a:srgbClr val="F7F7F5"/>
                </a:solidFill>
              </a:defRPr>
            </a:lvl2pPr>
            <a:lvl3pPr algn="l">
              <a:defRPr sz="1650" b="1">
                <a:solidFill>
                  <a:srgbClr val="F7F7F5"/>
                </a:solidFill>
              </a:defRPr>
            </a:lvl3pPr>
            <a:lvl4pPr algn="l">
              <a:defRPr sz="1650" b="1">
                <a:solidFill>
                  <a:srgbClr val="F7F7F5"/>
                </a:solidFill>
              </a:defRPr>
            </a:lvl4pPr>
            <a:lvl5pPr algn="l">
              <a:defRPr sz="1650" b="1">
                <a:solidFill>
                  <a:srgbClr val="F7F7F5"/>
                </a:solidFill>
              </a:defRPr>
            </a:lvl5pPr>
            <a:lvl6pPr algn="l">
              <a:defRPr sz="1650" b="1">
                <a:solidFill>
                  <a:srgbClr val="F7F7F5"/>
                </a:solidFill>
              </a:defRPr>
            </a:lvl6pPr>
            <a:lvl7pPr algn="l">
              <a:defRPr sz="1650" b="1">
                <a:solidFill>
                  <a:srgbClr val="F7F7F5"/>
                </a:solidFill>
              </a:defRPr>
            </a:lvl7pPr>
            <a:lvl8pPr algn="l">
              <a:defRPr sz="1650" b="1">
                <a:solidFill>
                  <a:srgbClr val="F7F7F5"/>
                </a:solidFill>
              </a:defRPr>
            </a:lvl8pPr>
            <a:lvl9pPr algn="l">
              <a:defRPr sz="16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7F7F5"/>
                </a:solidFill>
              </a:defRPr>
            </a:pPr>
            <a:r>
              <a:rPr sz="1650" b="1">
                <a:solidFill>
                  <a:srgbClr val="F7F7F5"/>
                </a:solidFill>
              </a:rPr>
              <a:t>Temporary blocks are simulated; no firewall rule changes.</a:t>
            </a:r>
          </a:p>
        </p:txBody>
      </p:sp>
    </p:spTree>
    <p:extLst>
      <p:ext uri="{BB962C8B-B14F-4D97-AF65-F5344CB8AC3E}">
        <p14:creationId xmlns:p14="http://schemas.microsoft.com/office/powerpoint/2010/main" val="21431843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6AF20F-4CB7-49CD-84EC-BF6D6DD4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FEATURE EXTRACTION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A1CAB2-B754-4FB2-B607-10786B2B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What a five-second window contains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40954-267C-45F4-A88F-21A9371B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27A88-9AFE-4B51-A837-0B2F1C1A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57375"/>
            <a:ext cx="10191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F7F7F5"/>
                </a:solidFill>
              </a:defRPr>
            </a:defPPr>
            <a:lvl1pPr algn="l">
              <a:defRPr sz="2250" b="0">
                <a:solidFill>
                  <a:srgbClr val="F7F7F5"/>
                </a:solidFill>
              </a:defRPr>
            </a:lvl1pPr>
            <a:lvl2pPr algn="l">
              <a:defRPr sz="2250" b="0">
                <a:solidFill>
                  <a:srgbClr val="F7F7F5"/>
                </a:solidFill>
              </a:defRPr>
            </a:lvl2pPr>
            <a:lvl3pPr algn="l">
              <a:defRPr sz="2250" b="0">
                <a:solidFill>
                  <a:srgbClr val="F7F7F5"/>
                </a:solidFill>
              </a:defRPr>
            </a:lvl3pPr>
            <a:lvl4pPr algn="l">
              <a:defRPr sz="2250" b="0">
                <a:solidFill>
                  <a:srgbClr val="F7F7F5"/>
                </a:solidFill>
              </a:defRPr>
            </a:lvl4pPr>
            <a:lvl5pPr algn="l">
              <a:defRPr sz="2250" b="0">
                <a:solidFill>
                  <a:srgbClr val="F7F7F5"/>
                </a:solidFill>
              </a:defRPr>
            </a:lvl5pPr>
            <a:lvl6pPr algn="l">
              <a:defRPr sz="2250" b="0">
                <a:solidFill>
                  <a:srgbClr val="F7F7F5"/>
                </a:solidFill>
              </a:defRPr>
            </a:lvl6pPr>
            <a:lvl7pPr algn="l">
              <a:defRPr sz="2250" b="0">
                <a:solidFill>
                  <a:srgbClr val="F7F7F5"/>
                </a:solidFill>
              </a:defRPr>
            </a:lvl7pPr>
            <a:lvl8pPr algn="l">
              <a:defRPr sz="2250" b="0">
                <a:solidFill>
                  <a:srgbClr val="F7F7F5"/>
                </a:solidFill>
              </a:defRPr>
            </a:lvl8pPr>
            <a:lvl9pPr algn="l">
              <a:defRPr sz="2250" b="0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F7F7F5"/>
                </a:solidFill>
              </a:defRPr>
            </a:pPr>
            <a:r>
              <a:rPr sz="2250" b="0">
                <a:solidFill>
                  <a:srgbClr val="F7F7F5"/>
                </a:solidFill>
              </a:rPr>
              <a:t>21 numeric features summarize each window without using packet payloads.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D4247-C8E6-4F0F-9EE5-9497A846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0177A-AA56-4ACC-9D2A-85EC230E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9146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Traffic volume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D39E6-112A-442C-A79C-36382733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33700"/>
            <a:ext cx="6810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B6B6B3"/>
                </a:solidFill>
              </a:defRPr>
            </a:defPPr>
            <a:lvl1pPr algn="l">
              <a:defRPr sz="1650" b="0">
                <a:solidFill>
                  <a:srgbClr val="B6B6B3"/>
                </a:solidFill>
              </a:defRPr>
            </a:lvl1pPr>
            <a:lvl2pPr algn="l">
              <a:defRPr sz="1650" b="0">
                <a:solidFill>
                  <a:srgbClr val="B6B6B3"/>
                </a:solidFill>
              </a:defRPr>
            </a:lvl2pPr>
            <a:lvl3pPr algn="l">
              <a:defRPr sz="1650" b="0">
                <a:solidFill>
                  <a:srgbClr val="B6B6B3"/>
                </a:solidFill>
              </a:defRPr>
            </a:lvl3pPr>
            <a:lvl4pPr algn="l">
              <a:defRPr sz="1650" b="0">
                <a:solidFill>
                  <a:srgbClr val="B6B6B3"/>
                </a:solidFill>
              </a:defRPr>
            </a:lvl4pPr>
            <a:lvl5pPr algn="l">
              <a:defRPr sz="1650" b="0">
                <a:solidFill>
                  <a:srgbClr val="B6B6B3"/>
                </a:solidFill>
              </a:defRPr>
            </a:lvl5pPr>
            <a:lvl6pPr algn="l">
              <a:defRPr sz="1650" b="0">
                <a:solidFill>
                  <a:srgbClr val="B6B6B3"/>
                </a:solidFill>
              </a:defRPr>
            </a:lvl6pPr>
            <a:lvl7pPr algn="l">
              <a:defRPr sz="1650" b="0">
                <a:solidFill>
                  <a:srgbClr val="B6B6B3"/>
                </a:solidFill>
              </a:defRPr>
            </a:lvl7pPr>
            <a:lvl8pPr algn="l">
              <a:defRPr sz="1650" b="0">
                <a:solidFill>
                  <a:srgbClr val="B6B6B3"/>
                </a:solidFill>
              </a:defRPr>
            </a:lvl8pPr>
            <a:lvl9pPr algn="l">
              <a:defRPr sz="16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B6B3"/>
                </a:solidFill>
              </a:defRPr>
            </a:pPr>
            <a:r>
              <a:rPr sz="1650" b="0">
                <a:solidFill>
                  <a:srgbClr val="B6B6B3"/>
                </a:solidFill>
              </a:rPr>
              <a:t>Packet count, total bytes, packet rate and byte 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2A9B7-EAA1-471A-969D-F39B83910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A94C3A-2AB8-4A63-ABB8-320C963A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9052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TCP behavior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7BDF8F-FC97-431F-82E1-79EF4E26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24300"/>
            <a:ext cx="6810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B6B6B3"/>
                </a:solidFill>
              </a:defRPr>
            </a:defPPr>
            <a:lvl1pPr algn="l">
              <a:defRPr sz="1650" b="0">
                <a:solidFill>
                  <a:srgbClr val="B6B6B3"/>
                </a:solidFill>
              </a:defRPr>
            </a:lvl1pPr>
            <a:lvl2pPr algn="l">
              <a:defRPr sz="1650" b="0">
                <a:solidFill>
                  <a:srgbClr val="B6B6B3"/>
                </a:solidFill>
              </a:defRPr>
            </a:lvl2pPr>
            <a:lvl3pPr algn="l">
              <a:defRPr sz="1650" b="0">
                <a:solidFill>
                  <a:srgbClr val="B6B6B3"/>
                </a:solidFill>
              </a:defRPr>
            </a:lvl3pPr>
            <a:lvl4pPr algn="l">
              <a:defRPr sz="1650" b="0">
                <a:solidFill>
                  <a:srgbClr val="B6B6B3"/>
                </a:solidFill>
              </a:defRPr>
            </a:lvl4pPr>
            <a:lvl5pPr algn="l">
              <a:defRPr sz="1650" b="0">
                <a:solidFill>
                  <a:srgbClr val="B6B6B3"/>
                </a:solidFill>
              </a:defRPr>
            </a:lvl5pPr>
            <a:lvl6pPr algn="l">
              <a:defRPr sz="1650" b="0">
                <a:solidFill>
                  <a:srgbClr val="B6B6B3"/>
                </a:solidFill>
              </a:defRPr>
            </a:lvl6pPr>
            <a:lvl7pPr algn="l">
              <a:defRPr sz="1650" b="0">
                <a:solidFill>
                  <a:srgbClr val="B6B6B3"/>
                </a:solidFill>
              </a:defRPr>
            </a:lvl7pPr>
            <a:lvl8pPr algn="l">
              <a:defRPr sz="1650" b="0">
                <a:solidFill>
                  <a:srgbClr val="B6B6B3"/>
                </a:solidFill>
              </a:defRPr>
            </a:lvl8pPr>
            <a:lvl9pPr algn="l">
              <a:defRPr sz="16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B6B3"/>
                </a:solidFill>
              </a:defRPr>
            </a:pPr>
            <a:r>
              <a:rPr sz="1650" b="0">
                <a:solidFill>
                  <a:srgbClr val="B6B6B3"/>
                </a:solidFill>
              </a:rPr>
              <a:t>SYN, SYN-ACK, ACK, FIN and RST counts; initial SYN ratio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BB700-223B-40E3-8A11-CE27FD2E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CD8B97-C444-4F08-94E2-CA5CB97C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48958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Traffic spread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2AD49-AD43-476A-9B59-6C5CDB35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914900"/>
            <a:ext cx="6810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B6B6B3"/>
                </a:solidFill>
              </a:defRPr>
            </a:defPPr>
            <a:lvl1pPr algn="l">
              <a:defRPr sz="1650" b="0">
                <a:solidFill>
                  <a:srgbClr val="B6B6B3"/>
                </a:solidFill>
              </a:defRPr>
            </a:lvl1pPr>
            <a:lvl2pPr algn="l">
              <a:defRPr sz="1650" b="0">
                <a:solidFill>
                  <a:srgbClr val="B6B6B3"/>
                </a:solidFill>
              </a:defRPr>
            </a:lvl2pPr>
            <a:lvl3pPr algn="l">
              <a:defRPr sz="1650" b="0">
                <a:solidFill>
                  <a:srgbClr val="B6B6B3"/>
                </a:solidFill>
              </a:defRPr>
            </a:lvl3pPr>
            <a:lvl4pPr algn="l">
              <a:defRPr sz="1650" b="0">
                <a:solidFill>
                  <a:srgbClr val="B6B6B3"/>
                </a:solidFill>
              </a:defRPr>
            </a:lvl4pPr>
            <a:lvl5pPr algn="l">
              <a:defRPr sz="1650" b="0">
                <a:solidFill>
                  <a:srgbClr val="B6B6B3"/>
                </a:solidFill>
              </a:defRPr>
            </a:lvl5pPr>
            <a:lvl6pPr algn="l">
              <a:defRPr sz="1650" b="0">
                <a:solidFill>
                  <a:srgbClr val="B6B6B3"/>
                </a:solidFill>
              </a:defRPr>
            </a:lvl6pPr>
            <a:lvl7pPr algn="l">
              <a:defRPr sz="1650" b="0">
                <a:solidFill>
                  <a:srgbClr val="B6B6B3"/>
                </a:solidFill>
              </a:defRPr>
            </a:lvl7pPr>
            <a:lvl8pPr algn="l">
              <a:defRPr sz="1650" b="0">
                <a:solidFill>
                  <a:srgbClr val="B6B6B3"/>
                </a:solidFill>
              </a:defRPr>
            </a:lvl8pPr>
            <a:lvl9pPr algn="l">
              <a:defRPr sz="16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B6B3"/>
                </a:solidFill>
              </a:defRPr>
            </a:pPr>
            <a:r>
              <a:rPr sz="1650" b="0">
                <a:solidFill>
                  <a:srgbClr val="B6B6B3"/>
                </a:solidFill>
              </a:rPr>
              <a:t>Unique sources, destinations, ports and flows</a:t>
            </a:r>
          </a:p>
        </p:txBody>
      </p:sp>
    </p:spTree>
    <p:extLst>
      <p:ext uri="{BB962C8B-B14F-4D97-AF65-F5344CB8AC3E}">
        <p14:creationId xmlns:p14="http://schemas.microsoft.com/office/powerpoint/2010/main" val="372437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0DD6C-92CD-4086-90DF-BC9284D5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DETECTION LOGIC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07150-E1C4-4492-B964-E478F950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How the rules decide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46B49E-7F3F-4EE5-9E45-81164FB3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DF0AA2-2DC2-4054-8D6C-D9D143DE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050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DE5A1D"/>
                </a:solidFill>
              </a:defRPr>
            </a:defPPr>
            <a:lvl1pPr algn="l">
              <a:defRPr sz="1950" b="1">
                <a:solidFill>
                  <a:srgbClr val="DE5A1D"/>
                </a:solidFill>
              </a:defRPr>
            </a:lvl1pPr>
            <a:lvl2pPr algn="l">
              <a:defRPr sz="1950" b="1">
                <a:solidFill>
                  <a:srgbClr val="DE5A1D"/>
                </a:solidFill>
              </a:defRPr>
            </a:lvl2pPr>
            <a:lvl3pPr algn="l">
              <a:defRPr sz="1950" b="1">
                <a:solidFill>
                  <a:srgbClr val="DE5A1D"/>
                </a:solidFill>
              </a:defRPr>
            </a:lvl3pPr>
            <a:lvl4pPr algn="l">
              <a:defRPr sz="1950" b="1">
                <a:solidFill>
                  <a:srgbClr val="DE5A1D"/>
                </a:solidFill>
              </a:defRPr>
            </a:lvl4pPr>
            <a:lvl5pPr algn="l">
              <a:defRPr sz="1950" b="1">
                <a:solidFill>
                  <a:srgbClr val="DE5A1D"/>
                </a:solidFill>
              </a:defRPr>
            </a:lvl5pPr>
            <a:lvl6pPr algn="l">
              <a:defRPr sz="1950" b="1">
                <a:solidFill>
                  <a:srgbClr val="DE5A1D"/>
                </a:solidFill>
              </a:defRPr>
            </a:lvl6pPr>
            <a:lvl7pPr algn="l">
              <a:defRPr sz="1950" b="1">
                <a:solidFill>
                  <a:srgbClr val="DE5A1D"/>
                </a:solidFill>
              </a:defRPr>
            </a:lvl7pPr>
            <a:lvl8pPr algn="l">
              <a:defRPr sz="1950" b="1">
                <a:solidFill>
                  <a:srgbClr val="DE5A1D"/>
                </a:solidFill>
              </a:defRPr>
            </a:lvl8pPr>
            <a:lvl9pPr algn="l">
              <a:defRPr sz="195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DE5A1D"/>
                </a:solidFill>
              </a:defRPr>
            </a:pPr>
            <a:r>
              <a:rPr sz="1950" b="1">
                <a:solidFill>
                  <a:srgbClr val="DE5A1D"/>
                </a:solidFill>
              </a:rPr>
              <a:t>Rate baseline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1C2703-3F7B-4152-9076-A291FFAD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48387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B6B6B3"/>
                </a:solidFill>
              </a:defRPr>
            </a:defPPr>
            <a:lvl1pPr algn="l">
              <a:defRPr sz="1800" b="0">
                <a:solidFill>
                  <a:srgbClr val="B6B6B3"/>
                </a:solidFill>
              </a:defRPr>
            </a:lvl1pPr>
            <a:lvl2pPr algn="l">
              <a:defRPr sz="1800" b="0">
                <a:solidFill>
                  <a:srgbClr val="B6B6B3"/>
                </a:solidFill>
              </a:defRPr>
            </a:lvl2pPr>
            <a:lvl3pPr algn="l">
              <a:defRPr sz="1800" b="0">
                <a:solidFill>
                  <a:srgbClr val="B6B6B3"/>
                </a:solidFill>
              </a:defRPr>
            </a:lvl3pPr>
            <a:lvl4pPr algn="l">
              <a:defRPr sz="1800" b="0">
                <a:solidFill>
                  <a:srgbClr val="B6B6B3"/>
                </a:solidFill>
              </a:defRPr>
            </a:lvl4pPr>
            <a:lvl5pPr algn="l">
              <a:defRPr sz="1800" b="0">
                <a:solidFill>
                  <a:srgbClr val="B6B6B3"/>
                </a:solidFill>
              </a:defRPr>
            </a:lvl5pPr>
            <a:lvl6pPr algn="l">
              <a:defRPr sz="1800" b="0">
                <a:solidFill>
                  <a:srgbClr val="B6B6B3"/>
                </a:solidFill>
              </a:defRPr>
            </a:lvl6pPr>
            <a:lvl7pPr algn="l">
              <a:defRPr sz="1800" b="0">
                <a:solidFill>
                  <a:srgbClr val="B6B6B3"/>
                </a:solidFill>
              </a:defRPr>
            </a:lvl7pPr>
            <a:lvl8pPr algn="l">
              <a:defRPr sz="1800" b="0">
                <a:solidFill>
                  <a:srgbClr val="B6B6B3"/>
                </a:solidFill>
              </a:defRPr>
            </a:lvl8pPr>
            <a:lvl9pPr algn="l">
              <a:defRPr sz="180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B6B6B3"/>
                </a:solidFill>
              </a:defRPr>
            </a:pPr>
            <a:r>
              <a:rPr sz="1800" b="0">
                <a:solidFill>
                  <a:srgbClr val="B6B6B3"/>
                </a:solidFill>
              </a:rPr>
              <a:t>After five normal-looking windows, a rolling median and median absolute deviation adapt the packet-rate threshold.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29ADC-DD9E-4B26-B957-57FA3F32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05000"/>
            <a:ext cx="428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DE5A1D"/>
                </a:solidFill>
              </a:defRPr>
            </a:defPPr>
            <a:lvl1pPr algn="l">
              <a:defRPr sz="1950" b="1">
                <a:solidFill>
                  <a:srgbClr val="DE5A1D"/>
                </a:solidFill>
              </a:defRPr>
            </a:lvl1pPr>
            <a:lvl2pPr algn="l">
              <a:defRPr sz="1950" b="1">
                <a:solidFill>
                  <a:srgbClr val="DE5A1D"/>
                </a:solidFill>
              </a:defRPr>
            </a:lvl2pPr>
            <a:lvl3pPr algn="l">
              <a:defRPr sz="1950" b="1">
                <a:solidFill>
                  <a:srgbClr val="DE5A1D"/>
                </a:solidFill>
              </a:defRPr>
            </a:lvl3pPr>
            <a:lvl4pPr algn="l">
              <a:defRPr sz="1950" b="1">
                <a:solidFill>
                  <a:srgbClr val="DE5A1D"/>
                </a:solidFill>
              </a:defRPr>
            </a:lvl4pPr>
            <a:lvl5pPr algn="l">
              <a:defRPr sz="1950" b="1">
                <a:solidFill>
                  <a:srgbClr val="DE5A1D"/>
                </a:solidFill>
              </a:defRPr>
            </a:lvl5pPr>
            <a:lvl6pPr algn="l">
              <a:defRPr sz="1950" b="1">
                <a:solidFill>
                  <a:srgbClr val="DE5A1D"/>
                </a:solidFill>
              </a:defRPr>
            </a:lvl6pPr>
            <a:lvl7pPr algn="l">
              <a:defRPr sz="1950" b="1">
                <a:solidFill>
                  <a:srgbClr val="DE5A1D"/>
                </a:solidFill>
              </a:defRPr>
            </a:lvl7pPr>
            <a:lvl8pPr algn="l">
              <a:defRPr sz="1950" b="1">
                <a:solidFill>
                  <a:srgbClr val="DE5A1D"/>
                </a:solidFill>
              </a:defRPr>
            </a:lvl8pPr>
            <a:lvl9pPr algn="l">
              <a:defRPr sz="195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DE5A1D"/>
                </a:solidFill>
              </a:defRPr>
            </a:pPr>
            <a:r>
              <a:rPr sz="1950" b="1">
                <a:solidFill>
                  <a:srgbClr val="DE5A1D"/>
                </a:solidFill>
              </a:rPr>
              <a:t>SYN signal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9A875-DAF3-4BF7-96CC-EAB3F3826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00300"/>
            <a:ext cx="48387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B6B6B3"/>
                </a:solidFill>
              </a:defRPr>
            </a:defPPr>
            <a:lvl1pPr algn="l">
              <a:defRPr sz="1800" b="0">
                <a:solidFill>
                  <a:srgbClr val="B6B6B3"/>
                </a:solidFill>
              </a:defRPr>
            </a:lvl1pPr>
            <a:lvl2pPr algn="l">
              <a:defRPr sz="1800" b="0">
                <a:solidFill>
                  <a:srgbClr val="B6B6B3"/>
                </a:solidFill>
              </a:defRPr>
            </a:lvl2pPr>
            <a:lvl3pPr algn="l">
              <a:defRPr sz="1800" b="0">
                <a:solidFill>
                  <a:srgbClr val="B6B6B3"/>
                </a:solidFill>
              </a:defRPr>
            </a:lvl3pPr>
            <a:lvl4pPr algn="l">
              <a:defRPr sz="1800" b="0">
                <a:solidFill>
                  <a:srgbClr val="B6B6B3"/>
                </a:solidFill>
              </a:defRPr>
            </a:lvl4pPr>
            <a:lvl5pPr algn="l">
              <a:defRPr sz="1800" b="0">
                <a:solidFill>
                  <a:srgbClr val="B6B6B3"/>
                </a:solidFill>
              </a:defRPr>
            </a:lvl5pPr>
            <a:lvl6pPr algn="l">
              <a:defRPr sz="1800" b="0">
                <a:solidFill>
                  <a:srgbClr val="B6B6B3"/>
                </a:solidFill>
              </a:defRPr>
            </a:lvl6pPr>
            <a:lvl7pPr algn="l">
              <a:defRPr sz="1800" b="0">
                <a:solidFill>
                  <a:srgbClr val="B6B6B3"/>
                </a:solidFill>
              </a:defRPr>
            </a:lvl7pPr>
            <a:lvl8pPr algn="l">
              <a:defRPr sz="1800" b="0">
                <a:solidFill>
                  <a:srgbClr val="B6B6B3"/>
                </a:solidFill>
              </a:defRPr>
            </a:lvl8pPr>
            <a:lvl9pPr algn="l">
              <a:defRPr sz="180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B6B6B3"/>
                </a:solidFill>
              </a:defRPr>
            </a:pPr>
            <a:r>
              <a:rPr sz="1800" b="0">
                <a:solidFill>
                  <a:srgbClr val="B6B6B3"/>
                </a:solidFill>
              </a:rPr>
              <a:t>The rule checks the share and rate of initial TCP SYN packets. Defaults include 0.70 SYN ratio and 20 SYN packets/s.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CED1E1-6BC9-4557-929A-D298C359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33875"/>
            <a:ext cx="9715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F7F7F5"/>
                </a:solidFill>
              </a:defRPr>
            </a:defPPr>
            <a:lvl1pPr algn="l">
              <a:defRPr sz="1875" b="1">
                <a:solidFill>
                  <a:srgbClr val="F7F7F5"/>
                </a:solidFill>
              </a:defRPr>
            </a:lvl1pPr>
            <a:lvl2pPr algn="l">
              <a:defRPr sz="1875" b="1">
                <a:solidFill>
                  <a:srgbClr val="F7F7F5"/>
                </a:solidFill>
              </a:defRPr>
            </a:lvl2pPr>
            <a:lvl3pPr algn="l">
              <a:defRPr sz="1875" b="1">
                <a:solidFill>
                  <a:srgbClr val="F7F7F5"/>
                </a:solidFill>
              </a:defRPr>
            </a:lvl3pPr>
            <a:lvl4pPr algn="l">
              <a:defRPr sz="1875" b="1">
                <a:solidFill>
                  <a:srgbClr val="F7F7F5"/>
                </a:solidFill>
              </a:defRPr>
            </a:lvl4pPr>
            <a:lvl5pPr algn="l">
              <a:defRPr sz="1875" b="1">
                <a:solidFill>
                  <a:srgbClr val="F7F7F5"/>
                </a:solidFill>
              </a:defRPr>
            </a:lvl5pPr>
            <a:lvl6pPr algn="l">
              <a:defRPr sz="1875" b="1">
                <a:solidFill>
                  <a:srgbClr val="F7F7F5"/>
                </a:solidFill>
              </a:defRPr>
            </a:lvl6pPr>
            <a:lvl7pPr algn="l">
              <a:defRPr sz="1875" b="1">
                <a:solidFill>
                  <a:srgbClr val="F7F7F5"/>
                </a:solidFill>
              </a:defRPr>
            </a:lvl7pPr>
            <a:lvl8pPr algn="l">
              <a:defRPr sz="1875" b="1">
                <a:solidFill>
                  <a:srgbClr val="F7F7F5"/>
                </a:solidFill>
              </a:defRPr>
            </a:lvl8pPr>
            <a:lvl9pPr algn="l">
              <a:defRPr sz="18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F7F7F5"/>
                </a:solidFill>
              </a:defRPr>
            </a:pPr>
            <a:r>
              <a:rPr sz="1875" b="1">
                <a:solidFill>
                  <a:srgbClr val="F7F7F5"/>
                </a:solidFill>
              </a:rPr>
              <a:t>Window labels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937B6-CC3C-4901-A831-3A8AD23B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05375"/>
            <a:ext cx="10477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F7F7F5"/>
                </a:solidFill>
              </a:defRPr>
            </a:defPPr>
            <a:lvl1pPr algn="l">
              <a:defRPr sz="1875" b="0">
                <a:solidFill>
                  <a:srgbClr val="F7F7F5"/>
                </a:solidFill>
              </a:defRPr>
            </a:lvl1pPr>
            <a:lvl2pPr algn="l">
              <a:defRPr sz="1875" b="0">
                <a:solidFill>
                  <a:srgbClr val="F7F7F5"/>
                </a:solidFill>
              </a:defRPr>
            </a:lvl2pPr>
            <a:lvl3pPr algn="l">
              <a:defRPr sz="1875" b="0">
                <a:solidFill>
                  <a:srgbClr val="F7F7F5"/>
                </a:solidFill>
              </a:defRPr>
            </a:lvl3pPr>
            <a:lvl4pPr algn="l">
              <a:defRPr sz="1875" b="0">
                <a:solidFill>
                  <a:srgbClr val="F7F7F5"/>
                </a:solidFill>
              </a:defRPr>
            </a:lvl4pPr>
            <a:lvl5pPr algn="l">
              <a:defRPr sz="1875" b="0">
                <a:solidFill>
                  <a:srgbClr val="F7F7F5"/>
                </a:solidFill>
              </a:defRPr>
            </a:lvl5pPr>
            <a:lvl6pPr algn="l">
              <a:defRPr sz="1875" b="0">
                <a:solidFill>
                  <a:srgbClr val="F7F7F5"/>
                </a:solidFill>
              </a:defRPr>
            </a:lvl6pPr>
            <a:lvl7pPr algn="l">
              <a:defRPr sz="1875" b="0">
                <a:solidFill>
                  <a:srgbClr val="F7F7F5"/>
                </a:solidFill>
              </a:defRPr>
            </a:lvl7pPr>
            <a:lvl8pPr algn="l">
              <a:defRPr sz="1875" b="0">
                <a:solidFill>
                  <a:srgbClr val="F7F7F5"/>
                </a:solidFill>
              </a:defRPr>
            </a:lvl8pPr>
            <a:lvl9pPr algn="l">
              <a:defRPr sz="1875" b="0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F7F7F5"/>
                </a:solidFill>
              </a:defRPr>
            </a:pPr>
            <a:r>
              <a:rPr sz="1875" b="0">
                <a:solidFill>
                  <a:srgbClr val="F7F7F5"/>
                </a:solidFill>
              </a:rPr>
              <a:t>Normal  •  Unusual Traffic  •  Suspicious TCP SYN Pattern  •  Potential DDoS Activity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923E8-A6A0-4D0B-8207-3E379B5F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007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DE5A1D"/>
                </a:solidFill>
              </a:defRPr>
            </a:defPPr>
            <a:lvl1pPr algn="l">
              <a:defRPr sz="1500" b="1">
                <a:solidFill>
                  <a:srgbClr val="DE5A1D"/>
                </a:solidFill>
              </a:defRPr>
            </a:lvl1pPr>
            <a:lvl2pPr algn="l">
              <a:defRPr sz="1500" b="1">
                <a:solidFill>
                  <a:srgbClr val="DE5A1D"/>
                </a:solidFill>
              </a:defRPr>
            </a:lvl2pPr>
            <a:lvl3pPr algn="l">
              <a:defRPr sz="1500" b="1">
                <a:solidFill>
                  <a:srgbClr val="DE5A1D"/>
                </a:solidFill>
              </a:defRPr>
            </a:lvl3pPr>
            <a:lvl4pPr algn="l">
              <a:defRPr sz="1500" b="1">
                <a:solidFill>
                  <a:srgbClr val="DE5A1D"/>
                </a:solidFill>
              </a:defRPr>
            </a:lvl4pPr>
            <a:lvl5pPr algn="l">
              <a:defRPr sz="1500" b="1">
                <a:solidFill>
                  <a:srgbClr val="DE5A1D"/>
                </a:solidFill>
              </a:defRPr>
            </a:lvl5pPr>
            <a:lvl6pPr algn="l">
              <a:defRPr sz="1500" b="1">
                <a:solidFill>
                  <a:srgbClr val="DE5A1D"/>
                </a:solidFill>
              </a:defRPr>
            </a:lvl6pPr>
            <a:lvl7pPr algn="l">
              <a:defRPr sz="1500" b="1">
                <a:solidFill>
                  <a:srgbClr val="DE5A1D"/>
                </a:solidFill>
              </a:defRPr>
            </a:lvl7pPr>
            <a:lvl8pPr algn="l">
              <a:defRPr sz="1500" b="1">
                <a:solidFill>
                  <a:srgbClr val="DE5A1D"/>
                </a:solidFill>
              </a:defRPr>
            </a:lvl8pPr>
            <a:lvl9pPr algn="l">
              <a:defRPr sz="150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DE5A1D"/>
                </a:solidFill>
              </a:defRPr>
            </a:pPr>
            <a:r>
              <a:rPr sz="1500" b="1">
                <a:solidFill>
                  <a:srgbClr val="DE5A1D"/>
                </a:solidFill>
              </a:rPr>
              <a:t>These thresholds are starting values, not validated attack cutoffs.</a:t>
            </a:r>
          </a:p>
        </p:txBody>
      </p:sp>
    </p:spTree>
    <p:extLst>
      <p:ext uri="{BB962C8B-B14F-4D97-AF65-F5344CB8AC3E}">
        <p14:creationId xmlns:p14="http://schemas.microsoft.com/office/powerpoint/2010/main" val="16594430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32F16-E1A7-4EF0-AB24-667ABE71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MODEL 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3D582E-C663-49AA-B334-41DEBBF4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Where machine learning fits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80EE0-C87B-4337-95F6-68ABD3CE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958FD-41E3-49E3-A860-124E40B7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F7F7F5"/>
                </a:solidFill>
              </a:defRPr>
            </a:defPPr>
            <a:lvl1pPr algn="l">
              <a:defRPr sz="2100" b="1">
                <a:solidFill>
                  <a:srgbClr val="F7F7F5"/>
                </a:solidFill>
              </a:defRPr>
            </a:lvl1pPr>
            <a:lvl2pPr algn="l">
              <a:defRPr sz="2100" b="1">
                <a:solidFill>
                  <a:srgbClr val="F7F7F5"/>
                </a:solidFill>
              </a:defRPr>
            </a:lvl2pPr>
            <a:lvl3pPr algn="l">
              <a:defRPr sz="2100" b="1">
                <a:solidFill>
                  <a:srgbClr val="F7F7F5"/>
                </a:solidFill>
              </a:defRPr>
            </a:lvl3pPr>
            <a:lvl4pPr algn="l">
              <a:defRPr sz="2100" b="1">
                <a:solidFill>
                  <a:srgbClr val="F7F7F5"/>
                </a:solidFill>
              </a:defRPr>
            </a:lvl4pPr>
            <a:lvl5pPr algn="l">
              <a:defRPr sz="2100" b="1">
                <a:solidFill>
                  <a:srgbClr val="F7F7F5"/>
                </a:solidFill>
              </a:defRPr>
            </a:lvl5pPr>
            <a:lvl6pPr algn="l">
              <a:defRPr sz="2100" b="1">
                <a:solidFill>
                  <a:srgbClr val="F7F7F5"/>
                </a:solidFill>
              </a:defRPr>
            </a:lvl6pPr>
            <a:lvl7pPr algn="l">
              <a:defRPr sz="2100" b="1">
                <a:solidFill>
                  <a:srgbClr val="F7F7F5"/>
                </a:solidFill>
              </a:defRPr>
            </a:lvl7pPr>
            <a:lvl8pPr algn="l">
              <a:defRPr sz="2100" b="1">
                <a:solidFill>
                  <a:srgbClr val="F7F7F5"/>
                </a:solidFill>
              </a:defRPr>
            </a:lvl8pPr>
            <a:lvl9pPr algn="l">
              <a:defRPr sz="21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7F7F5"/>
                </a:solidFill>
              </a:defRPr>
            </a:pPr>
            <a:r>
              <a:rPr sz="2100" b="1">
                <a:solidFill>
                  <a:srgbClr val="F7F7F5"/>
                </a:solidFill>
              </a:rPr>
              <a:t>Packet-window 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89D0C6-F8CB-4564-9594-5CB0E255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466725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B6B6B3"/>
                </a:solidFill>
              </a:defRPr>
            </a:defPPr>
            <a:lvl1pPr algn="l">
              <a:defRPr sz="1875" b="0">
                <a:solidFill>
                  <a:srgbClr val="B6B6B3"/>
                </a:solidFill>
              </a:defRPr>
            </a:lvl1pPr>
            <a:lvl2pPr algn="l">
              <a:defRPr sz="1875" b="0">
                <a:solidFill>
                  <a:srgbClr val="B6B6B3"/>
                </a:solidFill>
              </a:defRPr>
            </a:lvl2pPr>
            <a:lvl3pPr algn="l">
              <a:defRPr sz="1875" b="0">
                <a:solidFill>
                  <a:srgbClr val="B6B6B3"/>
                </a:solidFill>
              </a:defRPr>
            </a:lvl3pPr>
            <a:lvl4pPr algn="l">
              <a:defRPr sz="1875" b="0">
                <a:solidFill>
                  <a:srgbClr val="B6B6B3"/>
                </a:solidFill>
              </a:defRPr>
            </a:lvl4pPr>
            <a:lvl5pPr algn="l">
              <a:defRPr sz="1875" b="0">
                <a:solidFill>
                  <a:srgbClr val="B6B6B3"/>
                </a:solidFill>
              </a:defRPr>
            </a:lvl5pPr>
            <a:lvl6pPr algn="l">
              <a:defRPr sz="1875" b="0">
                <a:solidFill>
                  <a:srgbClr val="B6B6B3"/>
                </a:solidFill>
              </a:defRPr>
            </a:lvl6pPr>
            <a:lvl7pPr algn="l">
              <a:defRPr sz="1875" b="0">
                <a:solidFill>
                  <a:srgbClr val="B6B6B3"/>
                </a:solidFill>
              </a:defRPr>
            </a:lvl7pPr>
            <a:lvl8pPr algn="l">
              <a:defRPr sz="1875" b="0">
                <a:solidFill>
                  <a:srgbClr val="B6B6B3"/>
                </a:solidFill>
              </a:defRPr>
            </a:lvl8pPr>
            <a:lvl9pPr algn="l">
              <a:defRPr sz="18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B6B6B3"/>
                </a:solidFill>
              </a:defRPr>
            </a:pPr>
            <a:r>
              <a:rPr sz="1875" b="0">
                <a:solidFill>
                  <a:srgbClr val="B6B6B3"/>
                </a:solidFill>
              </a:rPr>
              <a:t>A Random Forest uses the same 21 window features. The dashboard comparison is trained on generated examples to exercise the pipeline.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E0F786-8BFE-4789-9259-59417506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955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F7F7F5"/>
                </a:solidFill>
              </a:defRPr>
            </a:defPPr>
            <a:lvl1pPr algn="l">
              <a:defRPr sz="2100" b="1">
                <a:solidFill>
                  <a:srgbClr val="F7F7F5"/>
                </a:solidFill>
              </a:defRPr>
            </a:lvl1pPr>
            <a:lvl2pPr algn="l">
              <a:defRPr sz="2100" b="1">
                <a:solidFill>
                  <a:srgbClr val="F7F7F5"/>
                </a:solidFill>
              </a:defRPr>
            </a:lvl2pPr>
            <a:lvl3pPr algn="l">
              <a:defRPr sz="2100" b="1">
                <a:solidFill>
                  <a:srgbClr val="F7F7F5"/>
                </a:solidFill>
              </a:defRPr>
            </a:lvl3pPr>
            <a:lvl4pPr algn="l">
              <a:defRPr sz="2100" b="1">
                <a:solidFill>
                  <a:srgbClr val="F7F7F5"/>
                </a:solidFill>
              </a:defRPr>
            </a:lvl4pPr>
            <a:lvl5pPr algn="l">
              <a:defRPr sz="2100" b="1">
                <a:solidFill>
                  <a:srgbClr val="F7F7F5"/>
                </a:solidFill>
              </a:defRPr>
            </a:lvl5pPr>
            <a:lvl6pPr algn="l">
              <a:defRPr sz="2100" b="1">
                <a:solidFill>
                  <a:srgbClr val="F7F7F5"/>
                </a:solidFill>
              </a:defRPr>
            </a:lvl6pPr>
            <a:lvl7pPr algn="l">
              <a:defRPr sz="2100" b="1">
                <a:solidFill>
                  <a:srgbClr val="F7F7F5"/>
                </a:solidFill>
              </a:defRPr>
            </a:lvl7pPr>
            <a:lvl8pPr algn="l">
              <a:defRPr sz="2100" b="1">
                <a:solidFill>
                  <a:srgbClr val="F7F7F5"/>
                </a:solidFill>
              </a:defRPr>
            </a:lvl8pPr>
            <a:lvl9pPr algn="l">
              <a:defRPr sz="21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7F7F5"/>
                </a:solidFill>
              </a:defRPr>
            </a:pPr>
            <a:r>
              <a:rPr sz="2100" b="1">
                <a:solidFill>
                  <a:srgbClr val="F7F7F5"/>
                </a:solidFill>
              </a:rPr>
              <a:t>Offline flow experiment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E233C0-7AA6-4259-BC31-388EE5E8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62250"/>
            <a:ext cx="466725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B6B6B3"/>
                </a:solidFill>
              </a:defRPr>
            </a:defPPr>
            <a:lvl1pPr algn="l">
              <a:defRPr sz="1875" b="0">
                <a:solidFill>
                  <a:srgbClr val="B6B6B3"/>
                </a:solidFill>
              </a:defRPr>
            </a:lvl1pPr>
            <a:lvl2pPr algn="l">
              <a:defRPr sz="1875" b="0">
                <a:solidFill>
                  <a:srgbClr val="B6B6B3"/>
                </a:solidFill>
              </a:defRPr>
            </a:lvl2pPr>
            <a:lvl3pPr algn="l">
              <a:defRPr sz="1875" b="0">
                <a:solidFill>
                  <a:srgbClr val="B6B6B3"/>
                </a:solidFill>
              </a:defRPr>
            </a:lvl3pPr>
            <a:lvl4pPr algn="l">
              <a:defRPr sz="1875" b="0">
                <a:solidFill>
                  <a:srgbClr val="B6B6B3"/>
                </a:solidFill>
              </a:defRPr>
            </a:lvl4pPr>
            <a:lvl5pPr algn="l">
              <a:defRPr sz="1875" b="0">
                <a:solidFill>
                  <a:srgbClr val="B6B6B3"/>
                </a:solidFill>
              </a:defRPr>
            </a:lvl5pPr>
            <a:lvl6pPr algn="l">
              <a:defRPr sz="1875" b="0">
                <a:solidFill>
                  <a:srgbClr val="B6B6B3"/>
                </a:solidFill>
              </a:defRPr>
            </a:lvl6pPr>
            <a:lvl7pPr algn="l">
              <a:defRPr sz="1875" b="0">
                <a:solidFill>
                  <a:srgbClr val="B6B6B3"/>
                </a:solidFill>
              </a:defRPr>
            </a:lvl7pPr>
            <a:lvl8pPr algn="l">
              <a:defRPr sz="1875" b="0">
                <a:solidFill>
                  <a:srgbClr val="B6B6B3"/>
                </a:solidFill>
              </a:defRPr>
            </a:lvl8pPr>
            <a:lvl9pPr algn="l">
              <a:defRPr sz="18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B6B6B3"/>
                </a:solidFill>
              </a:defRPr>
            </a:pPr>
            <a:r>
              <a:rPr sz="1875" b="0">
                <a:solidFill>
                  <a:srgbClr val="B6B6B3"/>
                </a:solidFill>
              </a:rPr>
              <a:t>A separate Random Forest uses 21 CICFlowMeter flow statistics from labeled CSV files and tests transfer to other datasets.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C8E61-3165-4899-8371-B641497D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72125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DE5A1D"/>
                </a:solidFill>
              </a:defRPr>
            </a:defPPr>
            <a:lvl1pPr algn="l">
              <a:defRPr sz="1800" b="1">
                <a:solidFill>
                  <a:srgbClr val="DE5A1D"/>
                </a:solidFill>
              </a:defRPr>
            </a:lvl1pPr>
            <a:lvl2pPr algn="l">
              <a:defRPr sz="1800" b="1">
                <a:solidFill>
                  <a:srgbClr val="DE5A1D"/>
                </a:solidFill>
              </a:defRPr>
            </a:lvl2pPr>
            <a:lvl3pPr algn="l">
              <a:defRPr sz="1800" b="1">
                <a:solidFill>
                  <a:srgbClr val="DE5A1D"/>
                </a:solidFill>
              </a:defRPr>
            </a:lvl3pPr>
            <a:lvl4pPr algn="l">
              <a:defRPr sz="1800" b="1">
                <a:solidFill>
                  <a:srgbClr val="DE5A1D"/>
                </a:solidFill>
              </a:defRPr>
            </a:lvl4pPr>
            <a:lvl5pPr algn="l">
              <a:defRPr sz="1800" b="1">
                <a:solidFill>
                  <a:srgbClr val="DE5A1D"/>
                </a:solidFill>
              </a:defRPr>
            </a:lvl5pPr>
            <a:lvl6pPr algn="l">
              <a:defRPr sz="1800" b="1">
                <a:solidFill>
                  <a:srgbClr val="DE5A1D"/>
                </a:solidFill>
              </a:defRPr>
            </a:lvl6pPr>
            <a:lvl7pPr algn="l">
              <a:defRPr sz="1800" b="1">
                <a:solidFill>
                  <a:srgbClr val="DE5A1D"/>
                </a:solidFill>
              </a:defRPr>
            </a:lvl7pPr>
            <a:lvl8pPr algn="l">
              <a:defRPr sz="1800" b="1">
                <a:solidFill>
                  <a:srgbClr val="DE5A1D"/>
                </a:solidFill>
              </a:defRPr>
            </a:lvl8pPr>
            <a:lvl9pPr algn="l">
              <a:defRPr sz="180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DE5A1D"/>
                </a:solidFill>
              </a:defRPr>
            </a:pPr>
            <a:r>
              <a:rPr sz="1800" b="1">
                <a:solidFill>
                  <a:srgbClr val="DE5A1D"/>
                </a:solidFill>
              </a:rPr>
              <a:t>Different feature schemas prevent the flow model from being used in the live dashboard.</a:t>
            </a:r>
          </a:p>
        </p:txBody>
      </p:sp>
    </p:spTree>
    <p:extLst>
      <p:ext uri="{BB962C8B-B14F-4D97-AF65-F5344CB8AC3E}">
        <p14:creationId xmlns:p14="http://schemas.microsoft.com/office/powerpoint/2010/main" val="2561136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CD0001-3B6E-4C2E-B007-30CF6E96B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DATASETS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396D6-DA91-4C6D-911F-5994988C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Data used in this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0AFA10-DFAA-4529-A3DC-0FD44B81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835E4-0128-4ACA-9F43-9CBEC0863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954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11F94-9934-40F3-B71B-BC43B147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89547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CIC-DDoS2019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E8E9AF-48E7-4C3F-B9F8-A66DC408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1914525"/>
            <a:ext cx="67532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>
                <a:solidFill>
                  <a:srgbClr val="B6B6B3"/>
                </a:solidFill>
              </a:defRPr>
            </a:defPPr>
            <a:lvl1pPr algn="l">
              <a:defRPr sz="1575" b="0">
                <a:solidFill>
                  <a:srgbClr val="B6B6B3"/>
                </a:solidFill>
              </a:defRPr>
            </a:lvl1pPr>
            <a:lvl2pPr algn="l">
              <a:defRPr sz="1575" b="0">
                <a:solidFill>
                  <a:srgbClr val="B6B6B3"/>
                </a:solidFill>
              </a:defRPr>
            </a:lvl2pPr>
            <a:lvl3pPr algn="l">
              <a:defRPr sz="1575" b="0">
                <a:solidFill>
                  <a:srgbClr val="B6B6B3"/>
                </a:solidFill>
              </a:defRPr>
            </a:lvl3pPr>
            <a:lvl4pPr algn="l">
              <a:defRPr sz="1575" b="0">
                <a:solidFill>
                  <a:srgbClr val="B6B6B3"/>
                </a:solidFill>
              </a:defRPr>
            </a:lvl4pPr>
            <a:lvl5pPr algn="l">
              <a:defRPr sz="1575" b="0">
                <a:solidFill>
                  <a:srgbClr val="B6B6B3"/>
                </a:solidFill>
              </a:defRPr>
            </a:lvl5pPr>
            <a:lvl6pPr algn="l">
              <a:defRPr sz="1575" b="0">
                <a:solidFill>
                  <a:srgbClr val="B6B6B3"/>
                </a:solidFill>
              </a:defRPr>
            </a:lvl6pPr>
            <a:lvl7pPr algn="l">
              <a:defRPr sz="1575" b="0">
                <a:solidFill>
                  <a:srgbClr val="B6B6B3"/>
                </a:solidFill>
              </a:defRPr>
            </a:lvl7pPr>
            <a:lvl8pPr algn="l">
              <a:defRPr sz="1575" b="0">
                <a:solidFill>
                  <a:srgbClr val="B6B6B3"/>
                </a:solidFill>
              </a:defRPr>
            </a:lvl8pPr>
            <a:lvl9pPr algn="l">
              <a:defRPr sz="15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B6B6B3"/>
                </a:solidFill>
              </a:defRPr>
            </a:pPr>
            <a:r>
              <a:rPr sz="1575" b="0">
                <a:solidFill>
                  <a:srgbClr val="B6B6B3"/>
                </a:solidFill>
              </a:rPr>
              <a:t>431,371 supplied flow rows for the first training experiment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76E78-2097-4C78-8344-22C1232E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096675-E3BA-4A15-B468-CD3B4ACF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819400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CIC-IDS2017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4BEF2-459B-4E22-8FA1-E74B834F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838450"/>
            <a:ext cx="67532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>
                <a:solidFill>
                  <a:srgbClr val="B6B6B3"/>
                </a:solidFill>
              </a:defRPr>
            </a:defPPr>
            <a:lvl1pPr algn="l">
              <a:defRPr sz="1575" b="0">
                <a:solidFill>
                  <a:srgbClr val="B6B6B3"/>
                </a:solidFill>
              </a:defRPr>
            </a:lvl1pPr>
            <a:lvl2pPr algn="l">
              <a:defRPr sz="1575" b="0">
                <a:solidFill>
                  <a:srgbClr val="B6B6B3"/>
                </a:solidFill>
              </a:defRPr>
            </a:lvl2pPr>
            <a:lvl3pPr algn="l">
              <a:defRPr sz="1575" b="0">
                <a:solidFill>
                  <a:srgbClr val="B6B6B3"/>
                </a:solidFill>
              </a:defRPr>
            </a:lvl3pPr>
            <a:lvl4pPr algn="l">
              <a:defRPr sz="1575" b="0">
                <a:solidFill>
                  <a:srgbClr val="B6B6B3"/>
                </a:solidFill>
              </a:defRPr>
            </a:lvl4pPr>
            <a:lvl5pPr algn="l">
              <a:defRPr sz="1575" b="0">
                <a:solidFill>
                  <a:srgbClr val="B6B6B3"/>
                </a:solidFill>
              </a:defRPr>
            </a:lvl5pPr>
            <a:lvl6pPr algn="l">
              <a:defRPr sz="1575" b="0">
                <a:solidFill>
                  <a:srgbClr val="B6B6B3"/>
                </a:solidFill>
              </a:defRPr>
            </a:lvl6pPr>
            <a:lvl7pPr algn="l">
              <a:defRPr sz="1575" b="0">
                <a:solidFill>
                  <a:srgbClr val="B6B6B3"/>
                </a:solidFill>
              </a:defRPr>
            </a:lvl7pPr>
            <a:lvl8pPr algn="l">
              <a:defRPr sz="1575" b="0">
                <a:solidFill>
                  <a:srgbClr val="B6B6B3"/>
                </a:solidFill>
              </a:defRPr>
            </a:lvl8pPr>
            <a:lvl9pPr algn="l">
              <a:defRPr sz="15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B6B6B3"/>
                </a:solidFill>
              </a:defRPr>
            </a:pPr>
            <a:r>
              <a:rPr sz="1575" b="0">
                <a:solidFill>
                  <a:srgbClr val="B6B6B3"/>
                </a:solidFill>
              </a:rPr>
              <a:t>Friday flow CSV: 225,745 labeled rows for external evaluation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90D59-6B3F-49ED-8D87-35E45C2E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4332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B79BC5-172D-47FA-A072-9D4819A7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743325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CSE-CIC-IDS2018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8EF6F-3670-4ECE-AB4E-D783917F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762375"/>
            <a:ext cx="67532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>
                <a:solidFill>
                  <a:srgbClr val="B6B6B3"/>
                </a:solidFill>
              </a:defRPr>
            </a:defPPr>
            <a:lvl1pPr algn="l">
              <a:defRPr sz="1575" b="0">
                <a:solidFill>
                  <a:srgbClr val="B6B6B3"/>
                </a:solidFill>
              </a:defRPr>
            </a:lvl1pPr>
            <a:lvl2pPr algn="l">
              <a:defRPr sz="1575" b="0">
                <a:solidFill>
                  <a:srgbClr val="B6B6B3"/>
                </a:solidFill>
              </a:defRPr>
            </a:lvl2pPr>
            <a:lvl3pPr algn="l">
              <a:defRPr sz="1575" b="0">
                <a:solidFill>
                  <a:srgbClr val="B6B6B3"/>
                </a:solidFill>
              </a:defRPr>
            </a:lvl3pPr>
            <a:lvl4pPr algn="l">
              <a:defRPr sz="1575" b="0">
                <a:solidFill>
                  <a:srgbClr val="B6B6B3"/>
                </a:solidFill>
              </a:defRPr>
            </a:lvl4pPr>
            <a:lvl5pPr algn="l">
              <a:defRPr sz="1575" b="0">
                <a:solidFill>
                  <a:srgbClr val="B6B6B3"/>
                </a:solidFill>
              </a:defRPr>
            </a:lvl5pPr>
            <a:lvl6pPr algn="l">
              <a:defRPr sz="1575" b="0">
                <a:solidFill>
                  <a:srgbClr val="B6B6B3"/>
                </a:solidFill>
              </a:defRPr>
            </a:lvl6pPr>
            <a:lvl7pPr algn="l">
              <a:defRPr sz="1575" b="0">
                <a:solidFill>
                  <a:srgbClr val="B6B6B3"/>
                </a:solidFill>
              </a:defRPr>
            </a:lvl7pPr>
            <a:lvl8pPr algn="l">
              <a:defRPr sz="1575" b="0">
                <a:solidFill>
                  <a:srgbClr val="B6B6B3"/>
                </a:solidFill>
              </a:defRPr>
            </a:lvl8pPr>
            <a:lvl9pPr algn="l">
              <a:defRPr sz="15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B6B6B3"/>
                </a:solidFill>
              </a:defRPr>
            </a:pPr>
            <a:r>
              <a:rPr sz="1575" b="0">
                <a:solidFill>
                  <a:srgbClr val="B6B6B3"/>
                </a:solidFill>
              </a:rPr>
              <a:t>A separate 2018 flow file for a second transfer check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F7E85-A3F2-4C02-BC88-F2283775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61440A-4E16-4616-8D25-F4B09E54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4667250"/>
            <a:ext cx="2914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LUCID PCAPs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6DEC20-14D6-4A69-8660-4E4C965F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4686300"/>
            <a:ext cx="67532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0">
                <a:solidFill>
                  <a:srgbClr val="B6B6B3"/>
                </a:solidFill>
              </a:defRPr>
            </a:defPPr>
            <a:lvl1pPr algn="l">
              <a:defRPr sz="1575" b="0">
                <a:solidFill>
                  <a:srgbClr val="B6B6B3"/>
                </a:solidFill>
              </a:defRPr>
            </a:lvl1pPr>
            <a:lvl2pPr algn="l">
              <a:defRPr sz="1575" b="0">
                <a:solidFill>
                  <a:srgbClr val="B6B6B3"/>
                </a:solidFill>
              </a:defRPr>
            </a:lvl2pPr>
            <a:lvl3pPr algn="l">
              <a:defRPr sz="1575" b="0">
                <a:solidFill>
                  <a:srgbClr val="B6B6B3"/>
                </a:solidFill>
              </a:defRPr>
            </a:lvl3pPr>
            <a:lvl4pPr algn="l">
              <a:defRPr sz="1575" b="0">
                <a:solidFill>
                  <a:srgbClr val="B6B6B3"/>
                </a:solidFill>
              </a:defRPr>
            </a:lvl4pPr>
            <a:lvl5pPr algn="l">
              <a:defRPr sz="1575" b="0">
                <a:solidFill>
                  <a:srgbClr val="B6B6B3"/>
                </a:solidFill>
              </a:defRPr>
            </a:lvl5pPr>
            <a:lvl6pPr algn="l">
              <a:defRPr sz="1575" b="0">
                <a:solidFill>
                  <a:srgbClr val="B6B6B3"/>
                </a:solidFill>
              </a:defRPr>
            </a:lvl6pPr>
            <a:lvl7pPr algn="l">
              <a:defRPr sz="1575" b="0">
                <a:solidFill>
                  <a:srgbClr val="B6B6B3"/>
                </a:solidFill>
              </a:defRPr>
            </a:lvl7pPr>
            <a:lvl8pPr algn="l">
              <a:defRPr sz="1575" b="0">
                <a:solidFill>
                  <a:srgbClr val="B6B6B3"/>
                </a:solidFill>
              </a:defRPr>
            </a:lvl8pPr>
            <a:lvl9pPr algn="l">
              <a:defRPr sz="15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B6B6B3"/>
                </a:solidFill>
              </a:defRPr>
            </a:pPr>
            <a:r>
              <a:rPr sz="1575" b="0">
                <a:solidFill>
                  <a:srgbClr val="B6B6B3"/>
                </a:solidFill>
              </a:rPr>
              <a:t>Five packet-capture excerpts for window extraction; benign capture count is too small for a valid holdout</a:t>
            </a:r>
          </a:p>
        </p:txBody>
      </p:sp>
    </p:spTree>
    <p:extLst>
      <p:ext uri="{BB962C8B-B14F-4D97-AF65-F5344CB8AC3E}">
        <p14:creationId xmlns:p14="http://schemas.microsoft.com/office/powerpoint/2010/main" val="19900887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94F4C-837E-4165-A2D4-787F820A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A4F82-9F83-445E-BD61-01DBE719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How performance was checked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98C09-03FA-413F-A00B-4C1C7BD0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FA490-475A-4137-94FE-174D9DBB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619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F7F7F5"/>
                </a:solidFill>
              </a:defRPr>
            </a:defPPr>
            <a:lvl1pPr algn="l">
              <a:defRPr sz="2100" b="1">
                <a:solidFill>
                  <a:srgbClr val="F7F7F5"/>
                </a:solidFill>
              </a:defRPr>
            </a:lvl1pPr>
            <a:lvl2pPr algn="l">
              <a:defRPr sz="2100" b="1">
                <a:solidFill>
                  <a:srgbClr val="F7F7F5"/>
                </a:solidFill>
              </a:defRPr>
            </a:lvl2pPr>
            <a:lvl3pPr algn="l">
              <a:defRPr sz="2100" b="1">
                <a:solidFill>
                  <a:srgbClr val="F7F7F5"/>
                </a:solidFill>
              </a:defRPr>
            </a:lvl3pPr>
            <a:lvl4pPr algn="l">
              <a:defRPr sz="2100" b="1">
                <a:solidFill>
                  <a:srgbClr val="F7F7F5"/>
                </a:solidFill>
              </a:defRPr>
            </a:lvl4pPr>
            <a:lvl5pPr algn="l">
              <a:defRPr sz="2100" b="1">
                <a:solidFill>
                  <a:srgbClr val="F7F7F5"/>
                </a:solidFill>
              </a:defRPr>
            </a:lvl5pPr>
            <a:lvl6pPr algn="l">
              <a:defRPr sz="2100" b="1">
                <a:solidFill>
                  <a:srgbClr val="F7F7F5"/>
                </a:solidFill>
              </a:defRPr>
            </a:lvl6pPr>
            <a:lvl7pPr algn="l">
              <a:defRPr sz="2100" b="1">
                <a:solidFill>
                  <a:srgbClr val="F7F7F5"/>
                </a:solidFill>
              </a:defRPr>
            </a:lvl7pPr>
            <a:lvl8pPr algn="l">
              <a:defRPr sz="2100" b="1">
                <a:solidFill>
                  <a:srgbClr val="F7F7F5"/>
                </a:solidFill>
              </a:defRPr>
            </a:lvl8pPr>
            <a:lvl9pPr algn="l">
              <a:defRPr sz="21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7F7F5"/>
                </a:solidFill>
              </a:defRPr>
            </a:pPr>
            <a:r>
              <a:rPr sz="2100" b="1">
                <a:solidFill>
                  <a:srgbClr val="F7F7F5"/>
                </a:solidFill>
              </a:rPr>
              <a:t>Flow experiment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D4663-CFA1-4E40-8664-42FC0D035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81275"/>
            <a:ext cx="471487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B6B6B3"/>
                </a:solidFill>
              </a:defRPr>
            </a:defPPr>
            <a:lvl1pPr algn="l">
              <a:defRPr sz="1875" b="0">
                <a:solidFill>
                  <a:srgbClr val="B6B6B3"/>
                </a:solidFill>
              </a:defRPr>
            </a:lvl1pPr>
            <a:lvl2pPr algn="l">
              <a:defRPr sz="1875" b="0">
                <a:solidFill>
                  <a:srgbClr val="B6B6B3"/>
                </a:solidFill>
              </a:defRPr>
            </a:lvl2pPr>
            <a:lvl3pPr algn="l">
              <a:defRPr sz="1875" b="0">
                <a:solidFill>
                  <a:srgbClr val="B6B6B3"/>
                </a:solidFill>
              </a:defRPr>
            </a:lvl3pPr>
            <a:lvl4pPr algn="l">
              <a:defRPr sz="1875" b="0">
                <a:solidFill>
                  <a:srgbClr val="B6B6B3"/>
                </a:solidFill>
              </a:defRPr>
            </a:lvl4pPr>
            <a:lvl5pPr algn="l">
              <a:defRPr sz="1875" b="0">
                <a:solidFill>
                  <a:srgbClr val="B6B6B3"/>
                </a:solidFill>
              </a:defRPr>
            </a:lvl5pPr>
            <a:lvl6pPr algn="l">
              <a:defRPr sz="1875" b="0">
                <a:solidFill>
                  <a:srgbClr val="B6B6B3"/>
                </a:solidFill>
              </a:defRPr>
            </a:lvl6pPr>
            <a:lvl7pPr algn="l">
              <a:defRPr sz="1875" b="0">
                <a:solidFill>
                  <a:srgbClr val="B6B6B3"/>
                </a:solidFill>
              </a:defRPr>
            </a:lvl7pPr>
            <a:lvl8pPr algn="l">
              <a:defRPr sz="1875" b="0">
                <a:solidFill>
                  <a:srgbClr val="B6B6B3"/>
                </a:solidFill>
              </a:defRPr>
            </a:lvl8pPr>
            <a:lvl9pPr algn="l">
              <a:defRPr sz="18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B6B6B3"/>
                </a:solidFill>
              </a:defRPr>
            </a:pPr>
            <a:r>
              <a:rPr sz="1875" b="0">
                <a:solidFill>
                  <a:srgbClr val="B6B6B3"/>
                </a:solidFill>
              </a:rPr>
              <a:t>Train on 2019. Evaluate on the separate Friday 2017 file.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37764-819C-4313-8ED0-48815361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002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F7F7F5"/>
                </a:solidFill>
              </a:defRPr>
            </a:defPPr>
            <a:lvl1pPr algn="l">
              <a:defRPr sz="2100" b="1">
                <a:solidFill>
                  <a:srgbClr val="F7F7F5"/>
                </a:solidFill>
              </a:defRPr>
            </a:lvl1pPr>
            <a:lvl2pPr algn="l">
              <a:defRPr sz="2100" b="1">
                <a:solidFill>
                  <a:srgbClr val="F7F7F5"/>
                </a:solidFill>
              </a:defRPr>
            </a:lvl2pPr>
            <a:lvl3pPr algn="l">
              <a:defRPr sz="2100" b="1">
                <a:solidFill>
                  <a:srgbClr val="F7F7F5"/>
                </a:solidFill>
              </a:defRPr>
            </a:lvl3pPr>
            <a:lvl4pPr algn="l">
              <a:defRPr sz="2100" b="1">
                <a:solidFill>
                  <a:srgbClr val="F7F7F5"/>
                </a:solidFill>
              </a:defRPr>
            </a:lvl4pPr>
            <a:lvl5pPr algn="l">
              <a:defRPr sz="2100" b="1">
                <a:solidFill>
                  <a:srgbClr val="F7F7F5"/>
                </a:solidFill>
              </a:defRPr>
            </a:lvl5pPr>
            <a:lvl6pPr algn="l">
              <a:defRPr sz="2100" b="1">
                <a:solidFill>
                  <a:srgbClr val="F7F7F5"/>
                </a:solidFill>
              </a:defRPr>
            </a:lvl6pPr>
            <a:lvl7pPr algn="l">
              <a:defRPr sz="2100" b="1">
                <a:solidFill>
                  <a:srgbClr val="F7F7F5"/>
                </a:solidFill>
              </a:defRPr>
            </a:lvl7pPr>
            <a:lvl8pPr algn="l">
              <a:defRPr sz="2100" b="1">
                <a:solidFill>
                  <a:srgbClr val="F7F7F5"/>
                </a:solidFill>
              </a:defRPr>
            </a:lvl8pPr>
            <a:lvl9pPr algn="l">
              <a:defRPr sz="21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F7F7F5"/>
                </a:solidFill>
              </a:defRPr>
            </a:pPr>
            <a:r>
              <a:rPr sz="2100" b="1">
                <a:solidFill>
                  <a:srgbClr val="F7F7F5"/>
                </a:solidFill>
              </a:rPr>
              <a:t>Flow experiment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701FA2-503C-447C-9854-941937EEB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81275"/>
            <a:ext cx="4714875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B6B6B3"/>
                </a:solidFill>
              </a:defRPr>
            </a:defPPr>
            <a:lvl1pPr algn="l">
              <a:defRPr sz="1875" b="0">
                <a:solidFill>
                  <a:srgbClr val="B6B6B3"/>
                </a:solidFill>
              </a:defRPr>
            </a:lvl1pPr>
            <a:lvl2pPr algn="l">
              <a:defRPr sz="1875" b="0">
                <a:solidFill>
                  <a:srgbClr val="B6B6B3"/>
                </a:solidFill>
              </a:defRPr>
            </a:lvl2pPr>
            <a:lvl3pPr algn="l">
              <a:defRPr sz="1875" b="0">
                <a:solidFill>
                  <a:srgbClr val="B6B6B3"/>
                </a:solidFill>
              </a:defRPr>
            </a:lvl3pPr>
            <a:lvl4pPr algn="l">
              <a:defRPr sz="1875" b="0">
                <a:solidFill>
                  <a:srgbClr val="B6B6B3"/>
                </a:solidFill>
              </a:defRPr>
            </a:lvl4pPr>
            <a:lvl5pPr algn="l">
              <a:defRPr sz="1875" b="0">
                <a:solidFill>
                  <a:srgbClr val="B6B6B3"/>
                </a:solidFill>
              </a:defRPr>
            </a:lvl5pPr>
            <a:lvl6pPr algn="l">
              <a:defRPr sz="1875" b="0">
                <a:solidFill>
                  <a:srgbClr val="B6B6B3"/>
                </a:solidFill>
              </a:defRPr>
            </a:lvl6pPr>
            <a:lvl7pPr algn="l">
              <a:defRPr sz="1875" b="0">
                <a:solidFill>
                  <a:srgbClr val="B6B6B3"/>
                </a:solidFill>
              </a:defRPr>
            </a:lvl7pPr>
            <a:lvl8pPr algn="l">
              <a:defRPr sz="1875" b="0">
                <a:solidFill>
                  <a:srgbClr val="B6B6B3"/>
                </a:solidFill>
              </a:defRPr>
            </a:lvl8pPr>
            <a:lvl9pPr algn="l">
              <a:defRPr sz="18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B6B6B3"/>
                </a:solidFill>
              </a:defRPr>
            </a:pPr>
            <a:r>
              <a:rPr sz="1875" b="0">
                <a:solidFill>
                  <a:srgbClr val="B6B6B3"/>
                </a:solidFill>
              </a:rPr>
              <a:t>Train on 2019 and 2017. Evaluate on a separate 2018 file.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527483-EEB2-4C4B-B85A-6E965DF6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29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DE5A1D"/>
                </a:solidFill>
              </a:defRPr>
            </a:defPPr>
            <a:lvl1pPr algn="l">
              <a:defRPr sz="2100" b="1">
                <a:solidFill>
                  <a:srgbClr val="DE5A1D"/>
                </a:solidFill>
              </a:defRPr>
            </a:lvl1pPr>
            <a:lvl2pPr algn="l">
              <a:defRPr sz="2100" b="1">
                <a:solidFill>
                  <a:srgbClr val="DE5A1D"/>
                </a:solidFill>
              </a:defRPr>
            </a:lvl2pPr>
            <a:lvl3pPr algn="l">
              <a:defRPr sz="2100" b="1">
                <a:solidFill>
                  <a:srgbClr val="DE5A1D"/>
                </a:solidFill>
              </a:defRPr>
            </a:lvl3pPr>
            <a:lvl4pPr algn="l">
              <a:defRPr sz="2100" b="1">
                <a:solidFill>
                  <a:srgbClr val="DE5A1D"/>
                </a:solidFill>
              </a:defRPr>
            </a:lvl4pPr>
            <a:lvl5pPr algn="l">
              <a:defRPr sz="2100" b="1">
                <a:solidFill>
                  <a:srgbClr val="DE5A1D"/>
                </a:solidFill>
              </a:defRPr>
            </a:lvl5pPr>
            <a:lvl6pPr algn="l">
              <a:defRPr sz="2100" b="1">
                <a:solidFill>
                  <a:srgbClr val="DE5A1D"/>
                </a:solidFill>
              </a:defRPr>
            </a:lvl6pPr>
            <a:lvl7pPr algn="l">
              <a:defRPr sz="2100" b="1">
                <a:solidFill>
                  <a:srgbClr val="DE5A1D"/>
                </a:solidFill>
              </a:defRPr>
            </a:lvl7pPr>
            <a:lvl8pPr algn="l">
              <a:defRPr sz="2100" b="1">
                <a:solidFill>
                  <a:srgbClr val="DE5A1D"/>
                </a:solidFill>
              </a:defRPr>
            </a:lvl8pPr>
            <a:lvl9pPr algn="l">
              <a:defRPr sz="210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DE5A1D"/>
                </a:solidFill>
              </a:defRPr>
            </a:pPr>
            <a:r>
              <a:rPr sz="2100" b="1">
                <a:solidFill>
                  <a:srgbClr val="DE5A1D"/>
                </a:solidFill>
              </a:rPr>
              <a:t>Packet-window 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CE8CA-5F29-4543-85E4-56BC262B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2050"/>
            <a:ext cx="1019175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0">
                <a:solidFill>
                  <a:srgbClr val="B6B6B3"/>
                </a:solidFill>
              </a:defRPr>
            </a:defPPr>
            <a:lvl1pPr algn="l">
              <a:defRPr sz="1875" b="0">
                <a:solidFill>
                  <a:srgbClr val="B6B6B3"/>
                </a:solidFill>
              </a:defRPr>
            </a:lvl1pPr>
            <a:lvl2pPr algn="l">
              <a:defRPr sz="1875" b="0">
                <a:solidFill>
                  <a:srgbClr val="B6B6B3"/>
                </a:solidFill>
              </a:defRPr>
            </a:lvl2pPr>
            <a:lvl3pPr algn="l">
              <a:defRPr sz="1875" b="0">
                <a:solidFill>
                  <a:srgbClr val="B6B6B3"/>
                </a:solidFill>
              </a:defRPr>
            </a:lvl3pPr>
            <a:lvl4pPr algn="l">
              <a:defRPr sz="1875" b="0">
                <a:solidFill>
                  <a:srgbClr val="B6B6B3"/>
                </a:solidFill>
              </a:defRPr>
            </a:lvl4pPr>
            <a:lvl5pPr algn="l">
              <a:defRPr sz="1875" b="0">
                <a:solidFill>
                  <a:srgbClr val="B6B6B3"/>
                </a:solidFill>
              </a:defRPr>
            </a:lvl5pPr>
            <a:lvl6pPr algn="l">
              <a:defRPr sz="1875" b="0">
                <a:solidFill>
                  <a:srgbClr val="B6B6B3"/>
                </a:solidFill>
              </a:defRPr>
            </a:lvl6pPr>
            <a:lvl7pPr algn="l">
              <a:defRPr sz="1875" b="0">
                <a:solidFill>
                  <a:srgbClr val="B6B6B3"/>
                </a:solidFill>
              </a:defRPr>
            </a:lvl7pPr>
            <a:lvl8pPr algn="l">
              <a:defRPr sz="1875" b="0">
                <a:solidFill>
                  <a:srgbClr val="B6B6B3"/>
                </a:solidFill>
              </a:defRPr>
            </a:lvl8pPr>
            <a:lvl9pPr algn="l">
              <a:defRPr sz="187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B6B6B3"/>
                </a:solidFill>
              </a:defRPr>
            </a:pPr>
            <a:r>
              <a:rPr sz="1875" b="0">
                <a:solidFill>
                  <a:srgbClr val="B6B6B3"/>
                </a:solidFill>
              </a:rPr>
              <a:t>A capture-aware evaluator exists. The current excerpts have only one benign capture, so it correctly reports no holdout score.</a:t>
            </a:r>
          </a:p>
        </p:txBody>
      </p:sp>
    </p:spTree>
    <p:extLst>
      <p:ext uri="{BB962C8B-B14F-4D97-AF65-F5344CB8AC3E}">
        <p14:creationId xmlns:p14="http://schemas.microsoft.com/office/powerpoint/2010/main" val="10293922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6F7D9D-620A-4A08-ADD0-2B939F5B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MEASURED RESULT 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2DB58-B336-4812-993F-F26D58F1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2019 model on Friday 2017 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2E0254-74AB-4C32-A063-AECE4EB0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02753E-C236-4195-9089-31798368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47625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5325" b="1">
                <a:solidFill>
                  <a:srgbClr val="DE5A1D"/>
                </a:solidFill>
              </a:defRPr>
            </a:defPPr>
            <a:lvl1pPr algn="l">
              <a:defRPr sz="5325" b="1">
                <a:solidFill>
                  <a:srgbClr val="DE5A1D"/>
                </a:solidFill>
              </a:defRPr>
            </a:lvl1pPr>
            <a:lvl2pPr algn="l">
              <a:defRPr sz="5325" b="1">
                <a:solidFill>
                  <a:srgbClr val="DE5A1D"/>
                </a:solidFill>
              </a:defRPr>
            </a:lvl2pPr>
            <a:lvl3pPr algn="l">
              <a:defRPr sz="5325" b="1">
                <a:solidFill>
                  <a:srgbClr val="DE5A1D"/>
                </a:solidFill>
              </a:defRPr>
            </a:lvl3pPr>
            <a:lvl4pPr algn="l">
              <a:defRPr sz="5325" b="1">
                <a:solidFill>
                  <a:srgbClr val="DE5A1D"/>
                </a:solidFill>
              </a:defRPr>
            </a:lvl4pPr>
            <a:lvl5pPr algn="l">
              <a:defRPr sz="5325" b="1">
                <a:solidFill>
                  <a:srgbClr val="DE5A1D"/>
                </a:solidFill>
              </a:defRPr>
            </a:lvl5pPr>
            <a:lvl6pPr algn="l">
              <a:defRPr sz="5325" b="1">
                <a:solidFill>
                  <a:srgbClr val="DE5A1D"/>
                </a:solidFill>
              </a:defRPr>
            </a:lvl6pPr>
            <a:lvl7pPr algn="l">
              <a:defRPr sz="5325" b="1">
                <a:solidFill>
                  <a:srgbClr val="DE5A1D"/>
                </a:solidFill>
              </a:defRPr>
            </a:lvl7pPr>
            <a:lvl8pPr algn="l">
              <a:defRPr sz="5325" b="1">
                <a:solidFill>
                  <a:srgbClr val="DE5A1D"/>
                </a:solidFill>
              </a:defRPr>
            </a:lvl8pPr>
            <a:lvl9pPr algn="l">
              <a:defRPr sz="53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5325" b="1">
                <a:solidFill>
                  <a:srgbClr val="DE5A1D"/>
                </a:solidFill>
              </a:defRPr>
            </a:pPr>
            <a:r>
              <a:rPr sz="5325" b="1">
                <a:solidFill>
                  <a:srgbClr val="DE5A1D"/>
                </a:solidFill>
              </a:rPr>
              <a:t>36.4%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B961E-8050-47CB-AB1C-FFBF2510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0"/>
            <a:ext cx="4572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1">
                <a:solidFill>
                  <a:srgbClr val="F7F7F5"/>
                </a:solidFill>
              </a:defRPr>
            </a:defPPr>
            <a:lvl1pPr algn="l">
              <a:defRPr sz="2175" b="1">
                <a:solidFill>
                  <a:srgbClr val="F7F7F5"/>
                </a:solidFill>
              </a:defRPr>
            </a:lvl1pPr>
            <a:lvl2pPr algn="l">
              <a:defRPr sz="2175" b="1">
                <a:solidFill>
                  <a:srgbClr val="F7F7F5"/>
                </a:solidFill>
              </a:defRPr>
            </a:lvl2pPr>
            <a:lvl3pPr algn="l">
              <a:defRPr sz="2175" b="1">
                <a:solidFill>
                  <a:srgbClr val="F7F7F5"/>
                </a:solidFill>
              </a:defRPr>
            </a:lvl3pPr>
            <a:lvl4pPr algn="l">
              <a:defRPr sz="2175" b="1">
                <a:solidFill>
                  <a:srgbClr val="F7F7F5"/>
                </a:solidFill>
              </a:defRPr>
            </a:lvl4pPr>
            <a:lvl5pPr algn="l">
              <a:defRPr sz="2175" b="1">
                <a:solidFill>
                  <a:srgbClr val="F7F7F5"/>
                </a:solidFill>
              </a:defRPr>
            </a:lvl5pPr>
            <a:lvl6pPr algn="l">
              <a:defRPr sz="2175" b="1">
                <a:solidFill>
                  <a:srgbClr val="F7F7F5"/>
                </a:solidFill>
              </a:defRPr>
            </a:lvl6pPr>
            <a:lvl7pPr algn="l">
              <a:defRPr sz="2175" b="1">
                <a:solidFill>
                  <a:srgbClr val="F7F7F5"/>
                </a:solidFill>
              </a:defRPr>
            </a:lvl7pPr>
            <a:lvl8pPr algn="l">
              <a:defRPr sz="2175" b="1">
                <a:solidFill>
                  <a:srgbClr val="F7F7F5"/>
                </a:solidFill>
              </a:defRPr>
            </a:lvl8pPr>
            <a:lvl9pPr algn="l">
              <a:defRPr sz="21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7F7F5"/>
                </a:solidFill>
              </a:defRPr>
            </a:pPr>
            <a:r>
              <a:rPr sz="2175" b="1">
                <a:solidFill>
                  <a:srgbClr val="F7F7F5"/>
                </a:solidFill>
              </a:rPr>
              <a:t>DDoS recall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C702B-6D6D-42D0-B89E-A361133A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19300"/>
            <a:ext cx="47625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5325" b="1">
                <a:solidFill>
                  <a:srgbClr val="DE5A1D"/>
                </a:solidFill>
              </a:defRPr>
            </a:defPPr>
            <a:lvl1pPr algn="l">
              <a:defRPr sz="5325" b="1">
                <a:solidFill>
                  <a:srgbClr val="DE5A1D"/>
                </a:solidFill>
              </a:defRPr>
            </a:lvl1pPr>
            <a:lvl2pPr algn="l">
              <a:defRPr sz="5325" b="1">
                <a:solidFill>
                  <a:srgbClr val="DE5A1D"/>
                </a:solidFill>
              </a:defRPr>
            </a:lvl2pPr>
            <a:lvl3pPr algn="l">
              <a:defRPr sz="5325" b="1">
                <a:solidFill>
                  <a:srgbClr val="DE5A1D"/>
                </a:solidFill>
              </a:defRPr>
            </a:lvl3pPr>
            <a:lvl4pPr algn="l">
              <a:defRPr sz="5325" b="1">
                <a:solidFill>
                  <a:srgbClr val="DE5A1D"/>
                </a:solidFill>
              </a:defRPr>
            </a:lvl4pPr>
            <a:lvl5pPr algn="l">
              <a:defRPr sz="5325" b="1">
                <a:solidFill>
                  <a:srgbClr val="DE5A1D"/>
                </a:solidFill>
              </a:defRPr>
            </a:lvl5pPr>
            <a:lvl6pPr algn="l">
              <a:defRPr sz="5325" b="1">
                <a:solidFill>
                  <a:srgbClr val="DE5A1D"/>
                </a:solidFill>
              </a:defRPr>
            </a:lvl6pPr>
            <a:lvl7pPr algn="l">
              <a:defRPr sz="5325" b="1">
                <a:solidFill>
                  <a:srgbClr val="DE5A1D"/>
                </a:solidFill>
              </a:defRPr>
            </a:lvl7pPr>
            <a:lvl8pPr algn="l">
              <a:defRPr sz="5325" b="1">
                <a:solidFill>
                  <a:srgbClr val="DE5A1D"/>
                </a:solidFill>
              </a:defRPr>
            </a:lvl8pPr>
            <a:lvl9pPr algn="l">
              <a:defRPr sz="53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5325" b="1">
                <a:solidFill>
                  <a:srgbClr val="DE5A1D"/>
                </a:solidFill>
              </a:defRPr>
            </a:pPr>
            <a:r>
              <a:rPr sz="5325" b="1">
                <a:solidFill>
                  <a:srgbClr val="DE5A1D"/>
                </a:solidFill>
              </a:rPr>
              <a:t>24.8%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E4DBB-33B4-4B4A-8BB5-47380393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238500"/>
            <a:ext cx="4762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1">
                <a:solidFill>
                  <a:srgbClr val="F7F7F5"/>
                </a:solidFill>
              </a:defRPr>
            </a:defPPr>
            <a:lvl1pPr algn="l">
              <a:defRPr sz="2175" b="1">
                <a:solidFill>
                  <a:srgbClr val="F7F7F5"/>
                </a:solidFill>
              </a:defRPr>
            </a:lvl1pPr>
            <a:lvl2pPr algn="l">
              <a:defRPr sz="2175" b="1">
                <a:solidFill>
                  <a:srgbClr val="F7F7F5"/>
                </a:solidFill>
              </a:defRPr>
            </a:lvl2pPr>
            <a:lvl3pPr algn="l">
              <a:defRPr sz="2175" b="1">
                <a:solidFill>
                  <a:srgbClr val="F7F7F5"/>
                </a:solidFill>
              </a:defRPr>
            </a:lvl3pPr>
            <a:lvl4pPr algn="l">
              <a:defRPr sz="2175" b="1">
                <a:solidFill>
                  <a:srgbClr val="F7F7F5"/>
                </a:solidFill>
              </a:defRPr>
            </a:lvl4pPr>
            <a:lvl5pPr algn="l">
              <a:defRPr sz="2175" b="1">
                <a:solidFill>
                  <a:srgbClr val="F7F7F5"/>
                </a:solidFill>
              </a:defRPr>
            </a:lvl5pPr>
            <a:lvl6pPr algn="l">
              <a:defRPr sz="2175" b="1">
                <a:solidFill>
                  <a:srgbClr val="F7F7F5"/>
                </a:solidFill>
              </a:defRPr>
            </a:lvl6pPr>
            <a:lvl7pPr algn="l">
              <a:defRPr sz="2175" b="1">
                <a:solidFill>
                  <a:srgbClr val="F7F7F5"/>
                </a:solidFill>
              </a:defRPr>
            </a:lvl7pPr>
            <a:lvl8pPr algn="l">
              <a:defRPr sz="2175" b="1">
                <a:solidFill>
                  <a:srgbClr val="F7F7F5"/>
                </a:solidFill>
              </a:defRPr>
            </a:lvl8pPr>
            <a:lvl9pPr algn="l">
              <a:defRPr sz="21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7F7F5"/>
                </a:solidFill>
              </a:defRPr>
            </a:pPr>
            <a:r>
              <a:rPr sz="2175" b="1">
                <a:solidFill>
                  <a:srgbClr val="F7F7F5"/>
                </a:solidFill>
              </a:rPr>
              <a:t>Benign false-alarm rate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490F3-B689-4BBF-84C0-74CBCE5F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38675"/>
            <a:ext cx="1019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0">
                <a:solidFill>
                  <a:srgbClr val="B6B6B3"/>
                </a:solidFill>
              </a:defRPr>
            </a:defPPr>
            <a:lvl1pPr algn="l">
              <a:defRPr sz="1950" b="0">
                <a:solidFill>
                  <a:srgbClr val="B6B6B3"/>
                </a:solidFill>
              </a:defRPr>
            </a:lvl1pPr>
            <a:lvl2pPr algn="l">
              <a:defRPr sz="1950" b="0">
                <a:solidFill>
                  <a:srgbClr val="B6B6B3"/>
                </a:solidFill>
              </a:defRPr>
            </a:lvl2pPr>
            <a:lvl3pPr algn="l">
              <a:defRPr sz="1950" b="0">
                <a:solidFill>
                  <a:srgbClr val="B6B6B3"/>
                </a:solidFill>
              </a:defRPr>
            </a:lvl3pPr>
            <a:lvl4pPr algn="l">
              <a:defRPr sz="1950" b="0">
                <a:solidFill>
                  <a:srgbClr val="B6B6B3"/>
                </a:solidFill>
              </a:defRPr>
            </a:lvl4pPr>
            <a:lvl5pPr algn="l">
              <a:defRPr sz="1950" b="0">
                <a:solidFill>
                  <a:srgbClr val="B6B6B3"/>
                </a:solidFill>
              </a:defRPr>
            </a:lvl5pPr>
            <a:lvl6pPr algn="l">
              <a:defRPr sz="1950" b="0">
                <a:solidFill>
                  <a:srgbClr val="B6B6B3"/>
                </a:solidFill>
              </a:defRPr>
            </a:lvl6pPr>
            <a:lvl7pPr algn="l">
              <a:defRPr sz="1950" b="0">
                <a:solidFill>
                  <a:srgbClr val="B6B6B3"/>
                </a:solidFill>
              </a:defRPr>
            </a:lvl7pPr>
            <a:lvl8pPr algn="l">
              <a:defRPr sz="1950" b="0">
                <a:solidFill>
                  <a:srgbClr val="B6B6B3"/>
                </a:solidFill>
              </a:defRPr>
            </a:lvl8pPr>
            <a:lvl9pPr algn="l">
              <a:defRPr sz="19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B6B6B3"/>
                </a:solidFill>
              </a:defRPr>
            </a:pPr>
            <a:r>
              <a:rPr sz="1950" b="0">
                <a:solidFill>
                  <a:srgbClr val="B6B6B3"/>
                </a:solidFill>
              </a:rPr>
              <a:t>46,592 of 128,025 labeled DDoS flows detected. 24,241 of 97,686 benign flows flagged.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DA0135-03D2-4DDA-AF71-ACAC0BC9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24550"/>
            <a:ext cx="1038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F7F7F5"/>
                </a:solidFill>
              </a:defRPr>
            </a:defPPr>
            <a:lvl1pPr algn="l">
              <a:defRPr sz="1650" b="1">
                <a:solidFill>
                  <a:srgbClr val="F7F7F5"/>
                </a:solidFill>
              </a:defRPr>
            </a:lvl1pPr>
            <a:lvl2pPr algn="l">
              <a:defRPr sz="1650" b="1">
                <a:solidFill>
                  <a:srgbClr val="F7F7F5"/>
                </a:solidFill>
              </a:defRPr>
            </a:lvl2pPr>
            <a:lvl3pPr algn="l">
              <a:defRPr sz="1650" b="1">
                <a:solidFill>
                  <a:srgbClr val="F7F7F5"/>
                </a:solidFill>
              </a:defRPr>
            </a:lvl3pPr>
            <a:lvl4pPr algn="l">
              <a:defRPr sz="1650" b="1">
                <a:solidFill>
                  <a:srgbClr val="F7F7F5"/>
                </a:solidFill>
              </a:defRPr>
            </a:lvl4pPr>
            <a:lvl5pPr algn="l">
              <a:defRPr sz="1650" b="1">
                <a:solidFill>
                  <a:srgbClr val="F7F7F5"/>
                </a:solidFill>
              </a:defRPr>
            </a:lvl5pPr>
            <a:lvl6pPr algn="l">
              <a:defRPr sz="1650" b="1">
                <a:solidFill>
                  <a:srgbClr val="F7F7F5"/>
                </a:solidFill>
              </a:defRPr>
            </a:lvl6pPr>
            <a:lvl7pPr algn="l">
              <a:defRPr sz="1650" b="1">
                <a:solidFill>
                  <a:srgbClr val="F7F7F5"/>
                </a:solidFill>
              </a:defRPr>
            </a:lvl7pPr>
            <a:lvl8pPr algn="l">
              <a:defRPr sz="1650" b="1">
                <a:solidFill>
                  <a:srgbClr val="F7F7F5"/>
                </a:solidFill>
              </a:defRPr>
            </a:lvl8pPr>
            <a:lvl9pPr algn="l">
              <a:defRPr sz="16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7F7F5"/>
                </a:solidFill>
              </a:defRPr>
            </a:pPr>
            <a:r>
              <a:rPr sz="1650" b="1">
                <a:solidFill>
                  <a:srgbClr val="F7F7F5"/>
                </a:solidFill>
              </a:rPr>
              <a:t>The model misses many attacks and raises too many false alarms for live use.</a:t>
            </a:r>
          </a:p>
        </p:txBody>
      </p:sp>
    </p:spTree>
    <p:extLst>
      <p:ext uri="{BB962C8B-B14F-4D97-AF65-F5344CB8AC3E}">
        <p14:creationId xmlns:p14="http://schemas.microsoft.com/office/powerpoint/2010/main" val="1159241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8F0F43-AB5B-4195-B3E1-9F36A99F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MEASURED RESULT 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294BDD-DED9-4EED-94A2-E124C6AD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2019 + 2017 model on 2018 flows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4E25B4-C92E-49E2-BBE9-7DCEF0A0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DE031-9884-4C63-911C-F270C361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4381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6075" b="1">
                <a:solidFill>
                  <a:srgbClr val="DE5A1D"/>
                </a:solidFill>
              </a:defRPr>
            </a:defPPr>
            <a:lvl1pPr algn="l">
              <a:defRPr sz="6075" b="1">
                <a:solidFill>
                  <a:srgbClr val="DE5A1D"/>
                </a:solidFill>
              </a:defRPr>
            </a:lvl1pPr>
            <a:lvl2pPr algn="l">
              <a:defRPr sz="6075" b="1">
                <a:solidFill>
                  <a:srgbClr val="DE5A1D"/>
                </a:solidFill>
              </a:defRPr>
            </a:lvl2pPr>
            <a:lvl3pPr algn="l">
              <a:defRPr sz="6075" b="1">
                <a:solidFill>
                  <a:srgbClr val="DE5A1D"/>
                </a:solidFill>
              </a:defRPr>
            </a:lvl3pPr>
            <a:lvl4pPr algn="l">
              <a:defRPr sz="6075" b="1">
                <a:solidFill>
                  <a:srgbClr val="DE5A1D"/>
                </a:solidFill>
              </a:defRPr>
            </a:lvl4pPr>
            <a:lvl5pPr algn="l">
              <a:defRPr sz="6075" b="1">
                <a:solidFill>
                  <a:srgbClr val="DE5A1D"/>
                </a:solidFill>
              </a:defRPr>
            </a:lvl5pPr>
            <a:lvl6pPr algn="l">
              <a:defRPr sz="6075" b="1">
                <a:solidFill>
                  <a:srgbClr val="DE5A1D"/>
                </a:solidFill>
              </a:defRPr>
            </a:lvl6pPr>
            <a:lvl7pPr algn="l">
              <a:defRPr sz="6075" b="1">
                <a:solidFill>
                  <a:srgbClr val="DE5A1D"/>
                </a:solidFill>
              </a:defRPr>
            </a:lvl7pPr>
            <a:lvl8pPr algn="l">
              <a:defRPr sz="6075" b="1">
                <a:solidFill>
                  <a:srgbClr val="DE5A1D"/>
                </a:solidFill>
              </a:defRPr>
            </a:lvl8pPr>
            <a:lvl9pPr algn="l">
              <a:defRPr sz="60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6075" b="1">
                <a:solidFill>
                  <a:srgbClr val="DE5A1D"/>
                </a:solidFill>
              </a:defRPr>
            </a:pPr>
            <a:r>
              <a:rPr sz="6075" b="1">
                <a:solidFill>
                  <a:srgbClr val="DE5A1D"/>
                </a:solidFill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C6515-0587-4A2E-A1FA-5652E4F7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4762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1">
                <a:solidFill>
                  <a:srgbClr val="F7F7F5"/>
                </a:solidFill>
              </a:defRPr>
            </a:defPPr>
            <a:lvl1pPr algn="l">
              <a:defRPr sz="2175" b="1">
                <a:solidFill>
                  <a:srgbClr val="F7F7F5"/>
                </a:solidFill>
              </a:defRPr>
            </a:lvl1pPr>
            <a:lvl2pPr algn="l">
              <a:defRPr sz="2175" b="1">
                <a:solidFill>
                  <a:srgbClr val="F7F7F5"/>
                </a:solidFill>
              </a:defRPr>
            </a:lvl2pPr>
            <a:lvl3pPr algn="l">
              <a:defRPr sz="2175" b="1">
                <a:solidFill>
                  <a:srgbClr val="F7F7F5"/>
                </a:solidFill>
              </a:defRPr>
            </a:lvl3pPr>
            <a:lvl4pPr algn="l">
              <a:defRPr sz="2175" b="1">
                <a:solidFill>
                  <a:srgbClr val="F7F7F5"/>
                </a:solidFill>
              </a:defRPr>
            </a:lvl4pPr>
            <a:lvl5pPr algn="l">
              <a:defRPr sz="2175" b="1">
                <a:solidFill>
                  <a:srgbClr val="F7F7F5"/>
                </a:solidFill>
              </a:defRPr>
            </a:lvl5pPr>
            <a:lvl6pPr algn="l">
              <a:defRPr sz="2175" b="1">
                <a:solidFill>
                  <a:srgbClr val="F7F7F5"/>
                </a:solidFill>
              </a:defRPr>
            </a:lvl6pPr>
            <a:lvl7pPr algn="l">
              <a:defRPr sz="2175" b="1">
                <a:solidFill>
                  <a:srgbClr val="F7F7F5"/>
                </a:solidFill>
              </a:defRPr>
            </a:lvl7pPr>
            <a:lvl8pPr algn="l">
              <a:defRPr sz="2175" b="1">
                <a:solidFill>
                  <a:srgbClr val="F7F7F5"/>
                </a:solidFill>
              </a:defRPr>
            </a:lvl8pPr>
            <a:lvl9pPr algn="l">
              <a:defRPr sz="2175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7F7F5"/>
                </a:solidFill>
              </a:defRPr>
            </a:pPr>
            <a:r>
              <a:rPr sz="2175" b="1">
                <a:solidFill>
                  <a:srgbClr val="F7F7F5"/>
                </a:solidFill>
              </a:rPr>
              <a:t>DDoS flows detected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853646-D534-4917-9BFD-AF57B546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62375"/>
            <a:ext cx="981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0">
                <a:solidFill>
                  <a:srgbClr val="B6B6B3"/>
                </a:solidFill>
              </a:defRPr>
            </a:defPPr>
            <a:lvl1pPr algn="l">
              <a:defRPr sz="2025" b="0">
                <a:solidFill>
                  <a:srgbClr val="B6B6B3"/>
                </a:solidFill>
              </a:defRPr>
            </a:lvl1pPr>
            <a:lvl2pPr algn="l">
              <a:defRPr sz="2025" b="0">
                <a:solidFill>
                  <a:srgbClr val="B6B6B3"/>
                </a:solidFill>
              </a:defRPr>
            </a:lvl2pPr>
            <a:lvl3pPr algn="l">
              <a:defRPr sz="2025" b="0">
                <a:solidFill>
                  <a:srgbClr val="B6B6B3"/>
                </a:solidFill>
              </a:defRPr>
            </a:lvl3pPr>
            <a:lvl4pPr algn="l">
              <a:defRPr sz="2025" b="0">
                <a:solidFill>
                  <a:srgbClr val="B6B6B3"/>
                </a:solidFill>
              </a:defRPr>
            </a:lvl4pPr>
            <a:lvl5pPr algn="l">
              <a:defRPr sz="2025" b="0">
                <a:solidFill>
                  <a:srgbClr val="B6B6B3"/>
                </a:solidFill>
              </a:defRPr>
            </a:lvl5pPr>
            <a:lvl6pPr algn="l">
              <a:defRPr sz="2025" b="0">
                <a:solidFill>
                  <a:srgbClr val="B6B6B3"/>
                </a:solidFill>
              </a:defRPr>
            </a:lvl6pPr>
            <a:lvl7pPr algn="l">
              <a:defRPr sz="2025" b="0">
                <a:solidFill>
                  <a:srgbClr val="B6B6B3"/>
                </a:solidFill>
              </a:defRPr>
            </a:lvl7pPr>
            <a:lvl8pPr algn="l">
              <a:defRPr sz="2025" b="0">
                <a:solidFill>
                  <a:srgbClr val="B6B6B3"/>
                </a:solidFill>
              </a:defRPr>
            </a:lvl8pPr>
            <a:lvl9pPr algn="l">
              <a:defRPr sz="202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B6B6B3"/>
                </a:solidFill>
              </a:defRPr>
            </a:pPr>
            <a:r>
              <a:rPr sz="2025" b="0">
                <a:solidFill>
                  <a:srgbClr val="B6B6B3"/>
                </a:solidFill>
              </a:rPr>
              <a:t>out of 687,742 labeled DDoS flows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E6B745-A263-47FF-8D4E-68A31ED2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33925"/>
            <a:ext cx="1019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F7F7F5"/>
                </a:solidFill>
              </a:defRPr>
            </a:defPPr>
            <a:lvl1pPr algn="l">
              <a:defRPr sz="2700" b="1">
                <a:solidFill>
                  <a:srgbClr val="F7F7F5"/>
                </a:solidFill>
              </a:defRPr>
            </a:lvl1pPr>
            <a:lvl2pPr algn="l">
              <a:defRPr sz="2700" b="1">
                <a:solidFill>
                  <a:srgbClr val="F7F7F5"/>
                </a:solidFill>
              </a:defRPr>
            </a:lvl2pPr>
            <a:lvl3pPr algn="l">
              <a:defRPr sz="2700" b="1">
                <a:solidFill>
                  <a:srgbClr val="F7F7F5"/>
                </a:solidFill>
              </a:defRPr>
            </a:lvl3pPr>
            <a:lvl4pPr algn="l">
              <a:defRPr sz="2700" b="1">
                <a:solidFill>
                  <a:srgbClr val="F7F7F5"/>
                </a:solidFill>
              </a:defRPr>
            </a:lvl4pPr>
            <a:lvl5pPr algn="l">
              <a:defRPr sz="2700" b="1">
                <a:solidFill>
                  <a:srgbClr val="F7F7F5"/>
                </a:solidFill>
              </a:defRPr>
            </a:lvl5pPr>
            <a:lvl6pPr algn="l">
              <a:defRPr sz="2700" b="1">
                <a:solidFill>
                  <a:srgbClr val="F7F7F5"/>
                </a:solidFill>
              </a:defRPr>
            </a:lvl6pPr>
            <a:lvl7pPr algn="l">
              <a:defRPr sz="2700" b="1">
                <a:solidFill>
                  <a:srgbClr val="F7F7F5"/>
                </a:solidFill>
              </a:defRPr>
            </a:lvl7pPr>
            <a:lvl8pPr algn="l">
              <a:defRPr sz="2700" b="1">
                <a:solidFill>
                  <a:srgbClr val="F7F7F5"/>
                </a:solidFill>
              </a:defRPr>
            </a:lvl8pPr>
            <a:lvl9pPr algn="l">
              <a:defRPr sz="27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F7F7F5"/>
                </a:solidFill>
              </a:defRPr>
            </a:pPr>
            <a:r>
              <a:rPr sz="2700" b="1">
                <a:solidFill>
                  <a:srgbClr val="F7F7F5"/>
                </a:solidFill>
              </a:rPr>
              <a:t>0.0038% recall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6C951E-8B7F-4D30-9AC2-B9828B598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48350"/>
            <a:ext cx="1038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0">
                <a:solidFill>
                  <a:srgbClr val="B6B6B3"/>
                </a:solidFill>
              </a:defRPr>
            </a:defPPr>
            <a:lvl1pPr algn="l">
              <a:defRPr sz="1725" b="0">
                <a:solidFill>
                  <a:srgbClr val="B6B6B3"/>
                </a:solidFill>
              </a:defRPr>
            </a:lvl1pPr>
            <a:lvl2pPr algn="l">
              <a:defRPr sz="1725" b="0">
                <a:solidFill>
                  <a:srgbClr val="B6B6B3"/>
                </a:solidFill>
              </a:defRPr>
            </a:lvl2pPr>
            <a:lvl3pPr algn="l">
              <a:defRPr sz="1725" b="0">
                <a:solidFill>
                  <a:srgbClr val="B6B6B3"/>
                </a:solidFill>
              </a:defRPr>
            </a:lvl3pPr>
            <a:lvl4pPr algn="l">
              <a:defRPr sz="1725" b="0">
                <a:solidFill>
                  <a:srgbClr val="B6B6B3"/>
                </a:solidFill>
              </a:defRPr>
            </a:lvl4pPr>
            <a:lvl5pPr algn="l">
              <a:defRPr sz="1725" b="0">
                <a:solidFill>
                  <a:srgbClr val="B6B6B3"/>
                </a:solidFill>
              </a:defRPr>
            </a:lvl5pPr>
            <a:lvl6pPr algn="l">
              <a:defRPr sz="1725" b="0">
                <a:solidFill>
                  <a:srgbClr val="B6B6B3"/>
                </a:solidFill>
              </a:defRPr>
            </a:lvl6pPr>
            <a:lvl7pPr algn="l">
              <a:defRPr sz="1725" b="0">
                <a:solidFill>
                  <a:srgbClr val="B6B6B3"/>
                </a:solidFill>
              </a:defRPr>
            </a:lvl7pPr>
            <a:lvl8pPr algn="l">
              <a:defRPr sz="1725" b="0">
                <a:solidFill>
                  <a:srgbClr val="B6B6B3"/>
                </a:solidFill>
              </a:defRPr>
            </a:lvl8pPr>
            <a:lvl9pPr algn="l">
              <a:defRPr sz="172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6B6B3"/>
                </a:solidFill>
              </a:defRPr>
            </a:pPr>
            <a:r>
              <a:rPr sz="1725" b="0">
                <a:solidFill>
                  <a:srgbClr val="B6B6B3"/>
                </a:solidFill>
              </a:rPr>
              <a:t>The model generalized poorly to the 2018 traffic pattern. It remains an offline experiment.</a:t>
            </a:r>
          </a:p>
        </p:txBody>
      </p:sp>
    </p:spTree>
    <p:extLst>
      <p:ext uri="{BB962C8B-B14F-4D97-AF65-F5344CB8AC3E}">
        <p14:creationId xmlns:p14="http://schemas.microsoft.com/office/powerpoint/2010/main" val="16029413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C42683-1596-4B76-B6FD-9B419639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4025CE-6AAF-4F7B-9957-D0B74B48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The working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8008B-7A05-4958-B4C8-17E15950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F8B6B-994B-4960-80B6-1168AC5FAD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672e7c59c74744"/>
          <a:stretch xmlns:a="http://schemas.openxmlformats.org/drawingml/2006/main"/>
        </p:blipFill>
        <p:spPr>
          <a:xfrm xmlns:a="http://schemas.openxmlformats.org/drawingml/2006/main">
            <a:off x="1574800" y="1485900"/>
            <a:ext cx="9042400" cy="5086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7811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E4C3E3-9084-4E27-B0A3-59B7777F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PROJECT STATUS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B668EA-71CB-4833-AB32-8B6955E5E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What the prototype delivers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9DC45-1176-402A-8A10-C9791FE5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ABF8B-00E3-4657-9CB3-377CCB63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C48C7B-F412-47F3-AF20-5240D0B8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057400"/>
            <a:ext cx="2905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Monitoring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57980-1B51-4B2A-B162-238C6D35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76450"/>
            <a:ext cx="676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B6B6B3"/>
                </a:solidFill>
              </a:defRPr>
            </a:defPPr>
            <a:lvl1pPr algn="l">
              <a:defRPr sz="1650" b="0">
                <a:solidFill>
                  <a:srgbClr val="B6B6B3"/>
                </a:solidFill>
              </a:defRPr>
            </a:lvl1pPr>
            <a:lvl2pPr algn="l">
              <a:defRPr sz="1650" b="0">
                <a:solidFill>
                  <a:srgbClr val="B6B6B3"/>
                </a:solidFill>
              </a:defRPr>
            </a:lvl2pPr>
            <a:lvl3pPr algn="l">
              <a:defRPr sz="1650" b="0">
                <a:solidFill>
                  <a:srgbClr val="B6B6B3"/>
                </a:solidFill>
              </a:defRPr>
            </a:lvl3pPr>
            <a:lvl4pPr algn="l">
              <a:defRPr sz="1650" b="0">
                <a:solidFill>
                  <a:srgbClr val="B6B6B3"/>
                </a:solidFill>
              </a:defRPr>
            </a:lvl4pPr>
            <a:lvl5pPr algn="l">
              <a:defRPr sz="1650" b="0">
                <a:solidFill>
                  <a:srgbClr val="B6B6B3"/>
                </a:solidFill>
              </a:defRPr>
            </a:lvl5pPr>
            <a:lvl6pPr algn="l">
              <a:defRPr sz="1650" b="0">
                <a:solidFill>
                  <a:srgbClr val="B6B6B3"/>
                </a:solidFill>
              </a:defRPr>
            </a:lvl6pPr>
            <a:lvl7pPr algn="l">
              <a:defRPr sz="1650" b="0">
                <a:solidFill>
                  <a:srgbClr val="B6B6B3"/>
                </a:solidFill>
              </a:defRPr>
            </a:lvl7pPr>
            <a:lvl8pPr algn="l">
              <a:defRPr sz="1650" b="0">
                <a:solidFill>
                  <a:srgbClr val="B6B6B3"/>
                </a:solidFill>
              </a:defRPr>
            </a:lvl8pPr>
            <a:lvl9pPr algn="l">
              <a:defRPr sz="16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B6B3"/>
                </a:solidFill>
              </a:defRPr>
            </a:pPr>
            <a:r>
              <a:rPr sz="1650" b="0">
                <a:solidFill>
                  <a:srgbClr val="B6B6B3"/>
                </a:solidFill>
              </a:rPr>
              <a:t>Offline and bounded live inputs produce packet-window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5FAA35-25AD-4BE7-9EDB-250934FF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571F47-6665-4927-8E4F-E48C7A1D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124200"/>
            <a:ext cx="2905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Explanation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8EC25-13EF-4A9D-8C6C-167EF6A1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43250"/>
            <a:ext cx="676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B6B6B3"/>
                </a:solidFill>
              </a:defRPr>
            </a:defPPr>
            <a:lvl1pPr algn="l">
              <a:defRPr sz="1650" b="0">
                <a:solidFill>
                  <a:srgbClr val="B6B6B3"/>
                </a:solidFill>
              </a:defRPr>
            </a:lvl1pPr>
            <a:lvl2pPr algn="l">
              <a:defRPr sz="1650" b="0">
                <a:solidFill>
                  <a:srgbClr val="B6B6B3"/>
                </a:solidFill>
              </a:defRPr>
            </a:lvl2pPr>
            <a:lvl3pPr algn="l">
              <a:defRPr sz="1650" b="0">
                <a:solidFill>
                  <a:srgbClr val="B6B6B3"/>
                </a:solidFill>
              </a:defRPr>
            </a:lvl3pPr>
            <a:lvl4pPr algn="l">
              <a:defRPr sz="1650" b="0">
                <a:solidFill>
                  <a:srgbClr val="B6B6B3"/>
                </a:solidFill>
              </a:defRPr>
            </a:lvl4pPr>
            <a:lvl5pPr algn="l">
              <a:defRPr sz="1650" b="0">
                <a:solidFill>
                  <a:srgbClr val="B6B6B3"/>
                </a:solidFill>
              </a:defRPr>
            </a:lvl5pPr>
            <a:lvl6pPr algn="l">
              <a:defRPr sz="1650" b="0">
                <a:solidFill>
                  <a:srgbClr val="B6B6B3"/>
                </a:solidFill>
              </a:defRPr>
            </a:lvl6pPr>
            <a:lvl7pPr algn="l">
              <a:defRPr sz="1650" b="0">
                <a:solidFill>
                  <a:srgbClr val="B6B6B3"/>
                </a:solidFill>
              </a:defRPr>
            </a:lvl7pPr>
            <a:lvl8pPr algn="l">
              <a:defRPr sz="1650" b="0">
                <a:solidFill>
                  <a:srgbClr val="B6B6B3"/>
                </a:solidFill>
              </a:defRPr>
            </a:lvl8pPr>
            <a:lvl9pPr algn="l">
              <a:defRPr sz="16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B6B3"/>
                </a:solidFill>
              </a:defRPr>
            </a:pPr>
            <a:r>
              <a:rPr sz="1650" b="0">
                <a:solidFill>
                  <a:srgbClr val="B6B6B3"/>
                </a:solidFill>
              </a:rPr>
              <a:t>Rule labels, chart, per-window reasons and SQLite alert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207B7-7278-461B-BBB5-6882CB56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141E3-9522-4DB7-92EA-3F1694D1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4191000"/>
            <a:ext cx="2905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Safe response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1BEDD-783A-464E-806A-C6F681BD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0050"/>
            <a:ext cx="6762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B6B6B3"/>
                </a:solidFill>
              </a:defRPr>
            </a:defPPr>
            <a:lvl1pPr algn="l">
              <a:defRPr sz="1650" b="0">
                <a:solidFill>
                  <a:srgbClr val="B6B6B3"/>
                </a:solidFill>
              </a:defRPr>
            </a:lvl1pPr>
            <a:lvl2pPr algn="l">
              <a:defRPr sz="1650" b="0">
                <a:solidFill>
                  <a:srgbClr val="B6B6B3"/>
                </a:solidFill>
              </a:defRPr>
            </a:lvl2pPr>
            <a:lvl3pPr algn="l">
              <a:defRPr sz="1650" b="0">
                <a:solidFill>
                  <a:srgbClr val="B6B6B3"/>
                </a:solidFill>
              </a:defRPr>
            </a:lvl3pPr>
            <a:lvl4pPr algn="l">
              <a:defRPr sz="1650" b="0">
                <a:solidFill>
                  <a:srgbClr val="B6B6B3"/>
                </a:solidFill>
              </a:defRPr>
            </a:lvl4pPr>
            <a:lvl5pPr algn="l">
              <a:defRPr sz="1650" b="0">
                <a:solidFill>
                  <a:srgbClr val="B6B6B3"/>
                </a:solidFill>
              </a:defRPr>
            </a:lvl5pPr>
            <a:lvl6pPr algn="l">
              <a:defRPr sz="1650" b="0">
                <a:solidFill>
                  <a:srgbClr val="B6B6B3"/>
                </a:solidFill>
              </a:defRPr>
            </a:lvl6pPr>
            <a:lvl7pPr algn="l">
              <a:defRPr sz="1650" b="0">
                <a:solidFill>
                  <a:srgbClr val="B6B6B3"/>
                </a:solidFill>
              </a:defRPr>
            </a:lvl7pPr>
            <a:lvl8pPr algn="l">
              <a:defRPr sz="1650" b="0">
                <a:solidFill>
                  <a:srgbClr val="B6B6B3"/>
                </a:solidFill>
              </a:defRPr>
            </a:lvl8pPr>
            <a:lvl9pPr algn="l">
              <a:defRPr sz="16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B6B3"/>
                </a:solidFill>
              </a:defRPr>
            </a:pPr>
            <a:r>
              <a:rPr sz="1650" b="0">
                <a:solidFill>
                  <a:srgbClr val="B6B6B3"/>
                </a:solidFill>
              </a:rPr>
              <a:t>Temporary block simulation records expiring decisions without changing firewall rules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F5A8E-40D2-44FC-A073-D10AA0DA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72150"/>
            <a:ext cx="1019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DE5A1D"/>
                </a:solidFill>
              </a:defRPr>
            </a:defPPr>
            <a:lvl1pPr algn="l">
              <a:defRPr sz="1800" b="1">
                <a:solidFill>
                  <a:srgbClr val="DE5A1D"/>
                </a:solidFill>
              </a:defRPr>
            </a:lvl1pPr>
            <a:lvl2pPr algn="l">
              <a:defRPr sz="1800" b="1">
                <a:solidFill>
                  <a:srgbClr val="DE5A1D"/>
                </a:solidFill>
              </a:defRPr>
            </a:lvl2pPr>
            <a:lvl3pPr algn="l">
              <a:defRPr sz="1800" b="1">
                <a:solidFill>
                  <a:srgbClr val="DE5A1D"/>
                </a:solidFill>
              </a:defRPr>
            </a:lvl3pPr>
            <a:lvl4pPr algn="l">
              <a:defRPr sz="1800" b="1">
                <a:solidFill>
                  <a:srgbClr val="DE5A1D"/>
                </a:solidFill>
              </a:defRPr>
            </a:lvl4pPr>
            <a:lvl5pPr algn="l">
              <a:defRPr sz="1800" b="1">
                <a:solidFill>
                  <a:srgbClr val="DE5A1D"/>
                </a:solidFill>
              </a:defRPr>
            </a:lvl5pPr>
            <a:lvl6pPr algn="l">
              <a:defRPr sz="1800" b="1">
                <a:solidFill>
                  <a:srgbClr val="DE5A1D"/>
                </a:solidFill>
              </a:defRPr>
            </a:lvl6pPr>
            <a:lvl7pPr algn="l">
              <a:defRPr sz="1800" b="1">
                <a:solidFill>
                  <a:srgbClr val="DE5A1D"/>
                </a:solidFill>
              </a:defRPr>
            </a:lvl7pPr>
            <a:lvl8pPr algn="l">
              <a:defRPr sz="1800" b="1">
                <a:solidFill>
                  <a:srgbClr val="DE5A1D"/>
                </a:solidFill>
              </a:defRPr>
            </a:lvl8pPr>
            <a:lvl9pPr algn="l">
              <a:defRPr sz="180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DE5A1D"/>
                </a:solidFill>
              </a:defRPr>
            </a:pPr>
            <a:r>
              <a:rPr sz="1800" b="1">
                <a:solidFill>
                  <a:srgbClr val="DE5A1D"/>
                </a:solidFill>
              </a:rPr>
              <a:t>Current claim: a demonstrable monitoring prototype with measured limitations.</a:t>
            </a:r>
          </a:p>
        </p:txBody>
      </p:sp>
    </p:spTree>
    <p:extLst>
      <p:ext uri="{BB962C8B-B14F-4D97-AF65-F5344CB8AC3E}">
        <p14:creationId xmlns:p14="http://schemas.microsoft.com/office/powerpoint/2010/main" val="8557420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00ED71-80A8-4A3F-BB50-62A6A5A4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DE5A1D"/>
                </a:solidFill>
              </a:defRPr>
            </a:defPPr>
            <a:lvl1pPr algn="l">
              <a:defRPr sz="1125" b="1">
                <a:solidFill>
                  <a:srgbClr val="DE5A1D"/>
                </a:solidFill>
              </a:defRPr>
            </a:lvl1pPr>
            <a:lvl2pPr algn="l">
              <a:defRPr sz="1125" b="1">
                <a:solidFill>
                  <a:srgbClr val="DE5A1D"/>
                </a:solidFill>
              </a:defRPr>
            </a:lvl2pPr>
            <a:lvl3pPr algn="l">
              <a:defRPr sz="1125" b="1">
                <a:solidFill>
                  <a:srgbClr val="DE5A1D"/>
                </a:solidFill>
              </a:defRPr>
            </a:lvl3pPr>
            <a:lvl4pPr algn="l">
              <a:defRPr sz="1125" b="1">
                <a:solidFill>
                  <a:srgbClr val="DE5A1D"/>
                </a:solidFill>
              </a:defRPr>
            </a:lvl4pPr>
            <a:lvl5pPr algn="l">
              <a:defRPr sz="1125" b="1">
                <a:solidFill>
                  <a:srgbClr val="DE5A1D"/>
                </a:solidFill>
              </a:defRPr>
            </a:lvl5pPr>
            <a:lvl6pPr algn="l">
              <a:defRPr sz="1125" b="1">
                <a:solidFill>
                  <a:srgbClr val="DE5A1D"/>
                </a:solidFill>
              </a:defRPr>
            </a:lvl6pPr>
            <a:lvl7pPr algn="l">
              <a:defRPr sz="1125" b="1">
                <a:solidFill>
                  <a:srgbClr val="DE5A1D"/>
                </a:solidFill>
              </a:defRPr>
            </a:lvl7pPr>
            <a:lvl8pPr algn="l">
              <a:defRPr sz="1125" b="1">
                <a:solidFill>
                  <a:srgbClr val="DE5A1D"/>
                </a:solidFill>
              </a:defRPr>
            </a:lvl8pPr>
            <a:lvl9pPr algn="l">
              <a:defRPr sz="112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DE5A1D"/>
                </a:solidFill>
              </a:defRPr>
            </a:pPr>
            <a:r>
              <a:rPr sz="1125" b="1">
                <a:solidFill>
                  <a:srgbClr val="DE5A1D"/>
                </a:solidFill>
              </a:rPr>
              <a:t>NEXT RESEARCH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5365F8-4AC7-4E39-860B-57EC2387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191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000" b="1">
                <a:solidFill>
                  <a:srgbClr val="F7F7F5"/>
                </a:solidFill>
              </a:defRPr>
            </a:defPPr>
            <a:lvl1pPr algn="l">
              <a:defRPr sz="3000" b="1">
                <a:solidFill>
                  <a:srgbClr val="F7F7F5"/>
                </a:solidFill>
              </a:defRPr>
            </a:lvl1pPr>
            <a:lvl2pPr algn="l">
              <a:defRPr sz="3000" b="1">
                <a:solidFill>
                  <a:srgbClr val="F7F7F5"/>
                </a:solidFill>
              </a:defRPr>
            </a:lvl2pPr>
            <a:lvl3pPr algn="l">
              <a:defRPr sz="3000" b="1">
                <a:solidFill>
                  <a:srgbClr val="F7F7F5"/>
                </a:solidFill>
              </a:defRPr>
            </a:lvl3pPr>
            <a:lvl4pPr algn="l">
              <a:defRPr sz="3000" b="1">
                <a:solidFill>
                  <a:srgbClr val="F7F7F5"/>
                </a:solidFill>
              </a:defRPr>
            </a:lvl4pPr>
            <a:lvl5pPr algn="l">
              <a:defRPr sz="3000" b="1">
                <a:solidFill>
                  <a:srgbClr val="F7F7F5"/>
                </a:solidFill>
              </a:defRPr>
            </a:lvl5pPr>
            <a:lvl6pPr algn="l">
              <a:defRPr sz="3000" b="1">
                <a:solidFill>
                  <a:srgbClr val="F7F7F5"/>
                </a:solidFill>
              </a:defRPr>
            </a:lvl6pPr>
            <a:lvl7pPr algn="l">
              <a:defRPr sz="3000" b="1">
                <a:solidFill>
                  <a:srgbClr val="F7F7F5"/>
                </a:solidFill>
              </a:defRPr>
            </a:lvl7pPr>
            <a:lvl8pPr algn="l">
              <a:defRPr sz="3000" b="1">
                <a:solidFill>
                  <a:srgbClr val="F7F7F5"/>
                </a:solidFill>
              </a:defRPr>
            </a:lvl8pPr>
            <a:lvl9pPr algn="l">
              <a:defRPr sz="30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7F7F5"/>
                </a:solidFill>
              </a:defRPr>
            </a:pPr>
            <a:r>
              <a:rPr sz="3000" b="1">
                <a:solidFill>
                  <a:srgbClr val="F7F7F5"/>
                </a:solidFill>
              </a:rPr>
              <a:t>What remains before a deployment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C5CEB3-DD22-4095-84F4-B45B6539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428625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050" b="0">
                <a:solidFill>
                  <a:srgbClr val="777774"/>
                </a:solidFill>
              </a:defRPr>
            </a:defPPr>
            <a:lvl1pPr algn="r">
              <a:defRPr sz="1050" b="0">
                <a:solidFill>
                  <a:srgbClr val="777774"/>
                </a:solidFill>
              </a:defRPr>
            </a:lvl1pPr>
            <a:lvl2pPr algn="r">
              <a:defRPr sz="1050" b="0">
                <a:solidFill>
                  <a:srgbClr val="777774"/>
                </a:solidFill>
              </a:defRPr>
            </a:lvl2pPr>
            <a:lvl3pPr algn="r">
              <a:defRPr sz="1050" b="0">
                <a:solidFill>
                  <a:srgbClr val="777774"/>
                </a:solidFill>
              </a:defRPr>
            </a:lvl3pPr>
            <a:lvl4pPr algn="r">
              <a:defRPr sz="1050" b="0">
                <a:solidFill>
                  <a:srgbClr val="777774"/>
                </a:solidFill>
              </a:defRPr>
            </a:lvl4pPr>
            <a:lvl5pPr algn="r">
              <a:defRPr sz="1050" b="0">
                <a:solidFill>
                  <a:srgbClr val="777774"/>
                </a:solidFill>
              </a:defRPr>
            </a:lvl5pPr>
            <a:lvl6pPr algn="r">
              <a:defRPr sz="1050" b="0">
                <a:solidFill>
                  <a:srgbClr val="777774"/>
                </a:solidFill>
              </a:defRPr>
            </a:lvl6pPr>
            <a:lvl7pPr algn="r">
              <a:defRPr sz="1050" b="0">
                <a:solidFill>
                  <a:srgbClr val="777774"/>
                </a:solidFill>
              </a:defRPr>
            </a:lvl7pPr>
            <a:lvl8pPr algn="r">
              <a:defRPr sz="1050" b="0">
                <a:solidFill>
                  <a:srgbClr val="777774"/>
                </a:solidFill>
              </a:defRPr>
            </a:lvl8pPr>
            <a:lvl9pPr algn="r">
              <a:defRPr sz="1050" b="0">
                <a:solidFill>
                  <a:srgbClr val="777774"/>
                </a:solidFill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777774"/>
                </a:solidFill>
              </a:defRPr>
            </a:pPr>
            <a:r>
              <a:rPr sz="1050" b="0">
                <a:solidFill>
                  <a:srgbClr val="777774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CF53BC-8E3A-4C77-AF86-BD07C716B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025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DE5A1D"/>
                </a:solidFill>
              </a:defRPr>
            </a:defPPr>
            <a:lvl1pPr algn="l">
              <a:defRPr sz="2250" b="1">
                <a:solidFill>
                  <a:srgbClr val="DE5A1D"/>
                </a:solidFill>
              </a:defRPr>
            </a:lvl1pPr>
            <a:lvl2pPr algn="l">
              <a:defRPr sz="2250" b="1">
                <a:solidFill>
                  <a:srgbClr val="DE5A1D"/>
                </a:solidFill>
              </a:defRPr>
            </a:lvl2pPr>
            <a:lvl3pPr algn="l">
              <a:defRPr sz="2250" b="1">
                <a:solidFill>
                  <a:srgbClr val="DE5A1D"/>
                </a:solidFill>
              </a:defRPr>
            </a:lvl3pPr>
            <a:lvl4pPr algn="l">
              <a:defRPr sz="2250" b="1">
                <a:solidFill>
                  <a:srgbClr val="DE5A1D"/>
                </a:solidFill>
              </a:defRPr>
            </a:lvl4pPr>
            <a:lvl5pPr algn="l">
              <a:defRPr sz="2250" b="1">
                <a:solidFill>
                  <a:srgbClr val="DE5A1D"/>
                </a:solidFill>
              </a:defRPr>
            </a:lvl5pPr>
            <a:lvl6pPr algn="l">
              <a:defRPr sz="2250" b="1">
                <a:solidFill>
                  <a:srgbClr val="DE5A1D"/>
                </a:solidFill>
              </a:defRPr>
            </a:lvl6pPr>
            <a:lvl7pPr algn="l">
              <a:defRPr sz="2250" b="1">
                <a:solidFill>
                  <a:srgbClr val="DE5A1D"/>
                </a:solidFill>
              </a:defRPr>
            </a:lvl7pPr>
            <a:lvl8pPr algn="l">
              <a:defRPr sz="2250" b="1">
                <a:solidFill>
                  <a:srgbClr val="DE5A1D"/>
                </a:solidFill>
              </a:defRPr>
            </a:lvl8pPr>
            <a:lvl9pPr algn="l">
              <a:defRPr sz="2250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E5A1D"/>
                </a:solidFill>
              </a:defRPr>
            </a:pPr>
            <a:r>
              <a:rPr sz="2250" b="1">
                <a:solidFill>
                  <a:srgbClr val="DE5A1D"/>
                </a:solidFill>
              </a:rPr>
              <a:t>The main gap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6EB7CA-D553-4210-9E56-898E397D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100012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F7F7F5"/>
                </a:solidFill>
              </a:defRPr>
            </a:defPPr>
            <a:lvl1pPr algn="l">
              <a:defRPr sz="2250" b="0">
                <a:solidFill>
                  <a:srgbClr val="F7F7F5"/>
                </a:solidFill>
              </a:defRPr>
            </a:lvl1pPr>
            <a:lvl2pPr algn="l">
              <a:defRPr sz="2250" b="0">
                <a:solidFill>
                  <a:srgbClr val="F7F7F5"/>
                </a:solidFill>
              </a:defRPr>
            </a:lvl2pPr>
            <a:lvl3pPr algn="l">
              <a:defRPr sz="2250" b="0">
                <a:solidFill>
                  <a:srgbClr val="F7F7F5"/>
                </a:solidFill>
              </a:defRPr>
            </a:lvl3pPr>
            <a:lvl4pPr algn="l">
              <a:defRPr sz="2250" b="0">
                <a:solidFill>
                  <a:srgbClr val="F7F7F5"/>
                </a:solidFill>
              </a:defRPr>
            </a:lvl4pPr>
            <a:lvl5pPr algn="l">
              <a:defRPr sz="2250" b="0">
                <a:solidFill>
                  <a:srgbClr val="F7F7F5"/>
                </a:solidFill>
              </a:defRPr>
            </a:lvl5pPr>
            <a:lvl6pPr algn="l">
              <a:defRPr sz="2250" b="0">
                <a:solidFill>
                  <a:srgbClr val="F7F7F5"/>
                </a:solidFill>
              </a:defRPr>
            </a:lvl6pPr>
            <a:lvl7pPr algn="l">
              <a:defRPr sz="2250" b="0">
                <a:solidFill>
                  <a:srgbClr val="F7F7F5"/>
                </a:solidFill>
              </a:defRPr>
            </a:lvl7pPr>
            <a:lvl8pPr algn="l">
              <a:defRPr sz="2250" b="0">
                <a:solidFill>
                  <a:srgbClr val="F7F7F5"/>
                </a:solidFill>
              </a:defRPr>
            </a:lvl8pPr>
            <a:lvl9pPr algn="l">
              <a:defRPr sz="2250" b="0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F7F7F5"/>
                </a:solidFill>
              </a:defRPr>
            </a:pPr>
            <a:r>
              <a:rPr sz="2250" b="0">
                <a:solidFill>
                  <a:srgbClr val="F7F7F5"/>
                </a:solidFill>
              </a:rPr>
              <a:t>No independent, capture-held-out packet-window benchmark yet measures live precision, recall or false alarms.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E7E15-1C08-4714-BD4F-32C4D998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5292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DEA157-EBAE-439F-B26E-0DE577C2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4352925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Collect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43C163-47B5-42D1-96DA-0FF127F6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371975"/>
            <a:ext cx="719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B6B6B3"/>
                </a:solidFill>
              </a:defRPr>
            </a:defPPr>
            <a:lvl1pPr algn="l">
              <a:defRPr sz="1650" b="0">
                <a:solidFill>
                  <a:srgbClr val="B6B6B3"/>
                </a:solidFill>
              </a:defRPr>
            </a:lvl1pPr>
            <a:lvl2pPr algn="l">
              <a:defRPr sz="1650" b="0">
                <a:solidFill>
                  <a:srgbClr val="B6B6B3"/>
                </a:solidFill>
              </a:defRPr>
            </a:lvl2pPr>
            <a:lvl3pPr algn="l">
              <a:defRPr sz="1650" b="0">
                <a:solidFill>
                  <a:srgbClr val="B6B6B3"/>
                </a:solidFill>
              </a:defRPr>
            </a:lvl3pPr>
            <a:lvl4pPr algn="l">
              <a:defRPr sz="1650" b="0">
                <a:solidFill>
                  <a:srgbClr val="B6B6B3"/>
                </a:solidFill>
              </a:defRPr>
            </a:lvl4pPr>
            <a:lvl5pPr algn="l">
              <a:defRPr sz="1650" b="0">
                <a:solidFill>
                  <a:srgbClr val="B6B6B3"/>
                </a:solidFill>
              </a:defRPr>
            </a:lvl5pPr>
            <a:lvl6pPr algn="l">
              <a:defRPr sz="1650" b="0">
                <a:solidFill>
                  <a:srgbClr val="B6B6B3"/>
                </a:solidFill>
              </a:defRPr>
            </a:lvl6pPr>
            <a:lvl7pPr algn="l">
              <a:defRPr sz="1650" b="0">
                <a:solidFill>
                  <a:srgbClr val="B6B6B3"/>
                </a:solidFill>
              </a:defRPr>
            </a:lvl7pPr>
            <a:lvl8pPr algn="l">
              <a:defRPr sz="1650" b="0">
                <a:solidFill>
                  <a:srgbClr val="B6B6B3"/>
                </a:solidFill>
              </a:defRPr>
            </a:lvl8pPr>
            <a:lvl9pPr algn="l">
              <a:defRPr sz="16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B6B3"/>
                </a:solidFill>
              </a:defRPr>
            </a:pPr>
            <a:r>
              <a:rPr sz="1650" b="0">
                <a:solidFill>
                  <a:srgbClr val="B6B6B3"/>
                </a:solidFill>
              </a:rPr>
              <a:t>More independently labeled benign and attack captures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25242-C2C8-401B-B31C-83F2D2A4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720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DE5A1D"/>
                </a:solidFill>
              </a:defRPr>
            </a:defPPr>
            <a:lvl1pPr algn="l">
              <a:defRPr sz="1875" b="1">
                <a:solidFill>
                  <a:srgbClr val="DE5A1D"/>
                </a:solidFill>
              </a:defRPr>
            </a:lvl1pPr>
            <a:lvl2pPr algn="l">
              <a:defRPr sz="1875" b="1">
                <a:solidFill>
                  <a:srgbClr val="DE5A1D"/>
                </a:solidFill>
              </a:defRPr>
            </a:lvl2pPr>
            <a:lvl3pPr algn="l">
              <a:defRPr sz="1875" b="1">
                <a:solidFill>
                  <a:srgbClr val="DE5A1D"/>
                </a:solidFill>
              </a:defRPr>
            </a:lvl3pPr>
            <a:lvl4pPr algn="l">
              <a:defRPr sz="1875" b="1">
                <a:solidFill>
                  <a:srgbClr val="DE5A1D"/>
                </a:solidFill>
              </a:defRPr>
            </a:lvl4pPr>
            <a:lvl5pPr algn="l">
              <a:defRPr sz="1875" b="1">
                <a:solidFill>
                  <a:srgbClr val="DE5A1D"/>
                </a:solidFill>
              </a:defRPr>
            </a:lvl5pPr>
            <a:lvl6pPr algn="l">
              <a:defRPr sz="1875" b="1">
                <a:solidFill>
                  <a:srgbClr val="DE5A1D"/>
                </a:solidFill>
              </a:defRPr>
            </a:lvl6pPr>
            <a:lvl7pPr algn="l">
              <a:defRPr sz="1875" b="1">
                <a:solidFill>
                  <a:srgbClr val="DE5A1D"/>
                </a:solidFill>
              </a:defRPr>
            </a:lvl7pPr>
            <a:lvl8pPr algn="l">
              <a:defRPr sz="1875" b="1">
                <a:solidFill>
                  <a:srgbClr val="DE5A1D"/>
                </a:solidFill>
              </a:defRPr>
            </a:lvl8pPr>
            <a:lvl9pPr algn="l">
              <a:defRPr sz="18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DE5A1D"/>
                </a:solidFill>
              </a:defRPr>
            </a:pPr>
            <a:r>
              <a:rPr sz="1875" b="1">
                <a:solidFill>
                  <a:srgbClr val="DE5A1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FA0426-3A71-4E74-8789-F140A71D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5172075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F7F7F5"/>
                </a:solidFill>
              </a:defRPr>
            </a:defPPr>
            <a:lvl1pPr algn="l">
              <a:defRPr sz="1950" b="1">
                <a:solidFill>
                  <a:srgbClr val="F7F7F5"/>
                </a:solidFill>
              </a:defRPr>
            </a:lvl1pPr>
            <a:lvl2pPr algn="l">
              <a:defRPr sz="1950" b="1">
                <a:solidFill>
                  <a:srgbClr val="F7F7F5"/>
                </a:solidFill>
              </a:defRPr>
            </a:lvl2pPr>
            <a:lvl3pPr algn="l">
              <a:defRPr sz="1950" b="1">
                <a:solidFill>
                  <a:srgbClr val="F7F7F5"/>
                </a:solidFill>
              </a:defRPr>
            </a:lvl3pPr>
            <a:lvl4pPr algn="l">
              <a:defRPr sz="1950" b="1">
                <a:solidFill>
                  <a:srgbClr val="F7F7F5"/>
                </a:solidFill>
              </a:defRPr>
            </a:lvl4pPr>
            <a:lvl5pPr algn="l">
              <a:defRPr sz="1950" b="1">
                <a:solidFill>
                  <a:srgbClr val="F7F7F5"/>
                </a:solidFill>
              </a:defRPr>
            </a:lvl5pPr>
            <a:lvl6pPr algn="l">
              <a:defRPr sz="1950" b="1">
                <a:solidFill>
                  <a:srgbClr val="F7F7F5"/>
                </a:solidFill>
              </a:defRPr>
            </a:lvl6pPr>
            <a:lvl7pPr algn="l">
              <a:defRPr sz="1950" b="1">
                <a:solidFill>
                  <a:srgbClr val="F7F7F5"/>
                </a:solidFill>
              </a:defRPr>
            </a:lvl7pPr>
            <a:lvl8pPr algn="l">
              <a:defRPr sz="1950" b="1">
                <a:solidFill>
                  <a:srgbClr val="F7F7F5"/>
                </a:solidFill>
              </a:defRPr>
            </a:lvl8pPr>
            <a:lvl9pPr algn="l">
              <a:defRPr sz="195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F7F7F5"/>
                </a:solidFill>
              </a:defRPr>
            </a:pPr>
            <a:r>
              <a:rPr sz="1950" b="1">
                <a:solidFill>
                  <a:srgbClr val="F7F7F5"/>
                </a:solidFill>
              </a:rPr>
              <a:t>Verify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6CE0B9-9710-4EB8-9ACE-4841FBD2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191125"/>
            <a:ext cx="719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B6B6B3"/>
                </a:solidFill>
              </a:defRPr>
            </a:defPPr>
            <a:lvl1pPr algn="l">
              <a:defRPr sz="1650" b="0">
                <a:solidFill>
                  <a:srgbClr val="B6B6B3"/>
                </a:solidFill>
              </a:defRPr>
            </a:lvl1pPr>
            <a:lvl2pPr algn="l">
              <a:defRPr sz="1650" b="0">
                <a:solidFill>
                  <a:srgbClr val="B6B6B3"/>
                </a:solidFill>
              </a:defRPr>
            </a:lvl2pPr>
            <a:lvl3pPr algn="l">
              <a:defRPr sz="1650" b="0">
                <a:solidFill>
                  <a:srgbClr val="B6B6B3"/>
                </a:solidFill>
              </a:defRPr>
            </a:lvl3pPr>
            <a:lvl4pPr algn="l">
              <a:defRPr sz="1650" b="0">
                <a:solidFill>
                  <a:srgbClr val="B6B6B3"/>
                </a:solidFill>
              </a:defRPr>
            </a:lvl4pPr>
            <a:lvl5pPr algn="l">
              <a:defRPr sz="1650" b="0">
                <a:solidFill>
                  <a:srgbClr val="B6B6B3"/>
                </a:solidFill>
              </a:defRPr>
            </a:lvl5pPr>
            <a:lvl6pPr algn="l">
              <a:defRPr sz="1650" b="0">
                <a:solidFill>
                  <a:srgbClr val="B6B6B3"/>
                </a:solidFill>
              </a:defRPr>
            </a:lvl6pPr>
            <a:lvl7pPr algn="l">
              <a:defRPr sz="1650" b="0">
                <a:solidFill>
                  <a:srgbClr val="B6B6B3"/>
                </a:solidFill>
              </a:defRPr>
            </a:lvl7pPr>
            <a:lvl8pPr algn="l">
              <a:defRPr sz="1650" b="0">
                <a:solidFill>
                  <a:srgbClr val="B6B6B3"/>
                </a:solidFill>
              </a:defRPr>
            </a:lvl8pPr>
            <a:lvl9pPr algn="l">
              <a:defRPr sz="1650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B6B6B3"/>
                </a:solidFill>
              </a:defRPr>
            </a:pPr>
            <a:r>
              <a:rPr sz="1650" b="0">
                <a:solidFill>
                  <a:srgbClr val="B6B6B3"/>
                </a:solidFill>
              </a:rPr>
              <a:t>Capture timing, labels and feature alignment</a:t>
            </a:r>
          </a:p>
        </p:txBody>
      </p:sp>
    </p:spTree>
    <p:extLst>
      <p:ext uri="{BB962C8B-B14F-4D97-AF65-F5344CB8AC3E}">
        <p14:creationId xmlns:p14="http://schemas.microsoft.com/office/powerpoint/2010/main" val="128524940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50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BAA27-8A54-4801-A4DA-F003C747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85800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DE5A1D"/>
                </a:solidFill>
              </a:defRPr>
            </a:defPPr>
            <a:lvl1pPr algn="l">
              <a:defRPr sz="1275" b="1">
                <a:solidFill>
                  <a:srgbClr val="DE5A1D"/>
                </a:solidFill>
              </a:defRPr>
            </a:lvl1pPr>
            <a:lvl2pPr algn="l">
              <a:defRPr sz="1275" b="1">
                <a:solidFill>
                  <a:srgbClr val="DE5A1D"/>
                </a:solidFill>
              </a:defRPr>
            </a:lvl2pPr>
            <a:lvl3pPr algn="l">
              <a:defRPr sz="1275" b="1">
                <a:solidFill>
                  <a:srgbClr val="DE5A1D"/>
                </a:solidFill>
              </a:defRPr>
            </a:lvl3pPr>
            <a:lvl4pPr algn="l">
              <a:defRPr sz="1275" b="1">
                <a:solidFill>
                  <a:srgbClr val="DE5A1D"/>
                </a:solidFill>
              </a:defRPr>
            </a:lvl4pPr>
            <a:lvl5pPr algn="l">
              <a:defRPr sz="1275" b="1">
                <a:solidFill>
                  <a:srgbClr val="DE5A1D"/>
                </a:solidFill>
              </a:defRPr>
            </a:lvl5pPr>
            <a:lvl6pPr algn="l">
              <a:defRPr sz="1275" b="1">
                <a:solidFill>
                  <a:srgbClr val="DE5A1D"/>
                </a:solidFill>
              </a:defRPr>
            </a:lvl6pPr>
            <a:lvl7pPr algn="l">
              <a:defRPr sz="1275" b="1">
                <a:solidFill>
                  <a:srgbClr val="DE5A1D"/>
                </a:solidFill>
              </a:defRPr>
            </a:lvl7pPr>
            <a:lvl8pPr algn="l">
              <a:defRPr sz="1275" b="1">
                <a:solidFill>
                  <a:srgbClr val="DE5A1D"/>
                </a:solidFill>
              </a:defRPr>
            </a:lvl8pPr>
            <a:lvl9pPr algn="l">
              <a:defRPr sz="1275" b="1">
                <a:solidFill>
                  <a:srgbClr val="DE5A1D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DE5A1D"/>
                </a:solidFill>
              </a:defRPr>
            </a:pPr>
            <a:r>
              <a:rPr sz="1275" b="1">
                <a:solidFill>
                  <a:srgbClr val="DE5A1D"/>
                </a:solidFill>
              </a:rPr>
              <a:t>SENTINELSHIELD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21F2B3-EB3C-4E35-A088-6C04481C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1066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5700" b="1">
                <a:solidFill>
                  <a:srgbClr val="F7F7F5"/>
                </a:solidFill>
              </a:defRPr>
            </a:defPPr>
            <a:lvl1pPr algn="l">
              <a:defRPr sz="5700" b="1">
                <a:solidFill>
                  <a:srgbClr val="F7F7F5"/>
                </a:solidFill>
              </a:defRPr>
            </a:lvl1pPr>
            <a:lvl2pPr algn="l">
              <a:defRPr sz="5700" b="1">
                <a:solidFill>
                  <a:srgbClr val="F7F7F5"/>
                </a:solidFill>
              </a:defRPr>
            </a:lvl2pPr>
            <a:lvl3pPr algn="l">
              <a:defRPr sz="5700" b="1">
                <a:solidFill>
                  <a:srgbClr val="F7F7F5"/>
                </a:solidFill>
              </a:defRPr>
            </a:lvl3pPr>
            <a:lvl4pPr algn="l">
              <a:defRPr sz="5700" b="1">
                <a:solidFill>
                  <a:srgbClr val="F7F7F5"/>
                </a:solidFill>
              </a:defRPr>
            </a:lvl4pPr>
            <a:lvl5pPr algn="l">
              <a:defRPr sz="5700" b="1">
                <a:solidFill>
                  <a:srgbClr val="F7F7F5"/>
                </a:solidFill>
              </a:defRPr>
            </a:lvl5pPr>
            <a:lvl6pPr algn="l">
              <a:defRPr sz="5700" b="1">
                <a:solidFill>
                  <a:srgbClr val="F7F7F5"/>
                </a:solidFill>
              </a:defRPr>
            </a:lvl6pPr>
            <a:lvl7pPr algn="l">
              <a:defRPr sz="5700" b="1">
                <a:solidFill>
                  <a:srgbClr val="F7F7F5"/>
                </a:solidFill>
              </a:defRPr>
            </a:lvl7pPr>
            <a:lvl8pPr algn="l">
              <a:defRPr sz="5700" b="1">
                <a:solidFill>
                  <a:srgbClr val="F7F7F5"/>
                </a:solidFill>
              </a:defRPr>
            </a:lvl8pPr>
            <a:lvl9pPr algn="l">
              <a:defRPr sz="5700" b="1">
                <a:solidFill>
                  <a:srgbClr val="F7F7F5"/>
                </a:solidFill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F7F7F5"/>
                </a:solidFill>
              </a:defRPr>
            </a:pPr>
            <a:r>
              <a:rPr sz="5700" b="1">
                <a:solidFill>
                  <a:srgbClr val="F7F7F5"/>
                </a:solidFill>
              </a:rPr>
              <a:t>Thank you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413703-E5D6-4967-A653-3F4A4649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762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325" b="0">
                <a:solidFill>
                  <a:srgbClr val="B6B6B3"/>
                </a:solidFill>
              </a:defRPr>
            </a:defPPr>
            <a:lvl1pPr algn="l">
              <a:defRPr sz="2325" b="0">
                <a:solidFill>
                  <a:srgbClr val="B6B6B3"/>
                </a:solidFill>
              </a:defRPr>
            </a:lvl1pPr>
            <a:lvl2pPr algn="l">
              <a:defRPr sz="2325" b="0">
                <a:solidFill>
                  <a:srgbClr val="B6B6B3"/>
                </a:solidFill>
              </a:defRPr>
            </a:lvl2pPr>
            <a:lvl3pPr algn="l">
              <a:defRPr sz="2325" b="0">
                <a:solidFill>
                  <a:srgbClr val="B6B6B3"/>
                </a:solidFill>
              </a:defRPr>
            </a:lvl3pPr>
            <a:lvl4pPr algn="l">
              <a:defRPr sz="2325" b="0">
                <a:solidFill>
                  <a:srgbClr val="B6B6B3"/>
                </a:solidFill>
              </a:defRPr>
            </a:lvl4pPr>
            <a:lvl5pPr algn="l">
              <a:defRPr sz="2325" b="0">
                <a:solidFill>
                  <a:srgbClr val="B6B6B3"/>
                </a:solidFill>
              </a:defRPr>
            </a:lvl5pPr>
            <a:lvl6pPr algn="l">
              <a:defRPr sz="2325" b="0">
                <a:solidFill>
                  <a:srgbClr val="B6B6B3"/>
                </a:solidFill>
              </a:defRPr>
            </a:lvl6pPr>
            <a:lvl7pPr algn="l">
              <a:defRPr sz="2325" b="0">
                <a:solidFill>
                  <a:srgbClr val="B6B6B3"/>
                </a:solidFill>
              </a:defRPr>
            </a:lvl7pPr>
            <a:lvl8pPr algn="l">
              <a:defRPr sz="2325" b="0">
                <a:solidFill>
                  <a:srgbClr val="B6B6B3"/>
                </a:solidFill>
              </a:defRPr>
            </a:lvl8pPr>
            <a:lvl9pPr algn="l">
              <a:defRPr sz="2325" b="0">
                <a:solidFill>
                  <a:srgbClr val="B6B6B3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B6B6B3"/>
                </a:solidFill>
              </a:defRPr>
            </a:pPr>
            <a:r>
              <a:rPr sz="2325" b="0">
                <a:solidFill>
                  <a:srgbClr val="B6B6B3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8755653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2026-10-20T11:03:17.4950000Z</dcterms:created>
  <dcterms:modified xsi:type="dcterms:W3CDTF">2026-10-20T11:03:17.4950000Z</dcterms:modified>
</coreProperties>
</file>