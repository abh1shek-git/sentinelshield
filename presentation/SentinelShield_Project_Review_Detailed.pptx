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4438acb0df4bc1" /><Relationship Type="http://schemas.openxmlformats.org/officeDocument/2006/relationships/extended-properties" Target="/docProps/app.xml" Id="R9b8d6a55092c495b" /><Relationship Type="http://schemas.openxmlformats.org/officeDocument/2006/relationships/officeDocument" Target="/ppt/presentation.xml" Id="R9ac6058f0d544103" /></Relationships>
</file>

<file path=ppt/presentation.xml><?xml version="1.0" encoding="utf-8"?>
<p:presentation xmlns:p="http://schemas.openxmlformats.org/presentationml/2006/main">
  <p:sldMasterIdLst>
    <p:sldMasterId xmlns:r="http://schemas.openxmlformats.org/officeDocument/2006/relationships" id="2147483648" r:id="R3aabc21d24894973"/>
  </p:sldMasterIdLst>
  <p:notesMasterIdLst>
    <p:notesMasterId xmlns:r="http://schemas.openxmlformats.org/officeDocument/2006/relationships" r:id="R5709798ca74148e4"/>
  </p:notesMasterIdLst>
  <p:sldIdLst>
    <p:sldId xmlns:r="http://schemas.openxmlformats.org/officeDocument/2006/relationships" id="256" r:id="Rc433e86dc2644a80"/>
    <p:sldId xmlns:r="http://schemas.openxmlformats.org/officeDocument/2006/relationships" id="257" r:id="Ra7bdbaabbce34615"/>
    <p:sldId xmlns:r="http://schemas.openxmlformats.org/officeDocument/2006/relationships" id="258" r:id="Rb0d95812d69742de"/>
    <p:sldId xmlns:r="http://schemas.openxmlformats.org/officeDocument/2006/relationships" id="259" r:id="R3ebcc0b511664b63"/>
    <p:sldId xmlns:r="http://schemas.openxmlformats.org/officeDocument/2006/relationships" id="260" r:id="Rb349e9649ae945b0"/>
    <p:sldId xmlns:r="http://schemas.openxmlformats.org/officeDocument/2006/relationships" id="261" r:id="R193945186d2c4ad2"/>
    <p:sldId xmlns:r="http://schemas.openxmlformats.org/officeDocument/2006/relationships" id="262" r:id="R8588e117ad5044b6"/>
    <p:sldId xmlns:r="http://schemas.openxmlformats.org/officeDocument/2006/relationships" id="263" r:id="R411f0248710e4a48"/>
    <p:sldId xmlns:r="http://schemas.openxmlformats.org/officeDocument/2006/relationships" id="264" r:id="Rf0f209e51dec4fea"/>
    <p:sldId xmlns:r="http://schemas.openxmlformats.org/officeDocument/2006/relationships" id="265" r:id="R10a2168584974872"/>
    <p:sldId xmlns:r="http://schemas.openxmlformats.org/officeDocument/2006/relationships" id="266" r:id="R8b7ad8b1741e4779"/>
    <p:sldId xmlns:r="http://schemas.openxmlformats.org/officeDocument/2006/relationships" id="267" r:id="Rf9ec43a11b424b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37a251c9b54ecf" /><Relationship Type="http://schemas.openxmlformats.org/officeDocument/2006/relationships/slideMaster" Target="/ppt/slideMasters/slideMaster1.xml" Id="R3aabc21d24894973" /><Relationship Type="http://schemas.openxmlformats.org/officeDocument/2006/relationships/notesMaster" Target="/ppt/notesMasters/notesMaster1.xml" Id="R5709798ca74148e4" /><Relationship Type="http://schemas.openxmlformats.org/officeDocument/2006/relationships/presProps" Target="/ppt/presProps.xml" Id="R613746c448844e45" /><Relationship Type="http://schemas.openxmlformats.org/officeDocument/2006/relationships/tableStyles" Target="/ppt/tableStyles.xml" Id="Rd70b6754c24847a9" /><Relationship Type="http://schemas.openxmlformats.org/officeDocument/2006/relationships/slide" Target="/ppt/slides/slide1.xml" Id="Rc433e86dc2644a80" /><Relationship Type="http://schemas.openxmlformats.org/officeDocument/2006/relationships/slide" Target="/ppt/slides/slide2.xml" Id="Ra7bdbaabbce34615" /><Relationship Type="http://schemas.openxmlformats.org/officeDocument/2006/relationships/slide" Target="/ppt/slides/slide3.xml" Id="Rb0d95812d69742de" /><Relationship Type="http://schemas.openxmlformats.org/officeDocument/2006/relationships/slide" Target="/ppt/slides/slide4.xml" Id="R3ebcc0b511664b63" /><Relationship Type="http://schemas.openxmlformats.org/officeDocument/2006/relationships/slide" Target="/ppt/slides/slide5.xml" Id="Rb349e9649ae945b0" /><Relationship Type="http://schemas.openxmlformats.org/officeDocument/2006/relationships/slide" Target="/ppt/slides/slide6.xml" Id="R193945186d2c4ad2" /><Relationship Type="http://schemas.openxmlformats.org/officeDocument/2006/relationships/slide" Target="/ppt/slides/slide7.xml" Id="R8588e117ad5044b6" /><Relationship Type="http://schemas.openxmlformats.org/officeDocument/2006/relationships/slide" Target="/ppt/slides/slide8.xml" Id="R411f0248710e4a48" /><Relationship Type="http://schemas.openxmlformats.org/officeDocument/2006/relationships/slide" Target="/ppt/slides/slide9.xml" Id="Rf0f209e51dec4fea" /><Relationship Type="http://schemas.openxmlformats.org/officeDocument/2006/relationships/slide" Target="/ppt/slides/slide10.xml" Id="R10a2168584974872" /><Relationship Type="http://schemas.openxmlformats.org/officeDocument/2006/relationships/slide" Target="/ppt/slides/slide11.xml" Id="R8b7ad8b1741e4779" /><Relationship Type="http://schemas.openxmlformats.org/officeDocument/2006/relationships/slide" Target="/ppt/slides/slide12.xml" Id="Rf9ec43a11b424b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57d926bed24d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ee19dfe3c14026" /><Relationship Type="http://schemas.openxmlformats.org/officeDocument/2006/relationships/notesMaster" Target="/ppt/notesMasters/notesMaster1.xml" Id="R019067e5ce5e41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f374ce8ec24ec6" /><Relationship Type="http://schemas.openxmlformats.org/officeDocument/2006/relationships/notesMaster" Target="/ppt/notesMasters/notesMaster1.xml" Id="R35d7c4fe232a4a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ec88fefc7e4f5a" /><Relationship Type="http://schemas.openxmlformats.org/officeDocument/2006/relationships/notesMaster" Target="/ppt/notesMasters/notesMaster1.xml" Id="R06338d5fbee645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b00a7e5f4b451c" /><Relationship Type="http://schemas.openxmlformats.org/officeDocument/2006/relationships/notesMaster" Target="/ppt/notesMasters/notesMaster1.xml" Id="R82fea8dc01e94f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d2241301e347e4" /><Relationship Type="http://schemas.openxmlformats.org/officeDocument/2006/relationships/notesMaster" Target="/ppt/notesMasters/notesMaster1.xml" Id="R8cd775ed72ec4b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360919f73d4de8" /><Relationship Type="http://schemas.openxmlformats.org/officeDocument/2006/relationships/notesMaster" Target="/ppt/notesMasters/notesMaster1.xml" Id="Rb14ee8a841754b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9c72dc345245ab" /><Relationship Type="http://schemas.openxmlformats.org/officeDocument/2006/relationships/notesMaster" Target="/ppt/notesMasters/notesMaster1.xml" Id="R58e3fa86e7034c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54ba23447e412f" /><Relationship Type="http://schemas.openxmlformats.org/officeDocument/2006/relationships/notesMaster" Target="/ppt/notesMasters/notesMaster1.xml" Id="Rc541683066ff40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ae7b9cffa141fd" /><Relationship Type="http://schemas.openxmlformats.org/officeDocument/2006/relationships/notesMaster" Target="/ppt/notesMasters/notesMaster1.xml" Id="Re5c2aa904a6c46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97decf93534621" /><Relationship Type="http://schemas.openxmlformats.org/officeDocument/2006/relationships/notesMaster" Target="/ppt/notesMasters/notesMaster1.xml" Id="R2538194e7d4745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8bde0d5e5b483b" /><Relationship Type="http://schemas.openxmlformats.org/officeDocument/2006/relationships/notesMaster" Target="/ppt/notesMasters/notesMaster1.xml" Id="R431c8cf9fb2f4d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affd022852478c" /><Relationship Type="http://schemas.openxmlformats.org/officeDocument/2006/relationships/notesMaster" Target="/ppt/notesMasters/notesMaster1.xml" Id="R63f22c179ab24d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local monitoring prototype built for safe demonstration and research evaluation.</a:t>
            </a:r>
          </a:p>
          <a:p xmlns:a="http://schemas.openxmlformats.org/drawingml/2006/main">
            <a:r>
              <a:t>The project does not claim proven DDoS protection or live ML accuracy.</a:t>
            </a:r>
          </a:p>
          <a:p xmlns:a="http://schemas.openxmlformats.org/drawingml/2006/main">
            <a:r>
              <a:t>Source: D:/Project/DDOS project/docs/REVIEW_BRIEF.md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system reports signals for investigation rather than a definitive attack verdict.</a:t>
            </a:r>
          </a:p>
          <a:p xmlns:a="http://schemas.openxmlformats.org/drawingml/2006/main">
            <a:r>
              <a:t>Traffic spikes can also come from legitimate activity.</a:t>
            </a:r>
          </a:p>
          <a:p xmlns:a="http://schemas.openxmlformats.org/drawingml/2006/main">
            <a:r>
              <a:t>Source: D:/Project/DDOS project/README.md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capture reader extracts metadata and does not need to store packet payloads.</a:t>
            </a:r>
          </a:p>
          <a:p xmlns:a="http://schemas.openxmlformats.org/drawingml/2006/main">
            <a:r>
              <a:t>Offline capture reading, synthetic input, and bounded opt-in live capture are implemented.</a:t>
            </a:r>
          </a:p>
          <a:p xmlns:a="http://schemas.openxmlformats.org/drawingml/2006/main">
            <a:r>
              <a:t>Source: D:/Project/DDOS project/README.md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packet rate as packets in the window divided by five seconds.</a:t>
            </a:r>
          </a:p>
          <a:p xmlns:a="http://schemas.openxmlformats.org/drawingml/2006/main">
            <a:r>
              <a:t>The SYN ratio is initial SYN-only packets divided by TCP packets. No TCP packets means a zero ratio in this implementation.</a:t>
            </a:r>
          </a:p>
          <a:p xmlns:a="http://schemas.openxmlformats.org/drawingml/2006/main">
            <a:r>
              <a:t>These measurements use packet headers and lengths, not stored payloads.</a:t>
            </a:r>
          </a:p>
          <a:p xmlns:a="http://schemas.openxmlformats.org/drawingml/2006/main">
            <a:r>
              <a:t>Source: D:/Project/DDOS project/docs/FEATURES.md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adaptive rule uses a rolling median and median absolute deviation baseline after warm-up.</a:t>
            </a:r>
          </a:p>
          <a:p xmlns:a="http://schemas.openxmlformats.org/drawingml/2006/main">
            <a:r>
              <a:t>Rule thresholds are starting points and have not been calibrated on enough independent labeled captures.</a:t>
            </a:r>
          </a:p>
          <a:p xmlns:a="http://schemas.openxmlformats.org/drawingml/2006/main">
            <a:r>
              <a:t>Source: D:/Project/DDOS project/docs/DETECTION.md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quote the synthetic demo's perfect score as real-world accuracy.</a:t>
            </a:r>
          </a:p>
          <a:p xmlns:a="http://schemas.openxmlformats.org/drawingml/2006/main">
            <a:r>
              <a:t>The offline flow-model pipeline uses a separate feature schema from the live packet-window detector.</a:t>
            </a:r>
          </a:p>
          <a:p xmlns:a="http://schemas.openxmlformats.org/drawingml/2006/main">
            <a:r>
              <a:t>Source: D:/Project/DDOS project/docs/ML_EVALUATION.md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Friday file is a flow CSV rather than raw packets. Its SHA-256, 225,745 rows, and labels match the existing evaluation report.</a:t>
            </a:r>
          </a:p>
          <a:p xmlns:a="http://schemas.openxmlformats.org/drawingml/2006/main">
            <a:r>
              <a:t>Eighteen Xena files have one packet. Their original provenance has not been verified.</a:t>
            </a:r>
          </a:p>
          <a:p xmlns:a="http://schemas.openxmlformats.org/drawingml/2006/main">
            <a:r>
              <a:t>Local source: D:/Project/DDOS project/results/review-dataset-audit.json</a:t>
            </a:r>
          </a:p>
          <a:p xmlns:a="http://schemas.openxmlformats.org/drawingml/2006/main">
            <a:r>
              <a:t>Official CIC-IDS2017 description: https://www.unb.ca/cic/datasets/ids-2017.html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flow evaluations use external files to test transfer between datasets. After the 2018 result, the 2018 file was inspected for diagnosis and is no longer an untouched final benchmark.</a:t>
            </a:r>
          </a:p>
          <a:p xmlns:a="http://schemas.openxmlformats.org/drawingml/2006/main">
            <a:r>
              <a:t>The capture-aware packet-window evaluator requires independent capture IDs. The five LUCID excerpts have only one benign capture and therefore produce no honest holdout score.</a:t>
            </a:r>
          </a:p>
          <a:p xmlns:a="http://schemas.openxmlformats.org/drawingml/2006/main">
            <a:r>
              <a:t>Sources: D:/Project/DDOS project/docs/ML_EVALUATION.md and D:/Project/DDOS project/results/lucid-capture-readiness.json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Friday result: DDoS recall 36.4%, benign false-alarm rate 24.8%. This is a separate cross-dataset flow baseline.</a:t>
            </a:r>
          </a:p>
          <a:p xmlns:a="http://schemas.openxmlformats.org/drawingml/2006/main">
            <a:r>
              <a:t>2018 result: 26 / 687,742 labeled DDoS flows detected, or 0.0038% recall. This was a separate held-out capture day before it was inspected for diagnosis.</a:t>
            </a:r>
          </a:p>
          <a:p xmlns:a="http://schemas.openxmlformats.org/drawingml/2006/main">
            <a:r>
              <a:t>Sources: D:/Project/DDOS project/results/cic-flow-baseline.json and D:/Project/DDOS project/results/cic-multisource-flow.json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Launch from the repository root: .\.venv\Scripts\python.exe -m streamlit run sentinelshield/dashboard/app.py</a:t>
            </a:r>
          </a:p>
          <a:p xmlns:a="http://schemas.openxmlformats.org/drawingml/2006/main">
            <a:r>
              <a:t>Leave the dashboard in Try a demo mode. Do not upload the 8.3 GB Thursday file because uploads are held in memory.</a:t>
            </a:r>
          </a:p>
          <a:p xmlns:a="http://schemas.openxmlformats.org/drawingml/2006/main">
            <a:r>
              <a:t>Source: D:/Project/DDOS project/docs/REVIEW_BRIEF.md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an honest scope statement: the system can monitor and explain suspicious traffic, but is not validated for deployment.</a:t>
            </a:r>
          </a:p>
          <a:p xmlns:a="http://schemas.openxmlformats.org/drawingml/2006/main">
            <a:r>
              <a:t>The capture-aware evaluator exists, but the local PCAP samples still lack enough independent benign captures for a trustworthy score.</a:t>
            </a:r>
          </a:p>
          <a:p xmlns:a="http://schemas.openxmlformats.org/drawingml/2006/main">
            <a:r>
              <a:t>Source: D:/Project/DDOS project/docs/REVIEW_BRIEF.md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Likely questions: Why rules? Where is ML? Does mitigation touch the firewall? Why are Xena files excluded?</a:t>
            </a:r>
          </a:p>
          <a:p xmlns:a="http://schemas.openxmlformats.org/drawingml/2006/main">
            <a:r>
              <a:t>See D:/Project/DDOS project/docs/REVIEW_BRIEF.md for concise answers.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7da5af080c491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af0ca113b547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f8c8ebd1b8243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fbed8660bb4f4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583398cac74d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a13b24317a46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126EA9-D8E1-4E6E-802E-7FDA922B061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33BE785-7975-4040-8B99-0420F963952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BF28E6B-73C9-4853-9F6D-07ED82E23A0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45F153-0F82-47BB-851C-A378627F0E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346701-6397-4E6C-B314-B0CF480A267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5E50C96-B34F-4A23-9124-3831BC9E5F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D3D43D-5735-403E-A13A-8855D9C53A4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071B64-DD12-4850-9987-C30CAABD8B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35B367-0B8C-449B-9586-CEB3559201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3FAA89-3F4A-4157-8C5B-6D58A0CD88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551ef2ab5b4505" /><Relationship Type="http://schemas.openxmlformats.org/officeDocument/2006/relationships/slideLayout" Target="/ppt/slideLayouts/slideLayout1.xml" Id="R1c3603440137492a" /><Relationship Type="http://schemas.openxmlformats.org/officeDocument/2006/relationships/slideLayout" Target="/ppt/slideLayouts/slideLayout2.xml" Id="R84d4ee53fdcb4443" /><Relationship Type="http://schemas.openxmlformats.org/officeDocument/2006/relationships/slideLayout" Target="/ppt/slideLayouts/slideLayout3.xml" Id="Re6107d542e124430" /><Relationship Type="http://schemas.openxmlformats.org/officeDocument/2006/relationships/slideLayout" Target="/ppt/slideLayouts/slideLayout4.xml" Id="Rf3037126a03442c5" /><Relationship Type="http://schemas.openxmlformats.org/officeDocument/2006/relationships/slideLayout" Target="/ppt/slideLayouts/slideLayout5.xml" Id="Re92856bd34fc4099" /><Relationship Type="http://schemas.openxmlformats.org/officeDocument/2006/relationships/slideLayout" Target="/ppt/slideLayouts/slideLayout6.xml" Id="Rdd7d5bda1d564a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3603440137492a"/>
    <p:sldLayoutId xmlns:r="http://schemas.openxmlformats.org/officeDocument/2006/relationships" id="2147483650" r:id="R84d4ee53fdcb4443"/>
    <p:sldLayoutId xmlns:r="http://schemas.openxmlformats.org/officeDocument/2006/relationships" id="2147483651" r:id="Re6107d542e124430"/>
    <p:sldLayoutId xmlns:r="http://schemas.openxmlformats.org/officeDocument/2006/relationships" id="2147483652" r:id="Rf3037126a03442c5"/>
    <p:sldLayoutId xmlns:r="http://schemas.openxmlformats.org/officeDocument/2006/relationships" id="2147483653" r:id="Re92856bd34fc4099"/>
    <p:sldLayoutId xmlns:r="http://schemas.openxmlformats.org/officeDocument/2006/relationships" id="2147483654" r:id="Rdd7d5bda1d564a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1f2bf9c8944aba" /><Relationship Type="http://schemas.openxmlformats.org/officeDocument/2006/relationships/notesSlide" Target="/ppt/notesSlides/notesSlide1.xml" Id="R45231a0085ea40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685905b2d64ae3" /><Relationship Type="http://schemas.openxmlformats.org/officeDocument/2006/relationships/notesSlide" Target="/ppt/notesSlides/notesSlide2.xml" Id="R2e1f61eb759a42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c43e70b75d04ec4" /><Relationship Type="http://schemas.openxmlformats.org/officeDocument/2006/relationships/notesSlide" Target="/ppt/notesSlides/notesSlide3.xml" Id="Ra358d2de981749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7bde387912c43bb" /><Relationship Type="http://schemas.openxmlformats.org/officeDocument/2006/relationships/notesSlide" Target="/ppt/notesSlides/notesSlide4.xml" Id="Rc7b02b9a4d4049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34a70c1e7cc4bb7" /><Relationship Type="http://schemas.openxmlformats.org/officeDocument/2006/relationships/notesSlide" Target="/ppt/notesSlides/notesSlide5.xml" Id="R545b4ba9b9e145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07b8354918a4f36" /><Relationship Type="http://schemas.openxmlformats.org/officeDocument/2006/relationships/notesSlide" Target="/ppt/notesSlides/notesSlide6.xml" Id="R4ec14642bc4f46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107268e9a0c48c3" /><Relationship Type="http://schemas.openxmlformats.org/officeDocument/2006/relationships/notesSlide" Target="/ppt/notesSlides/notesSlide7.xml" Id="Rd437e68639014e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68fa4dfd4ca4f2b" /><Relationship Type="http://schemas.openxmlformats.org/officeDocument/2006/relationships/notesSlide" Target="/ppt/notesSlides/notesSlide8.xml" Id="Raa9aaa3d3cbb48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224355410944e36" /><Relationship Type="http://schemas.openxmlformats.org/officeDocument/2006/relationships/notesSlide" Target="/ppt/notesSlides/notesSlide9.xml" Id="R7f01b3ce80094b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901b5e040f64456" /><Relationship Type="http://schemas.openxmlformats.org/officeDocument/2006/relationships/notesSlide" Target="/ppt/notesSlides/notesSlide10.xml" Id="R7f7bad4986094a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65dafeb120249e2" /><Relationship Type="http://schemas.openxmlformats.org/officeDocument/2006/relationships/notesSlide" Target="/ppt/notesSlides/notesSlide11.xml" Id="R9f8a3feb2c2942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7f25827c4934886" /><Relationship Type="http://schemas.openxmlformats.org/officeDocument/2006/relationships/notesSlide" Target="/ppt/notesSlides/notesSlide12.xml" Id="R1d2d9760b1e942c9"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EE4BDC-E048-4310-BBAE-7E777CBC6208}"/>
              </a:ext>
            </a:extLst>
          </p:cNvPr>
          <p:cNvSpPr>
            <a:spLocks xmlns:a="http://schemas.openxmlformats.org/drawingml/2006/main" noGrp="1"/>
          </p:cNvSpPr>
          <p:nvPr/>
        </p:nvSpPr>
        <p:spPr>
          <a:xfrm xmlns:a="http://schemas.openxmlformats.org/drawingml/2006/main">
            <a:off x="714375" y="87630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DE5A1D"/>
                </a:solidFill>
              </a:defRPr>
            </a:defPPr>
            <a:lvl1pPr algn="l">
              <a:defRPr sz="1275" b="1">
                <a:solidFill>
                  <a:srgbClr val="DE5A1D"/>
                </a:solidFill>
              </a:defRPr>
            </a:lvl1pPr>
            <a:lvl2pPr algn="l">
              <a:defRPr sz="1275" b="1">
                <a:solidFill>
                  <a:srgbClr val="DE5A1D"/>
                </a:solidFill>
              </a:defRPr>
            </a:lvl2pPr>
            <a:lvl3pPr algn="l">
              <a:defRPr sz="1275" b="1">
                <a:solidFill>
                  <a:srgbClr val="DE5A1D"/>
                </a:solidFill>
              </a:defRPr>
            </a:lvl3pPr>
            <a:lvl4pPr algn="l">
              <a:defRPr sz="1275" b="1">
                <a:solidFill>
                  <a:srgbClr val="DE5A1D"/>
                </a:solidFill>
              </a:defRPr>
            </a:lvl4pPr>
            <a:lvl5pPr algn="l">
              <a:defRPr sz="1275" b="1">
                <a:solidFill>
                  <a:srgbClr val="DE5A1D"/>
                </a:solidFill>
              </a:defRPr>
            </a:lvl5pPr>
            <a:lvl6pPr algn="l">
              <a:defRPr sz="1275" b="1">
                <a:solidFill>
                  <a:srgbClr val="DE5A1D"/>
                </a:solidFill>
              </a:defRPr>
            </a:lvl6pPr>
            <a:lvl7pPr algn="l">
              <a:defRPr sz="1275" b="1">
                <a:solidFill>
                  <a:srgbClr val="DE5A1D"/>
                </a:solidFill>
              </a:defRPr>
            </a:lvl7pPr>
            <a:lvl8pPr algn="l">
              <a:defRPr sz="1275" b="1">
                <a:solidFill>
                  <a:srgbClr val="DE5A1D"/>
                </a:solidFill>
              </a:defRPr>
            </a:lvl8pPr>
            <a:lvl9pPr algn="l">
              <a:defRPr sz="1275" b="1">
                <a:solidFill>
                  <a:srgbClr val="DE5A1D"/>
                </a:solidFill>
              </a:defRPr>
            </a:lvl9pPr>
          </a:lstStyle>
          <a:p xmlns:a="http://schemas.openxmlformats.org/drawingml/2006/main">
            <a:pPr algn="l">
              <a:defRPr sz="1275" b="1">
                <a:solidFill>
                  <a:srgbClr val="DE5A1D"/>
                </a:solidFill>
              </a:defRPr>
            </a:pPr>
            <a:r>
              <a:rPr sz="1275" b="1">
                <a:solidFill>
                  <a:srgbClr val="DE5A1D"/>
                </a:solidFill>
              </a:rPr>
              <a:t>PROJECT REVIEW · EXTENDED VERSION</a:t>
            </a:r>
          </a:p>
        </p:txBody>
      </p:sp>
      <p:sp>
        <p:nvSpPr>
          <p:cNvPr id="2" name="">
            <a:extLst xmlns:a="http://schemas.openxmlformats.org/drawingml/2006/main">
              <a:ext uri="{FF2B5EF4-FFF2-40B4-BE49-F238E27FC236}">
                <a16:creationId xmlns:a16="http://schemas.microsoft.com/office/drawing/2014/main" id="{D2CDC51B-EFB6-4291-9EB0-5D1FAAB973A3}"/>
              </a:ext>
            </a:extLst>
          </p:cNvPr>
          <p:cNvSpPr>
            <a:spLocks xmlns:a="http://schemas.openxmlformats.org/drawingml/2006/main" noGrp="1"/>
          </p:cNvSpPr>
          <p:nvPr/>
        </p:nvSpPr>
        <p:spPr>
          <a:xfrm xmlns:a="http://schemas.openxmlformats.org/drawingml/2006/main">
            <a:off x="666750" y="2038350"/>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100" b="1">
                <a:solidFill>
                  <a:srgbClr val="F7F7F5"/>
                </a:solidFill>
              </a:defRPr>
            </a:defPPr>
            <a:lvl1pPr algn="l">
              <a:defRPr sz="5100" b="1">
                <a:solidFill>
                  <a:srgbClr val="F7F7F5"/>
                </a:solidFill>
              </a:defRPr>
            </a:lvl1pPr>
            <a:lvl2pPr algn="l">
              <a:defRPr sz="5100" b="1">
                <a:solidFill>
                  <a:srgbClr val="F7F7F5"/>
                </a:solidFill>
              </a:defRPr>
            </a:lvl2pPr>
            <a:lvl3pPr algn="l">
              <a:defRPr sz="5100" b="1">
                <a:solidFill>
                  <a:srgbClr val="F7F7F5"/>
                </a:solidFill>
              </a:defRPr>
            </a:lvl3pPr>
            <a:lvl4pPr algn="l">
              <a:defRPr sz="5100" b="1">
                <a:solidFill>
                  <a:srgbClr val="F7F7F5"/>
                </a:solidFill>
              </a:defRPr>
            </a:lvl4pPr>
            <a:lvl5pPr algn="l">
              <a:defRPr sz="5100" b="1">
                <a:solidFill>
                  <a:srgbClr val="F7F7F5"/>
                </a:solidFill>
              </a:defRPr>
            </a:lvl5pPr>
            <a:lvl6pPr algn="l">
              <a:defRPr sz="5100" b="1">
                <a:solidFill>
                  <a:srgbClr val="F7F7F5"/>
                </a:solidFill>
              </a:defRPr>
            </a:lvl6pPr>
            <a:lvl7pPr algn="l">
              <a:defRPr sz="5100" b="1">
                <a:solidFill>
                  <a:srgbClr val="F7F7F5"/>
                </a:solidFill>
              </a:defRPr>
            </a:lvl7pPr>
            <a:lvl8pPr algn="l">
              <a:defRPr sz="5100" b="1">
                <a:solidFill>
                  <a:srgbClr val="F7F7F5"/>
                </a:solidFill>
              </a:defRPr>
            </a:lvl8pPr>
            <a:lvl9pPr algn="l">
              <a:defRPr sz="5100" b="1">
                <a:solidFill>
                  <a:srgbClr val="F7F7F5"/>
                </a:solidFill>
              </a:defRPr>
            </a:lvl9pPr>
          </a:lstStyle>
          <a:p xmlns:a="http://schemas.openxmlformats.org/drawingml/2006/main">
            <a:pPr algn="l">
              <a:defRPr sz="5100" b="1">
                <a:solidFill>
                  <a:srgbClr val="F7F7F5"/>
                </a:solidFill>
              </a:defRPr>
            </a:pPr>
            <a:r>
              <a:rPr sz="5100" b="1">
                <a:solidFill>
                  <a:srgbClr val="F7F7F5"/>
                </a:solidFill>
              </a:rPr>
              <a:t>SentinelShield</a:t>
            </a:r>
          </a:p>
        </p:txBody>
      </p:sp>
      <p:sp>
        <p:nvSpPr>
          <p:cNvPr id="3" name="">
            <a:extLst xmlns:a="http://schemas.openxmlformats.org/drawingml/2006/main">
              <a:ext uri="{FF2B5EF4-FFF2-40B4-BE49-F238E27FC236}">
                <a16:creationId xmlns:a16="http://schemas.microsoft.com/office/drawing/2014/main" id="{CC4ADC4F-7EA6-40AA-8F0C-3DE3F0714411}"/>
              </a:ext>
            </a:extLst>
          </p:cNvPr>
          <p:cNvSpPr>
            <a:spLocks xmlns:a="http://schemas.openxmlformats.org/drawingml/2006/main" noGrp="1"/>
          </p:cNvSpPr>
          <p:nvPr/>
        </p:nvSpPr>
        <p:spPr>
          <a:xfrm xmlns:a="http://schemas.openxmlformats.org/drawingml/2006/main">
            <a:off x="714375" y="3200400"/>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0">
                <a:solidFill>
                  <a:srgbClr val="C6C6C2"/>
                </a:solidFill>
              </a:defRPr>
            </a:defPPr>
            <a:lvl1pPr algn="l">
              <a:defRPr sz="2400" b="0">
                <a:solidFill>
                  <a:srgbClr val="C6C6C2"/>
                </a:solidFill>
              </a:defRPr>
            </a:lvl1pPr>
            <a:lvl2pPr algn="l">
              <a:defRPr sz="2400" b="0">
                <a:solidFill>
                  <a:srgbClr val="C6C6C2"/>
                </a:solidFill>
              </a:defRPr>
            </a:lvl2pPr>
            <a:lvl3pPr algn="l">
              <a:defRPr sz="2400" b="0">
                <a:solidFill>
                  <a:srgbClr val="C6C6C2"/>
                </a:solidFill>
              </a:defRPr>
            </a:lvl3pPr>
            <a:lvl4pPr algn="l">
              <a:defRPr sz="2400" b="0">
                <a:solidFill>
                  <a:srgbClr val="C6C6C2"/>
                </a:solidFill>
              </a:defRPr>
            </a:lvl4pPr>
            <a:lvl5pPr algn="l">
              <a:defRPr sz="2400" b="0">
                <a:solidFill>
                  <a:srgbClr val="C6C6C2"/>
                </a:solidFill>
              </a:defRPr>
            </a:lvl5pPr>
            <a:lvl6pPr algn="l">
              <a:defRPr sz="2400" b="0">
                <a:solidFill>
                  <a:srgbClr val="C6C6C2"/>
                </a:solidFill>
              </a:defRPr>
            </a:lvl6pPr>
            <a:lvl7pPr algn="l">
              <a:defRPr sz="2400" b="0">
                <a:solidFill>
                  <a:srgbClr val="C6C6C2"/>
                </a:solidFill>
              </a:defRPr>
            </a:lvl7pPr>
            <a:lvl8pPr algn="l">
              <a:defRPr sz="2400" b="0">
                <a:solidFill>
                  <a:srgbClr val="C6C6C2"/>
                </a:solidFill>
              </a:defRPr>
            </a:lvl8pPr>
            <a:lvl9pPr algn="l">
              <a:defRPr sz="2400" b="0">
                <a:solidFill>
                  <a:srgbClr val="C6C6C2"/>
                </a:solidFill>
              </a:defRPr>
            </a:lvl9pPr>
          </a:lstStyle>
          <a:p xmlns:a="http://schemas.openxmlformats.org/drawingml/2006/main">
            <a:pPr algn="l">
              <a:defRPr sz="2400" b="0">
                <a:solidFill>
                  <a:srgbClr val="C6C6C2"/>
                </a:solidFill>
              </a:defRPr>
            </a:pPr>
            <a:r>
              <a:rPr sz="2400" b="0">
                <a:solidFill>
                  <a:srgbClr val="C6C6C2"/>
                </a:solidFill>
              </a:rPr>
              <a:t>Adaptive DDoS monitoring prototype</a:t>
            </a:r>
          </a:p>
        </p:txBody>
      </p:sp>
      <p:sp>
        <p:nvSpPr>
          <p:cNvPr id="4" name="">
            <a:extLst xmlns:a="http://schemas.openxmlformats.org/drawingml/2006/main">
              <a:ext uri="{FF2B5EF4-FFF2-40B4-BE49-F238E27FC236}">
                <a16:creationId xmlns:a16="http://schemas.microsoft.com/office/drawing/2014/main" id="{C23D8B4D-5DDC-4F36-919C-1032D71557F3}"/>
              </a:ext>
            </a:extLst>
          </p:cNvPr>
          <p:cNvSpPr>
            <a:spLocks xmlns:a="http://schemas.openxmlformats.org/drawingml/2006/main" noGrp="1"/>
          </p:cNvSpPr>
          <p:nvPr/>
        </p:nvSpPr>
        <p:spPr>
          <a:xfrm xmlns:a="http://schemas.openxmlformats.org/drawingml/2006/main">
            <a:off x="714375" y="5381625"/>
            <a:ext cx="1019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F7F7F5"/>
                </a:solidFill>
              </a:defRPr>
            </a:defPPr>
            <a:lvl1pPr algn="l">
              <a:defRPr sz="1500" b="0">
                <a:solidFill>
                  <a:srgbClr val="F7F7F5"/>
                </a:solidFill>
              </a:defRPr>
            </a:lvl1pPr>
            <a:lvl2pPr algn="l">
              <a:defRPr sz="1500" b="0">
                <a:solidFill>
                  <a:srgbClr val="F7F7F5"/>
                </a:solidFill>
              </a:defRPr>
            </a:lvl2pPr>
            <a:lvl3pPr algn="l">
              <a:defRPr sz="1500" b="0">
                <a:solidFill>
                  <a:srgbClr val="F7F7F5"/>
                </a:solidFill>
              </a:defRPr>
            </a:lvl3pPr>
            <a:lvl4pPr algn="l">
              <a:defRPr sz="1500" b="0">
                <a:solidFill>
                  <a:srgbClr val="F7F7F5"/>
                </a:solidFill>
              </a:defRPr>
            </a:lvl4pPr>
            <a:lvl5pPr algn="l">
              <a:defRPr sz="1500" b="0">
                <a:solidFill>
                  <a:srgbClr val="F7F7F5"/>
                </a:solidFill>
              </a:defRPr>
            </a:lvl5pPr>
            <a:lvl6pPr algn="l">
              <a:defRPr sz="1500" b="0">
                <a:solidFill>
                  <a:srgbClr val="F7F7F5"/>
                </a:solidFill>
              </a:defRPr>
            </a:lvl6pPr>
            <a:lvl7pPr algn="l">
              <a:defRPr sz="1500" b="0">
                <a:solidFill>
                  <a:srgbClr val="F7F7F5"/>
                </a:solidFill>
              </a:defRPr>
            </a:lvl7pPr>
            <a:lvl8pPr algn="l">
              <a:defRPr sz="1500" b="0">
                <a:solidFill>
                  <a:srgbClr val="F7F7F5"/>
                </a:solidFill>
              </a:defRPr>
            </a:lvl8pPr>
            <a:lvl9pPr algn="l">
              <a:defRPr sz="1500" b="0">
                <a:solidFill>
                  <a:srgbClr val="F7F7F5"/>
                </a:solidFill>
              </a:defRPr>
            </a:lvl9pPr>
          </a:lstStyle>
          <a:p xmlns:a="http://schemas.openxmlformats.org/drawingml/2006/main">
            <a:pPr algn="l">
              <a:defRPr sz="1500" b="0">
                <a:solidFill>
                  <a:srgbClr val="F7F7F5"/>
                </a:solidFill>
              </a:defRPr>
            </a:pPr>
            <a:r>
              <a:rPr sz="1500" b="0">
                <a:solidFill>
                  <a:srgbClr val="F7F7F5"/>
                </a:solidFill>
              </a:rPr>
              <a:t>System design, datasets, measured results, live demo</a:t>
            </a:r>
          </a:p>
        </p:txBody>
      </p:sp>
    </p:spTree>
    <p:extLst>
      <p:ext uri="{BB962C8B-B14F-4D97-AF65-F5344CB8AC3E}">
        <p14:creationId xmlns:p14="http://schemas.microsoft.com/office/powerpoint/2010/main" val="575147756"/>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884C65-B782-4718-B6F1-867BECA35564}"/>
              </a:ext>
            </a:extLst>
          </p:cNvPr>
          <p:cNvSpPr>
            <a:spLocks xmlns:a="http://schemas.openxmlformats.org/drawingml/2006/main" noGrp="1"/>
          </p:cNvSpPr>
          <p:nvPr/>
        </p:nvSpPr>
        <p:spPr>
          <a:xfrm xmlns:a="http://schemas.openxmlformats.org/drawingml/2006/main">
            <a:off x="685800" y="4381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DE5A1D"/>
                </a:solidFill>
              </a:defRPr>
            </a:defPPr>
            <a:lvl1pPr algn="l">
              <a:defRPr sz="1200" b="1">
                <a:solidFill>
                  <a:srgbClr val="DE5A1D"/>
                </a:solidFill>
              </a:defRPr>
            </a:lvl1pPr>
            <a:lvl2pPr algn="l">
              <a:defRPr sz="1200" b="1">
                <a:solidFill>
                  <a:srgbClr val="DE5A1D"/>
                </a:solidFill>
              </a:defRPr>
            </a:lvl2pPr>
            <a:lvl3pPr algn="l">
              <a:defRPr sz="1200" b="1">
                <a:solidFill>
                  <a:srgbClr val="DE5A1D"/>
                </a:solidFill>
              </a:defRPr>
            </a:lvl3pPr>
            <a:lvl4pPr algn="l">
              <a:defRPr sz="1200" b="1">
                <a:solidFill>
                  <a:srgbClr val="DE5A1D"/>
                </a:solidFill>
              </a:defRPr>
            </a:lvl4pPr>
            <a:lvl5pPr algn="l">
              <a:defRPr sz="1200" b="1">
                <a:solidFill>
                  <a:srgbClr val="DE5A1D"/>
                </a:solidFill>
              </a:defRPr>
            </a:lvl5pPr>
            <a:lvl6pPr algn="l">
              <a:defRPr sz="1200" b="1">
                <a:solidFill>
                  <a:srgbClr val="DE5A1D"/>
                </a:solidFill>
              </a:defRPr>
            </a:lvl6pPr>
            <a:lvl7pPr algn="l">
              <a:defRPr sz="1200" b="1">
                <a:solidFill>
                  <a:srgbClr val="DE5A1D"/>
                </a:solidFill>
              </a:defRPr>
            </a:lvl7pPr>
            <a:lvl8pPr algn="l">
              <a:defRPr sz="1200" b="1">
                <a:solidFill>
                  <a:srgbClr val="DE5A1D"/>
                </a:solidFill>
              </a:defRPr>
            </a:lvl8pPr>
            <a:lvl9pPr algn="l">
              <a:defRPr sz="1200" b="1">
                <a:solidFill>
                  <a:srgbClr val="DE5A1D"/>
                </a:solidFill>
              </a:defRPr>
            </a:lvl9pPr>
          </a:lstStyle>
          <a:p xmlns:a="http://schemas.openxmlformats.org/drawingml/2006/main">
            <a:pPr algn="l">
              <a:defRPr sz="1200" b="1">
                <a:solidFill>
                  <a:srgbClr val="DE5A1D"/>
                </a:solidFill>
              </a:defRPr>
            </a:pPr>
            <a:r>
              <a:rPr sz="1200" b="1">
                <a:solidFill>
                  <a:srgbClr val="DE5A1D"/>
                </a:solidFill>
              </a:rPr>
              <a:t>PURPOSE</a:t>
            </a:r>
          </a:p>
        </p:txBody>
      </p:sp>
      <p:sp>
        <p:nvSpPr>
          <p:cNvPr id="2" name="">
            <a:extLst xmlns:a="http://schemas.openxmlformats.org/drawingml/2006/main">
              <a:ext uri="{FF2B5EF4-FFF2-40B4-BE49-F238E27FC236}">
                <a16:creationId xmlns:a16="http://schemas.microsoft.com/office/drawing/2014/main" id="{6B27489A-33A8-4A42-96E7-7B76C8B7BE3F}"/>
              </a:ext>
            </a:extLst>
          </p:cNvPr>
          <p:cNvSpPr>
            <a:spLocks xmlns:a="http://schemas.openxmlformats.org/drawingml/2006/main" noGrp="1"/>
          </p:cNvSpPr>
          <p:nvPr/>
        </p:nvSpPr>
        <p:spPr>
          <a:xfrm xmlns:a="http://schemas.openxmlformats.org/drawingml/2006/main">
            <a:off x="685800" y="8953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F7F7F5"/>
                </a:solidFill>
              </a:defRPr>
            </a:defPPr>
            <a:lvl1pPr algn="l">
              <a:defRPr sz="3000" b="1">
                <a:solidFill>
                  <a:srgbClr val="F7F7F5"/>
                </a:solidFill>
              </a:defRPr>
            </a:lvl1pPr>
            <a:lvl2pPr algn="l">
              <a:defRPr sz="3000" b="1">
                <a:solidFill>
                  <a:srgbClr val="F7F7F5"/>
                </a:solidFill>
              </a:defRPr>
            </a:lvl2pPr>
            <a:lvl3pPr algn="l">
              <a:defRPr sz="3000" b="1">
                <a:solidFill>
                  <a:srgbClr val="F7F7F5"/>
                </a:solidFill>
              </a:defRPr>
            </a:lvl3pPr>
            <a:lvl4pPr algn="l">
              <a:defRPr sz="3000" b="1">
                <a:solidFill>
                  <a:srgbClr val="F7F7F5"/>
                </a:solidFill>
              </a:defRPr>
            </a:lvl4pPr>
            <a:lvl5pPr algn="l">
              <a:defRPr sz="3000" b="1">
                <a:solidFill>
                  <a:srgbClr val="F7F7F5"/>
                </a:solidFill>
              </a:defRPr>
            </a:lvl5pPr>
            <a:lvl6pPr algn="l">
              <a:defRPr sz="3000" b="1">
                <a:solidFill>
                  <a:srgbClr val="F7F7F5"/>
                </a:solidFill>
              </a:defRPr>
            </a:lvl6pPr>
            <a:lvl7pPr algn="l">
              <a:defRPr sz="3000" b="1">
                <a:solidFill>
                  <a:srgbClr val="F7F7F5"/>
                </a:solidFill>
              </a:defRPr>
            </a:lvl7pPr>
            <a:lvl8pPr algn="l">
              <a:defRPr sz="3000" b="1">
                <a:solidFill>
                  <a:srgbClr val="F7F7F5"/>
                </a:solidFill>
              </a:defRPr>
            </a:lvl8pPr>
            <a:lvl9pPr algn="l">
              <a:defRPr sz="3000" b="1">
                <a:solidFill>
                  <a:srgbClr val="F7F7F5"/>
                </a:solidFill>
              </a:defRPr>
            </a:lvl9pPr>
          </a:lstStyle>
          <a:p xmlns:a="http://schemas.openxmlformats.org/drawingml/2006/main">
            <a:pPr algn="l">
              <a:defRPr sz="3000" b="1">
                <a:solidFill>
                  <a:srgbClr val="F7F7F5"/>
                </a:solidFill>
              </a:defRPr>
            </a:pPr>
            <a:r>
              <a:rPr sz="3000" b="1">
                <a:solidFill>
                  <a:srgbClr val="F7F7F5"/>
                </a:solidFill>
              </a:rPr>
              <a:t>Why SentinelShield</a:t>
            </a:r>
          </a:p>
        </p:txBody>
      </p:sp>
      <p:sp>
        <p:nvSpPr>
          <p:cNvPr id="3" name="">
            <a:extLst xmlns:a="http://schemas.openxmlformats.org/drawingml/2006/main">
              <a:ext uri="{FF2B5EF4-FFF2-40B4-BE49-F238E27FC236}">
                <a16:creationId xmlns:a16="http://schemas.microsoft.com/office/drawing/2014/main" id="{2CEB6CA2-3C61-4310-B163-BDCFA78011F8}"/>
              </a:ext>
            </a:extLst>
          </p:cNvPr>
          <p:cNvSpPr>
            <a:spLocks xmlns:a="http://schemas.openxmlformats.org/drawingml/2006/main" noGrp="1"/>
          </p:cNvSpPr>
          <p:nvPr/>
        </p:nvSpPr>
        <p:spPr>
          <a:xfrm xmlns:a="http://schemas.openxmlformats.org/drawingml/2006/main">
            <a:off x="11049000" y="5334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0">
                <a:solidFill>
                  <a:srgbClr val="8C8C88"/>
                </a:solidFill>
              </a:defRPr>
            </a:defPPr>
            <a:lvl1pPr algn="r">
              <a:defRPr sz="1050" b="0">
                <a:solidFill>
                  <a:srgbClr val="8C8C88"/>
                </a:solidFill>
              </a:defRPr>
            </a:lvl1pPr>
            <a:lvl2pPr algn="r">
              <a:defRPr sz="1050" b="0">
                <a:solidFill>
                  <a:srgbClr val="8C8C88"/>
                </a:solidFill>
              </a:defRPr>
            </a:lvl2pPr>
            <a:lvl3pPr algn="r">
              <a:defRPr sz="1050" b="0">
                <a:solidFill>
                  <a:srgbClr val="8C8C88"/>
                </a:solidFill>
              </a:defRPr>
            </a:lvl3pPr>
            <a:lvl4pPr algn="r">
              <a:defRPr sz="1050" b="0">
                <a:solidFill>
                  <a:srgbClr val="8C8C88"/>
                </a:solidFill>
              </a:defRPr>
            </a:lvl4pPr>
            <a:lvl5pPr algn="r">
              <a:defRPr sz="1050" b="0">
                <a:solidFill>
                  <a:srgbClr val="8C8C88"/>
                </a:solidFill>
              </a:defRPr>
            </a:lvl5pPr>
            <a:lvl6pPr algn="r">
              <a:defRPr sz="1050" b="0">
                <a:solidFill>
                  <a:srgbClr val="8C8C88"/>
                </a:solidFill>
              </a:defRPr>
            </a:lvl6pPr>
            <a:lvl7pPr algn="r">
              <a:defRPr sz="1050" b="0">
                <a:solidFill>
                  <a:srgbClr val="8C8C88"/>
                </a:solidFill>
              </a:defRPr>
            </a:lvl7pPr>
            <a:lvl8pPr algn="r">
              <a:defRPr sz="1050" b="0">
                <a:solidFill>
                  <a:srgbClr val="8C8C88"/>
                </a:solidFill>
              </a:defRPr>
            </a:lvl8pPr>
            <a:lvl9pPr algn="r">
              <a:defRPr sz="1050" b="0">
                <a:solidFill>
                  <a:srgbClr val="8C8C88"/>
                </a:solidFill>
              </a:defRPr>
            </a:lvl9pPr>
          </a:lstStyle>
          <a:p xmlns:a="http://schemas.openxmlformats.org/drawingml/2006/main">
            <a:pPr algn="r">
              <a:defRPr sz="1050" b="0">
                <a:solidFill>
                  <a:srgbClr val="8C8C88"/>
                </a:solidFill>
              </a:defRPr>
            </a:pPr>
            <a:r>
              <a:rPr sz="1050" b="0">
                <a:solidFill>
                  <a:srgbClr val="8C8C88"/>
                </a:solidFill>
              </a:rPr>
              <a:t>02</a:t>
            </a:r>
          </a:p>
        </p:txBody>
      </p:sp>
      <p:sp>
        <p:nvSpPr>
          <p:cNvPr id="4" name="">
            <a:extLst xmlns:a="http://schemas.openxmlformats.org/drawingml/2006/main">
              <a:ext uri="{FF2B5EF4-FFF2-40B4-BE49-F238E27FC236}">
                <a16:creationId xmlns:a16="http://schemas.microsoft.com/office/drawing/2014/main" id="{17A7892D-1D6B-444A-8058-D3B7CC7A670C}"/>
              </a:ext>
            </a:extLst>
          </p:cNvPr>
          <p:cNvSpPr>
            <a:spLocks xmlns:a="http://schemas.openxmlformats.org/drawingml/2006/main" noGrp="1"/>
          </p:cNvSpPr>
          <p:nvPr/>
        </p:nvSpPr>
        <p:spPr>
          <a:xfrm xmlns:a="http://schemas.openxmlformats.org/drawingml/2006/main">
            <a:off x="704850" y="2000250"/>
            <a:ext cx="10096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a:solidFill>
                  <a:srgbClr val="F7F7F5"/>
                </a:solidFill>
              </a:defRPr>
            </a:defPPr>
            <a:lvl1pPr algn="l">
              <a:defRPr sz="2325" b="0">
                <a:solidFill>
                  <a:srgbClr val="F7F7F5"/>
                </a:solidFill>
              </a:defRPr>
            </a:lvl1pPr>
            <a:lvl2pPr algn="l">
              <a:defRPr sz="2325" b="0">
                <a:solidFill>
                  <a:srgbClr val="F7F7F5"/>
                </a:solidFill>
              </a:defRPr>
            </a:lvl2pPr>
            <a:lvl3pPr algn="l">
              <a:defRPr sz="2325" b="0">
                <a:solidFill>
                  <a:srgbClr val="F7F7F5"/>
                </a:solidFill>
              </a:defRPr>
            </a:lvl3pPr>
            <a:lvl4pPr algn="l">
              <a:defRPr sz="2325" b="0">
                <a:solidFill>
                  <a:srgbClr val="F7F7F5"/>
                </a:solidFill>
              </a:defRPr>
            </a:lvl4pPr>
            <a:lvl5pPr algn="l">
              <a:defRPr sz="2325" b="0">
                <a:solidFill>
                  <a:srgbClr val="F7F7F5"/>
                </a:solidFill>
              </a:defRPr>
            </a:lvl5pPr>
            <a:lvl6pPr algn="l">
              <a:defRPr sz="2325" b="0">
                <a:solidFill>
                  <a:srgbClr val="F7F7F5"/>
                </a:solidFill>
              </a:defRPr>
            </a:lvl6pPr>
            <a:lvl7pPr algn="l">
              <a:defRPr sz="2325" b="0">
                <a:solidFill>
                  <a:srgbClr val="F7F7F5"/>
                </a:solidFill>
              </a:defRPr>
            </a:lvl7pPr>
            <a:lvl8pPr algn="l">
              <a:defRPr sz="2325" b="0">
                <a:solidFill>
                  <a:srgbClr val="F7F7F5"/>
                </a:solidFill>
              </a:defRPr>
            </a:lvl8pPr>
            <a:lvl9pPr algn="l">
              <a:defRPr sz="2325" b="0">
                <a:solidFill>
                  <a:srgbClr val="F7F7F5"/>
                </a:solidFill>
              </a:defRPr>
            </a:lvl9pPr>
          </a:lstStyle>
          <a:p xmlns:a="http://schemas.openxmlformats.org/drawingml/2006/main">
            <a:pPr algn="l">
              <a:defRPr sz="2325" b="0">
                <a:solidFill>
                  <a:srgbClr val="F7F7F5"/>
                </a:solidFill>
              </a:defRPr>
            </a:pPr>
            <a:r>
              <a:rPr sz="2325" b="0">
                <a:solidFill>
                  <a:srgbClr val="F7F7F5"/>
                </a:solidFill>
              </a:rPr>
              <a:t>A DDoS attack can make a service unavailable by overwhelming it with traffic.</a:t>
            </a:r>
          </a:p>
        </p:txBody>
      </p:sp>
      <p:sp>
        <p:nvSpPr>
          <p:cNvPr id="5" name="">
            <a:extLst xmlns:a="http://schemas.openxmlformats.org/drawingml/2006/main">
              <a:ext uri="{FF2B5EF4-FFF2-40B4-BE49-F238E27FC236}">
                <a16:creationId xmlns:a16="http://schemas.microsoft.com/office/drawing/2014/main" id="{19FCA915-EDDF-4648-92D8-89CF9651EB25}"/>
              </a:ext>
            </a:extLst>
          </p:cNvPr>
          <p:cNvSpPr>
            <a:spLocks xmlns:a="http://schemas.openxmlformats.org/drawingml/2006/main" noGrp="1"/>
          </p:cNvSpPr>
          <p:nvPr/>
        </p:nvSpPr>
        <p:spPr>
          <a:xfrm xmlns:a="http://schemas.openxmlformats.org/drawingml/2006/main">
            <a:off x="704850" y="3562350"/>
            <a:ext cx="1009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DE5A1D"/>
                </a:solidFill>
              </a:defRPr>
            </a:defPPr>
            <a:lvl1pPr algn="l">
              <a:defRPr sz="2175" b="1">
                <a:solidFill>
                  <a:srgbClr val="DE5A1D"/>
                </a:solidFill>
              </a:defRPr>
            </a:lvl1pPr>
            <a:lvl2pPr algn="l">
              <a:defRPr sz="2175" b="1">
                <a:solidFill>
                  <a:srgbClr val="DE5A1D"/>
                </a:solidFill>
              </a:defRPr>
            </a:lvl2pPr>
            <a:lvl3pPr algn="l">
              <a:defRPr sz="2175" b="1">
                <a:solidFill>
                  <a:srgbClr val="DE5A1D"/>
                </a:solidFill>
              </a:defRPr>
            </a:lvl3pPr>
            <a:lvl4pPr algn="l">
              <a:defRPr sz="2175" b="1">
                <a:solidFill>
                  <a:srgbClr val="DE5A1D"/>
                </a:solidFill>
              </a:defRPr>
            </a:lvl4pPr>
            <a:lvl5pPr algn="l">
              <a:defRPr sz="2175" b="1">
                <a:solidFill>
                  <a:srgbClr val="DE5A1D"/>
                </a:solidFill>
              </a:defRPr>
            </a:lvl5pPr>
            <a:lvl6pPr algn="l">
              <a:defRPr sz="2175" b="1">
                <a:solidFill>
                  <a:srgbClr val="DE5A1D"/>
                </a:solidFill>
              </a:defRPr>
            </a:lvl6pPr>
            <a:lvl7pPr algn="l">
              <a:defRPr sz="2175" b="1">
                <a:solidFill>
                  <a:srgbClr val="DE5A1D"/>
                </a:solidFill>
              </a:defRPr>
            </a:lvl7pPr>
            <a:lvl8pPr algn="l">
              <a:defRPr sz="2175" b="1">
                <a:solidFill>
                  <a:srgbClr val="DE5A1D"/>
                </a:solidFill>
              </a:defRPr>
            </a:lvl8pPr>
            <a:lvl9pPr algn="l">
              <a:defRPr sz="2175" b="1">
                <a:solidFill>
                  <a:srgbClr val="DE5A1D"/>
                </a:solidFill>
              </a:defRPr>
            </a:lvl9pPr>
          </a:lstStyle>
          <a:p xmlns:a="http://schemas.openxmlformats.org/drawingml/2006/main">
            <a:pPr algn="l">
              <a:defRPr sz="2175" b="1">
                <a:solidFill>
                  <a:srgbClr val="DE5A1D"/>
                </a:solidFill>
              </a:defRPr>
            </a:pPr>
            <a:r>
              <a:rPr sz="2175" b="1">
                <a:solidFill>
                  <a:srgbClr val="DE5A1D"/>
                </a:solidFill>
              </a:rPr>
              <a:t>But high traffic by itself does not prove an attack.</a:t>
            </a:r>
          </a:p>
        </p:txBody>
      </p:sp>
      <p:sp>
        <p:nvSpPr>
          <p:cNvPr id="6" name="">
            <a:extLst xmlns:a="http://schemas.openxmlformats.org/drawingml/2006/main">
              <a:ext uri="{FF2B5EF4-FFF2-40B4-BE49-F238E27FC236}">
                <a16:creationId xmlns:a16="http://schemas.microsoft.com/office/drawing/2014/main" id="{4159CA92-5427-4206-A8D7-26CA932FAD1C}"/>
              </a:ext>
            </a:extLst>
          </p:cNvPr>
          <p:cNvSpPr>
            <a:spLocks xmlns:a="http://schemas.openxmlformats.org/drawingml/2006/main" noGrp="1"/>
          </p:cNvSpPr>
          <p:nvPr/>
        </p:nvSpPr>
        <p:spPr>
          <a:xfrm xmlns:a="http://schemas.openxmlformats.org/drawingml/2006/main">
            <a:off x="704850" y="4686300"/>
            <a:ext cx="10096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C6C6C2"/>
                </a:solidFill>
              </a:defRPr>
            </a:defPPr>
            <a:lvl1pPr algn="l">
              <a:defRPr sz="2025" b="0">
                <a:solidFill>
                  <a:srgbClr val="C6C6C2"/>
                </a:solidFill>
              </a:defRPr>
            </a:lvl1pPr>
            <a:lvl2pPr algn="l">
              <a:defRPr sz="2025" b="0">
                <a:solidFill>
                  <a:srgbClr val="C6C6C2"/>
                </a:solidFill>
              </a:defRPr>
            </a:lvl2pPr>
            <a:lvl3pPr algn="l">
              <a:defRPr sz="2025" b="0">
                <a:solidFill>
                  <a:srgbClr val="C6C6C2"/>
                </a:solidFill>
              </a:defRPr>
            </a:lvl3pPr>
            <a:lvl4pPr algn="l">
              <a:defRPr sz="2025" b="0">
                <a:solidFill>
                  <a:srgbClr val="C6C6C2"/>
                </a:solidFill>
              </a:defRPr>
            </a:lvl4pPr>
            <a:lvl5pPr algn="l">
              <a:defRPr sz="2025" b="0">
                <a:solidFill>
                  <a:srgbClr val="C6C6C2"/>
                </a:solidFill>
              </a:defRPr>
            </a:lvl5pPr>
            <a:lvl6pPr algn="l">
              <a:defRPr sz="2025" b="0">
                <a:solidFill>
                  <a:srgbClr val="C6C6C2"/>
                </a:solidFill>
              </a:defRPr>
            </a:lvl6pPr>
            <a:lvl7pPr algn="l">
              <a:defRPr sz="2025" b="0">
                <a:solidFill>
                  <a:srgbClr val="C6C6C2"/>
                </a:solidFill>
              </a:defRPr>
            </a:lvl7pPr>
            <a:lvl8pPr algn="l">
              <a:defRPr sz="2025" b="0">
                <a:solidFill>
                  <a:srgbClr val="C6C6C2"/>
                </a:solidFill>
              </a:defRPr>
            </a:lvl8pPr>
            <a:lvl9pPr algn="l">
              <a:defRPr sz="2025" b="0">
                <a:solidFill>
                  <a:srgbClr val="C6C6C2"/>
                </a:solidFill>
              </a:defRPr>
            </a:lvl9pPr>
          </a:lstStyle>
          <a:p xmlns:a="http://schemas.openxmlformats.org/drawingml/2006/main">
            <a:pPr algn="l">
              <a:defRPr sz="2025" b="0">
                <a:solidFill>
                  <a:srgbClr val="C6C6C2"/>
                </a:solidFill>
              </a:defRPr>
            </a:pPr>
            <a:r>
              <a:rPr sz="2025" b="0">
                <a:solidFill>
                  <a:srgbClr val="C6C6C2"/>
                </a:solidFill>
              </a:rPr>
              <a:t>The project measures traffic patterns and explains why a window looks unusual.</a:t>
            </a:r>
          </a:p>
        </p:txBody>
      </p:sp>
    </p:spTree>
    <p:extLst>
      <p:ext uri="{BB962C8B-B14F-4D97-AF65-F5344CB8AC3E}">
        <p14:creationId xmlns:p14="http://schemas.microsoft.com/office/powerpoint/2010/main" val="376772460"/>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DF25E74-8A8A-443F-959E-29908FACF194}"/>
              </a:ext>
            </a:extLst>
          </p:cNvPr>
          <p:cNvSpPr>
            <a:spLocks xmlns:a="http://schemas.openxmlformats.org/drawingml/2006/main" noGrp="1"/>
          </p:cNvSpPr>
          <p:nvPr/>
        </p:nvSpPr>
        <p:spPr>
          <a:xfrm xmlns:a="http://schemas.openxmlformats.org/drawingml/2006/main">
            <a:off x="685800" y="4381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DE5A1D"/>
                </a:solidFill>
              </a:defRPr>
            </a:defPPr>
            <a:lvl1pPr algn="l">
              <a:defRPr sz="1200" b="1">
                <a:solidFill>
                  <a:srgbClr val="DE5A1D"/>
                </a:solidFill>
              </a:defRPr>
            </a:lvl1pPr>
            <a:lvl2pPr algn="l">
              <a:defRPr sz="1200" b="1">
                <a:solidFill>
                  <a:srgbClr val="DE5A1D"/>
                </a:solidFill>
              </a:defRPr>
            </a:lvl2pPr>
            <a:lvl3pPr algn="l">
              <a:defRPr sz="1200" b="1">
                <a:solidFill>
                  <a:srgbClr val="DE5A1D"/>
                </a:solidFill>
              </a:defRPr>
            </a:lvl3pPr>
            <a:lvl4pPr algn="l">
              <a:defRPr sz="1200" b="1">
                <a:solidFill>
                  <a:srgbClr val="DE5A1D"/>
                </a:solidFill>
              </a:defRPr>
            </a:lvl4pPr>
            <a:lvl5pPr algn="l">
              <a:defRPr sz="1200" b="1">
                <a:solidFill>
                  <a:srgbClr val="DE5A1D"/>
                </a:solidFill>
              </a:defRPr>
            </a:lvl5pPr>
            <a:lvl6pPr algn="l">
              <a:defRPr sz="1200" b="1">
                <a:solidFill>
                  <a:srgbClr val="DE5A1D"/>
                </a:solidFill>
              </a:defRPr>
            </a:lvl6pPr>
            <a:lvl7pPr algn="l">
              <a:defRPr sz="1200" b="1">
                <a:solidFill>
                  <a:srgbClr val="DE5A1D"/>
                </a:solidFill>
              </a:defRPr>
            </a:lvl7pPr>
            <a:lvl8pPr algn="l">
              <a:defRPr sz="1200" b="1">
                <a:solidFill>
                  <a:srgbClr val="DE5A1D"/>
                </a:solidFill>
              </a:defRPr>
            </a:lvl8pPr>
            <a:lvl9pPr algn="l">
              <a:defRPr sz="1200" b="1">
                <a:solidFill>
                  <a:srgbClr val="DE5A1D"/>
                </a:solidFill>
              </a:defRPr>
            </a:lvl9pPr>
          </a:lstStyle>
          <a:p xmlns:a="http://schemas.openxmlformats.org/drawingml/2006/main">
            <a:pPr algn="l">
              <a:defRPr sz="1200" b="1">
                <a:solidFill>
                  <a:srgbClr val="DE5A1D"/>
                </a:solidFill>
              </a:defRPr>
            </a:pPr>
            <a:r>
              <a:rPr sz="1200" b="1">
                <a:solidFill>
                  <a:srgbClr val="DE5A1D"/>
                </a:solidFill>
              </a:rPr>
              <a:t>SYSTEM</a:t>
            </a:r>
          </a:p>
        </p:txBody>
      </p:sp>
      <p:sp>
        <p:nvSpPr>
          <p:cNvPr id="2" name="">
            <a:extLst xmlns:a="http://schemas.openxmlformats.org/drawingml/2006/main">
              <a:ext uri="{FF2B5EF4-FFF2-40B4-BE49-F238E27FC236}">
                <a16:creationId xmlns:a16="http://schemas.microsoft.com/office/drawing/2014/main" id="{40E8A32E-0726-45F8-AEC4-940AA5ABEEBA}"/>
              </a:ext>
            </a:extLst>
          </p:cNvPr>
          <p:cNvSpPr>
            <a:spLocks xmlns:a="http://schemas.openxmlformats.org/drawingml/2006/main" noGrp="1"/>
          </p:cNvSpPr>
          <p:nvPr/>
        </p:nvSpPr>
        <p:spPr>
          <a:xfrm xmlns:a="http://schemas.openxmlformats.org/drawingml/2006/main">
            <a:off x="685800" y="8953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F7F7F5"/>
                </a:solidFill>
              </a:defRPr>
            </a:defPPr>
            <a:lvl1pPr algn="l">
              <a:defRPr sz="3000" b="1">
                <a:solidFill>
                  <a:srgbClr val="F7F7F5"/>
                </a:solidFill>
              </a:defRPr>
            </a:lvl1pPr>
            <a:lvl2pPr algn="l">
              <a:defRPr sz="3000" b="1">
                <a:solidFill>
                  <a:srgbClr val="F7F7F5"/>
                </a:solidFill>
              </a:defRPr>
            </a:lvl2pPr>
            <a:lvl3pPr algn="l">
              <a:defRPr sz="3000" b="1">
                <a:solidFill>
                  <a:srgbClr val="F7F7F5"/>
                </a:solidFill>
              </a:defRPr>
            </a:lvl3pPr>
            <a:lvl4pPr algn="l">
              <a:defRPr sz="3000" b="1">
                <a:solidFill>
                  <a:srgbClr val="F7F7F5"/>
                </a:solidFill>
              </a:defRPr>
            </a:lvl4pPr>
            <a:lvl5pPr algn="l">
              <a:defRPr sz="3000" b="1">
                <a:solidFill>
                  <a:srgbClr val="F7F7F5"/>
                </a:solidFill>
              </a:defRPr>
            </a:lvl5pPr>
            <a:lvl6pPr algn="l">
              <a:defRPr sz="3000" b="1">
                <a:solidFill>
                  <a:srgbClr val="F7F7F5"/>
                </a:solidFill>
              </a:defRPr>
            </a:lvl6pPr>
            <a:lvl7pPr algn="l">
              <a:defRPr sz="3000" b="1">
                <a:solidFill>
                  <a:srgbClr val="F7F7F5"/>
                </a:solidFill>
              </a:defRPr>
            </a:lvl7pPr>
            <a:lvl8pPr algn="l">
              <a:defRPr sz="3000" b="1">
                <a:solidFill>
                  <a:srgbClr val="F7F7F5"/>
                </a:solidFill>
              </a:defRPr>
            </a:lvl8pPr>
            <a:lvl9pPr algn="l">
              <a:defRPr sz="3000" b="1">
                <a:solidFill>
                  <a:srgbClr val="F7F7F5"/>
                </a:solidFill>
              </a:defRPr>
            </a:lvl9pPr>
          </a:lstStyle>
          <a:p xmlns:a="http://schemas.openxmlformats.org/drawingml/2006/main">
            <a:pPr algn="l">
              <a:defRPr sz="3000" b="1">
                <a:solidFill>
                  <a:srgbClr val="F7F7F5"/>
                </a:solidFill>
              </a:defRPr>
            </a:pPr>
            <a:r>
              <a:rPr sz="3000" b="1">
                <a:solidFill>
                  <a:srgbClr val="F7F7F5"/>
                </a:solidFill>
              </a:rPr>
              <a:t>How the pipeline works</a:t>
            </a:r>
          </a:p>
        </p:txBody>
      </p:sp>
      <p:sp>
        <p:nvSpPr>
          <p:cNvPr id="3" name="">
            <a:extLst xmlns:a="http://schemas.openxmlformats.org/drawingml/2006/main">
              <a:ext uri="{FF2B5EF4-FFF2-40B4-BE49-F238E27FC236}">
                <a16:creationId xmlns:a16="http://schemas.microsoft.com/office/drawing/2014/main" id="{AFAC8B42-E3C9-4BDA-8975-B9F94102F3CD}"/>
              </a:ext>
            </a:extLst>
          </p:cNvPr>
          <p:cNvSpPr>
            <a:spLocks xmlns:a="http://schemas.openxmlformats.org/drawingml/2006/main" noGrp="1"/>
          </p:cNvSpPr>
          <p:nvPr/>
        </p:nvSpPr>
        <p:spPr>
          <a:xfrm xmlns:a="http://schemas.openxmlformats.org/drawingml/2006/main">
            <a:off x="11049000" y="5334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0">
                <a:solidFill>
                  <a:srgbClr val="8C8C88"/>
                </a:solidFill>
              </a:defRPr>
            </a:defPPr>
            <a:lvl1pPr algn="r">
              <a:defRPr sz="1050" b="0">
                <a:solidFill>
                  <a:srgbClr val="8C8C88"/>
                </a:solidFill>
              </a:defRPr>
            </a:lvl1pPr>
            <a:lvl2pPr algn="r">
              <a:defRPr sz="1050" b="0">
                <a:solidFill>
                  <a:srgbClr val="8C8C88"/>
                </a:solidFill>
              </a:defRPr>
            </a:lvl2pPr>
            <a:lvl3pPr algn="r">
              <a:defRPr sz="1050" b="0">
                <a:solidFill>
                  <a:srgbClr val="8C8C88"/>
                </a:solidFill>
              </a:defRPr>
            </a:lvl3pPr>
            <a:lvl4pPr algn="r">
              <a:defRPr sz="1050" b="0">
                <a:solidFill>
                  <a:srgbClr val="8C8C88"/>
                </a:solidFill>
              </a:defRPr>
            </a:lvl4pPr>
            <a:lvl5pPr algn="r">
              <a:defRPr sz="1050" b="0">
                <a:solidFill>
                  <a:srgbClr val="8C8C88"/>
                </a:solidFill>
              </a:defRPr>
            </a:lvl5pPr>
            <a:lvl6pPr algn="r">
              <a:defRPr sz="1050" b="0">
                <a:solidFill>
                  <a:srgbClr val="8C8C88"/>
                </a:solidFill>
              </a:defRPr>
            </a:lvl6pPr>
            <a:lvl7pPr algn="r">
              <a:defRPr sz="1050" b="0">
                <a:solidFill>
                  <a:srgbClr val="8C8C88"/>
                </a:solidFill>
              </a:defRPr>
            </a:lvl7pPr>
            <a:lvl8pPr algn="r">
              <a:defRPr sz="1050" b="0">
                <a:solidFill>
                  <a:srgbClr val="8C8C88"/>
                </a:solidFill>
              </a:defRPr>
            </a:lvl8pPr>
            <a:lvl9pPr algn="r">
              <a:defRPr sz="1050" b="0">
                <a:solidFill>
                  <a:srgbClr val="8C8C88"/>
                </a:solidFill>
              </a:defRPr>
            </a:lvl9pPr>
          </a:lstStyle>
          <a:p xmlns:a="http://schemas.openxmlformats.org/drawingml/2006/main">
            <a:pPr algn="r">
              <a:defRPr sz="1050" b="0">
                <a:solidFill>
                  <a:srgbClr val="8C8C88"/>
                </a:solidFill>
              </a:defRPr>
            </a:pPr>
            <a:r>
              <a:rPr sz="1050" b="0">
                <a:solidFill>
                  <a:srgbClr val="8C8C88"/>
                </a:solidFill>
              </a:rPr>
              <a:t>03</a:t>
            </a:r>
          </a:p>
        </p:txBody>
      </p:sp>
      <p:sp>
        <p:nvSpPr>
          <p:cNvPr id="4" name="">
            <a:extLst xmlns:a="http://schemas.openxmlformats.org/drawingml/2006/main">
              <a:ext uri="{FF2B5EF4-FFF2-40B4-BE49-F238E27FC236}">
                <a16:creationId xmlns:a16="http://schemas.microsoft.com/office/drawing/2014/main" id="{1EE6F8C2-91BC-41F9-A791-7481F3FACAAC}"/>
              </a:ext>
            </a:extLst>
          </p:cNvPr>
          <p:cNvSpPr>
            <a:spLocks xmlns:a="http://schemas.openxmlformats.org/drawingml/2006/main" noGrp="1"/>
          </p:cNvSpPr>
          <p:nvPr/>
        </p:nvSpPr>
        <p:spPr>
          <a:xfrm xmlns:a="http://schemas.openxmlformats.org/drawingml/2006/main">
            <a:off x="685800" y="1952625"/>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01</a:t>
            </a:r>
          </a:p>
        </p:txBody>
      </p:sp>
      <p:sp>
        <p:nvSpPr>
          <p:cNvPr id="5" name="">
            <a:extLst xmlns:a="http://schemas.openxmlformats.org/drawingml/2006/main">
              <a:ext uri="{FF2B5EF4-FFF2-40B4-BE49-F238E27FC236}">
                <a16:creationId xmlns:a16="http://schemas.microsoft.com/office/drawing/2014/main" id="{859F1EDA-DA41-403E-A8CF-9660304F33A3}"/>
              </a:ext>
            </a:extLst>
          </p:cNvPr>
          <p:cNvSpPr>
            <a:spLocks xmlns:a="http://schemas.openxmlformats.org/drawingml/2006/main" noGrp="1"/>
          </p:cNvSpPr>
          <p:nvPr/>
        </p:nvSpPr>
        <p:spPr>
          <a:xfrm xmlns:a="http://schemas.openxmlformats.org/drawingml/2006/main">
            <a:off x="1504950" y="195262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Collect</a:t>
            </a:r>
          </a:p>
        </p:txBody>
      </p:sp>
      <p:sp>
        <p:nvSpPr>
          <p:cNvPr id="6" name="">
            <a:extLst xmlns:a="http://schemas.openxmlformats.org/drawingml/2006/main">
              <a:ext uri="{FF2B5EF4-FFF2-40B4-BE49-F238E27FC236}">
                <a16:creationId xmlns:a16="http://schemas.microsoft.com/office/drawing/2014/main" id="{F5342F74-0A87-48A3-BF6A-920F86A68D14}"/>
              </a:ext>
            </a:extLst>
          </p:cNvPr>
          <p:cNvSpPr>
            <a:spLocks xmlns:a="http://schemas.openxmlformats.org/drawingml/2006/main" noGrp="1"/>
          </p:cNvSpPr>
          <p:nvPr/>
        </p:nvSpPr>
        <p:spPr>
          <a:xfrm xmlns:a="http://schemas.openxmlformats.org/drawingml/2006/main">
            <a:off x="4953000" y="1971675"/>
            <a:ext cx="619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C6C6C2"/>
                </a:solidFill>
              </a:defRPr>
            </a:defPPr>
            <a:lvl1pPr algn="l">
              <a:defRPr sz="1725" b="0">
                <a:solidFill>
                  <a:srgbClr val="C6C6C2"/>
                </a:solidFill>
              </a:defRPr>
            </a:lvl1pPr>
            <a:lvl2pPr algn="l">
              <a:defRPr sz="1725" b="0">
                <a:solidFill>
                  <a:srgbClr val="C6C6C2"/>
                </a:solidFill>
              </a:defRPr>
            </a:lvl2pPr>
            <a:lvl3pPr algn="l">
              <a:defRPr sz="1725" b="0">
                <a:solidFill>
                  <a:srgbClr val="C6C6C2"/>
                </a:solidFill>
              </a:defRPr>
            </a:lvl3pPr>
            <a:lvl4pPr algn="l">
              <a:defRPr sz="1725" b="0">
                <a:solidFill>
                  <a:srgbClr val="C6C6C2"/>
                </a:solidFill>
              </a:defRPr>
            </a:lvl4pPr>
            <a:lvl5pPr algn="l">
              <a:defRPr sz="1725" b="0">
                <a:solidFill>
                  <a:srgbClr val="C6C6C2"/>
                </a:solidFill>
              </a:defRPr>
            </a:lvl5pPr>
            <a:lvl6pPr algn="l">
              <a:defRPr sz="1725" b="0">
                <a:solidFill>
                  <a:srgbClr val="C6C6C2"/>
                </a:solidFill>
              </a:defRPr>
            </a:lvl6pPr>
            <a:lvl7pPr algn="l">
              <a:defRPr sz="1725" b="0">
                <a:solidFill>
                  <a:srgbClr val="C6C6C2"/>
                </a:solidFill>
              </a:defRPr>
            </a:lvl7pPr>
            <a:lvl8pPr algn="l">
              <a:defRPr sz="1725" b="0">
                <a:solidFill>
                  <a:srgbClr val="C6C6C2"/>
                </a:solidFill>
              </a:defRPr>
            </a:lvl8pPr>
            <a:lvl9pPr algn="l">
              <a:defRPr sz="1725" b="0">
                <a:solidFill>
                  <a:srgbClr val="C6C6C2"/>
                </a:solidFill>
              </a:defRPr>
            </a:lvl9pPr>
          </a:lstStyle>
          <a:p xmlns:a="http://schemas.openxmlformats.org/drawingml/2006/main">
            <a:pPr algn="l">
              <a:defRPr sz="1725" b="0">
                <a:solidFill>
                  <a:srgbClr val="C6C6C2"/>
                </a:solidFill>
              </a:defRPr>
            </a:pPr>
            <a:r>
              <a:rPr sz="1725" b="0">
                <a:solidFill>
                  <a:srgbClr val="C6C6C2"/>
                </a:solidFill>
              </a:rPr>
              <a:t>Demo traffic, an uploaded capture, or an opt-in live capture</a:t>
            </a:r>
          </a:p>
        </p:txBody>
      </p:sp>
      <p:sp>
        <p:nvSpPr>
          <p:cNvPr id="7" name="">
            <a:extLst xmlns:a="http://schemas.openxmlformats.org/drawingml/2006/main">
              <a:ext uri="{FF2B5EF4-FFF2-40B4-BE49-F238E27FC236}">
                <a16:creationId xmlns:a16="http://schemas.microsoft.com/office/drawing/2014/main" id="{E0F0F018-38C5-454B-A9A3-D95D7FB06FFA}"/>
              </a:ext>
            </a:extLst>
          </p:cNvPr>
          <p:cNvSpPr>
            <a:spLocks xmlns:a="http://schemas.openxmlformats.org/drawingml/2006/main" noGrp="1"/>
          </p:cNvSpPr>
          <p:nvPr/>
        </p:nvSpPr>
        <p:spPr>
          <a:xfrm xmlns:a="http://schemas.openxmlformats.org/drawingml/2006/main">
            <a:off x="685800" y="2857500"/>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02</a:t>
            </a:r>
          </a:p>
        </p:txBody>
      </p:sp>
      <p:sp>
        <p:nvSpPr>
          <p:cNvPr id="8" name="">
            <a:extLst xmlns:a="http://schemas.openxmlformats.org/drawingml/2006/main">
              <a:ext uri="{FF2B5EF4-FFF2-40B4-BE49-F238E27FC236}">
                <a16:creationId xmlns:a16="http://schemas.microsoft.com/office/drawing/2014/main" id="{0B5CEFCA-46A2-4997-ABC6-84C8D89AFE78}"/>
              </a:ext>
            </a:extLst>
          </p:cNvPr>
          <p:cNvSpPr>
            <a:spLocks xmlns:a="http://schemas.openxmlformats.org/drawingml/2006/main" noGrp="1"/>
          </p:cNvSpPr>
          <p:nvPr/>
        </p:nvSpPr>
        <p:spPr>
          <a:xfrm xmlns:a="http://schemas.openxmlformats.org/drawingml/2006/main">
            <a:off x="1504950" y="28575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Measure</a:t>
            </a:r>
          </a:p>
        </p:txBody>
      </p:sp>
      <p:sp>
        <p:nvSpPr>
          <p:cNvPr id="9" name="">
            <a:extLst xmlns:a="http://schemas.openxmlformats.org/drawingml/2006/main">
              <a:ext uri="{FF2B5EF4-FFF2-40B4-BE49-F238E27FC236}">
                <a16:creationId xmlns:a16="http://schemas.microsoft.com/office/drawing/2014/main" id="{68D5F0BE-634F-4781-A236-99D65FB597D6}"/>
              </a:ext>
            </a:extLst>
          </p:cNvPr>
          <p:cNvSpPr>
            <a:spLocks xmlns:a="http://schemas.openxmlformats.org/drawingml/2006/main" noGrp="1"/>
          </p:cNvSpPr>
          <p:nvPr/>
        </p:nvSpPr>
        <p:spPr>
          <a:xfrm xmlns:a="http://schemas.openxmlformats.org/drawingml/2006/main">
            <a:off x="4953000" y="287655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C6C6C2"/>
                </a:solidFill>
              </a:defRPr>
            </a:defPPr>
            <a:lvl1pPr algn="l">
              <a:defRPr sz="1725" b="0">
                <a:solidFill>
                  <a:srgbClr val="C6C6C2"/>
                </a:solidFill>
              </a:defRPr>
            </a:lvl1pPr>
            <a:lvl2pPr algn="l">
              <a:defRPr sz="1725" b="0">
                <a:solidFill>
                  <a:srgbClr val="C6C6C2"/>
                </a:solidFill>
              </a:defRPr>
            </a:lvl2pPr>
            <a:lvl3pPr algn="l">
              <a:defRPr sz="1725" b="0">
                <a:solidFill>
                  <a:srgbClr val="C6C6C2"/>
                </a:solidFill>
              </a:defRPr>
            </a:lvl3pPr>
            <a:lvl4pPr algn="l">
              <a:defRPr sz="1725" b="0">
                <a:solidFill>
                  <a:srgbClr val="C6C6C2"/>
                </a:solidFill>
              </a:defRPr>
            </a:lvl4pPr>
            <a:lvl5pPr algn="l">
              <a:defRPr sz="1725" b="0">
                <a:solidFill>
                  <a:srgbClr val="C6C6C2"/>
                </a:solidFill>
              </a:defRPr>
            </a:lvl5pPr>
            <a:lvl6pPr algn="l">
              <a:defRPr sz="1725" b="0">
                <a:solidFill>
                  <a:srgbClr val="C6C6C2"/>
                </a:solidFill>
              </a:defRPr>
            </a:lvl6pPr>
            <a:lvl7pPr algn="l">
              <a:defRPr sz="1725" b="0">
                <a:solidFill>
                  <a:srgbClr val="C6C6C2"/>
                </a:solidFill>
              </a:defRPr>
            </a:lvl7pPr>
            <a:lvl8pPr algn="l">
              <a:defRPr sz="1725" b="0">
                <a:solidFill>
                  <a:srgbClr val="C6C6C2"/>
                </a:solidFill>
              </a:defRPr>
            </a:lvl8pPr>
            <a:lvl9pPr algn="l">
              <a:defRPr sz="1725" b="0">
                <a:solidFill>
                  <a:srgbClr val="C6C6C2"/>
                </a:solidFill>
              </a:defRPr>
            </a:lvl9pPr>
          </a:lstStyle>
          <a:p xmlns:a="http://schemas.openxmlformats.org/drawingml/2006/main">
            <a:pPr algn="l">
              <a:defRPr sz="1725" b="0">
                <a:solidFill>
                  <a:srgbClr val="C6C6C2"/>
                </a:solidFill>
              </a:defRPr>
            </a:pPr>
            <a:r>
              <a:rPr sz="1725" b="0">
                <a:solidFill>
                  <a:srgbClr val="C6C6C2"/>
                </a:solidFill>
              </a:rPr>
              <a:t>Group packet metadata into five-second windows</a:t>
            </a:r>
          </a:p>
        </p:txBody>
      </p:sp>
      <p:sp>
        <p:nvSpPr>
          <p:cNvPr id="10" name="">
            <a:extLst xmlns:a="http://schemas.openxmlformats.org/drawingml/2006/main">
              <a:ext uri="{FF2B5EF4-FFF2-40B4-BE49-F238E27FC236}">
                <a16:creationId xmlns:a16="http://schemas.microsoft.com/office/drawing/2014/main" id="{71EDF5F8-2121-43EF-B9C0-438E3084B3DE}"/>
              </a:ext>
            </a:extLst>
          </p:cNvPr>
          <p:cNvSpPr>
            <a:spLocks xmlns:a="http://schemas.openxmlformats.org/drawingml/2006/main" noGrp="1"/>
          </p:cNvSpPr>
          <p:nvPr/>
        </p:nvSpPr>
        <p:spPr>
          <a:xfrm xmlns:a="http://schemas.openxmlformats.org/drawingml/2006/main">
            <a:off x="685800" y="3762375"/>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03</a:t>
            </a:r>
          </a:p>
        </p:txBody>
      </p:sp>
      <p:sp>
        <p:nvSpPr>
          <p:cNvPr id="11" name="">
            <a:extLst xmlns:a="http://schemas.openxmlformats.org/drawingml/2006/main">
              <a:ext uri="{FF2B5EF4-FFF2-40B4-BE49-F238E27FC236}">
                <a16:creationId xmlns:a16="http://schemas.microsoft.com/office/drawing/2014/main" id="{D2FACC21-0795-46EE-AE27-E2286A9A4830}"/>
              </a:ext>
            </a:extLst>
          </p:cNvPr>
          <p:cNvSpPr>
            <a:spLocks xmlns:a="http://schemas.openxmlformats.org/drawingml/2006/main" noGrp="1"/>
          </p:cNvSpPr>
          <p:nvPr/>
        </p:nvSpPr>
        <p:spPr>
          <a:xfrm xmlns:a="http://schemas.openxmlformats.org/drawingml/2006/main">
            <a:off x="1504950" y="376237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Decide</a:t>
            </a:r>
          </a:p>
        </p:txBody>
      </p:sp>
      <p:sp>
        <p:nvSpPr>
          <p:cNvPr id="12" name="">
            <a:extLst xmlns:a="http://schemas.openxmlformats.org/drawingml/2006/main">
              <a:ext uri="{FF2B5EF4-FFF2-40B4-BE49-F238E27FC236}">
                <a16:creationId xmlns:a16="http://schemas.microsoft.com/office/drawing/2014/main" id="{CA0806D1-245F-41A3-BEC3-279C3619CE6F}"/>
              </a:ext>
            </a:extLst>
          </p:cNvPr>
          <p:cNvSpPr>
            <a:spLocks xmlns:a="http://schemas.openxmlformats.org/drawingml/2006/main" noGrp="1"/>
          </p:cNvSpPr>
          <p:nvPr/>
        </p:nvSpPr>
        <p:spPr>
          <a:xfrm xmlns:a="http://schemas.openxmlformats.org/drawingml/2006/main">
            <a:off x="4953000" y="3781425"/>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C6C6C2"/>
                </a:solidFill>
              </a:defRPr>
            </a:defPPr>
            <a:lvl1pPr algn="l">
              <a:defRPr sz="1725" b="0">
                <a:solidFill>
                  <a:srgbClr val="C6C6C2"/>
                </a:solidFill>
              </a:defRPr>
            </a:lvl1pPr>
            <a:lvl2pPr algn="l">
              <a:defRPr sz="1725" b="0">
                <a:solidFill>
                  <a:srgbClr val="C6C6C2"/>
                </a:solidFill>
              </a:defRPr>
            </a:lvl2pPr>
            <a:lvl3pPr algn="l">
              <a:defRPr sz="1725" b="0">
                <a:solidFill>
                  <a:srgbClr val="C6C6C2"/>
                </a:solidFill>
              </a:defRPr>
            </a:lvl3pPr>
            <a:lvl4pPr algn="l">
              <a:defRPr sz="1725" b="0">
                <a:solidFill>
                  <a:srgbClr val="C6C6C2"/>
                </a:solidFill>
              </a:defRPr>
            </a:lvl4pPr>
            <a:lvl5pPr algn="l">
              <a:defRPr sz="1725" b="0">
                <a:solidFill>
                  <a:srgbClr val="C6C6C2"/>
                </a:solidFill>
              </a:defRPr>
            </a:lvl5pPr>
            <a:lvl6pPr algn="l">
              <a:defRPr sz="1725" b="0">
                <a:solidFill>
                  <a:srgbClr val="C6C6C2"/>
                </a:solidFill>
              </a:defRPr>
            </a:lvl6pPr>
            <a:lvl7pPr algn="l">
              <a:defRPr sz="1725" b="0">
                <a:solidFill>
                  <a:srgbClr val="C6C6C2"/>
                </a:solidFill>
              </a:defRPr>
            </a:lvl7pPr>
            <a:lvl8pPr algn="l">
              <a:defRPr sz="1725" b="0">
                <a:solidFill>
                  <a:srgbClr val="C6C6C2"/>
                </a:solidFill>
              </a:defRPr>
            </a:lvl8pPr>
            <a:lvl9pPr algn="l">
              <a:defRPr sz="1725" b="0">
                <a:solidFill>
                  <a:srgbClr val="C6C6C2"/>
                </a:solidFill>
              </a:defRPr>
            </a:lvl9pPr>
          </a:lstStyle>
          <a:p xmlns:a="http://schemas.openxmlformats.org/drawingml/2006/main">
            <a:pPr algn="l">
              <a:defRPr sz="1725" b="0">
                <a:solidFill>
                  <a:srgbClr val="C6C6C2"/>
                </a:solidFill>
              </a:defRPr>
            </a:pPr>
            <a:r>
              <a:rPr sz="1725" b="0">
                <a:solidFill>
                  <a:srgbClr val="C6C6C2"/>
                </a:solidFill>
              </a:rPr>
              <a:t>Apply packet-rate and TCP SYN rules</a:t>
            </a:r>
          </a:p>
        </p:txBody>
      </p:sp>
      <p:sp>
        <p:nvSpPr>
          <p:cNvPr id="13" name="">
            <a:extLst xmlns:a="http://schemas.openxmlformats.org/drawingml/2006/main">
              <a:ext uri="{FF2B5EF4-FFF2-40B4-BE49-F238E27FC236}">
                <a16:creationId xmlns:a16="http://schemas.microsoft.com/office/drawing/2014/main" id="{CBC6DD6B-0BC3-41CD-8FD9-01EAD025DEC7}"/>
              </a:ext>
            </a:extLst>
          </p:cNvPr>
          <p:cNvSpPr>
            <a:spLocks xmlns:a="http://schemas.openxmlformats.org/drawingml/2006/main" noGrp="1"/>
          </p:cNvSpPr>
          <p:nvPr/>
        </p:nvSpPr>
        <p:spPr>
          <a:xfrm xmlns:a="http://schemas.openxmlformats.org/drawingml/2006/main">
            <a:off x="685800" y="4667250"/>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04</a:t>
            </a:r>
          </a:p>
        </p:txBody>
      </p:sp>
      <p:sp>
        <p:nvSpPr>
          <p:cNvPr id="14" name="">
            <a:extLst xmlns:a="http://schemas.openxmlformats.org/drawingml/2006/main">
              <a:ext uri="{FF2B5EF4-FFF2-40B4-BE49-F238E27FC236}">
                <a16:creationId xmlns:a16="http://schemas.microsoft.com/office/drawing/2014/main" id="{A0DC9200-9218-4F97-84C3-65D6A8A9F0A4}"/>
              </a:ext>
            </a:extLst>
          </p:cNvPr>
          <p:cNvSpPr>
            <a:spLocks xmlns:a="http://schemas.openxmlformats.org/drawingml/2006/main" noGrp="1"/>
          </p:cNvSpPr>
          <p:nvPr/>
        </p:nvSpPr>
        <p:spPr>
          <a:xfrm xmlns:a="http://schemas.openxmlformats.org/drawingml/2006/main">
            <a:off x="1504950" y="466725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Explain</a:t>
            </a:r>
          </a:p>
        </p:txBody>
      </p:sp>
      <p:sp>
        <p:nvSpPr>
          <p:cNvPr id="15" name="">
            <a:extLst xmlns:a="http://schemas.openxmlformats.org/drawingml/2006/main">
              <a:ext uri="{FF2B5EF4-FFF2-40B4-BE49-F238E27FC236}">
                <a16:creationId xmlns:a16="http://schemas.microsoft.com/office/drawing/2014/main" id="{F596A6A4-2BCB-438A-AA5F-A179BAF5C165}"/>
              </a:ext>
            </a:extLst>
          </p:cNvPr>
          <p:cNvSpPr>
            <a:spLocks xmlns:a="http://schemas.openxmlformats.org/drawingml/2006/main" noGrp="1"/>
          </p:cNvSpPr>
          <p:nvPr/>
        </p:nvSpPr>
        <p:spPr>
          <a:xfrm xmlns:a="http://schemas.openxmlformats.org/drawingml/2006/main">
            <a:off x="4953000" y="4686300"/>
            <a:ext cx="619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C6C6C2"/>
                </a:solidFill>
              </a:defRPr>
            </a:defPPr>
            <a:lvl1pPr algn="l">
              <a:defRPr sz="1725" b="0">
                <a:solidFill>
                  <a:srgbClr val="C6C6C2"/>
                </a:solidFill>
              </a:defRPr>
            </a:lvl1pPr>
            <a:lvl2pPr algn="l">
              <a:defRPr sz="1725" b="0">
                <a:solidFill>
                  <a:srgbClr val="C6C6C2"/>
                </a:solidFill>
              </a:defRPr>
            </a:lvl2pPr>
            <a:lvl3pPr algn="l">
              <a:defRPr sz="1725" b="0">
                <a:solidFill>
                  <a:srgbClr val="C6C6C2"/>
                </a:solidFill>
              </a:defRPr>
            </a:lvl3pPr>
            <a:lvl4pPr algn="l">
              <a:defRPr sz="1725" b="0">
                <a:solidFill>
                  <a:srgbClr val="C6C6C2"/>
                </a:solidFill>
              </a:defRPr>
            </a:lvl4pPr>
            <a:lvl5pPr algn="l">
              <a:defRPr sz="1725" b="0">
                <a:solidFill>
                  <a:srgbClr val="C6C6C2"/>
                </a:solidFill>
              </a:defRPr>
            </a:lvl5pPr>
            <a:lvl6pPr algn="l">
              <a:defRPr sz="1725" b="0">
                <a:solidFill>
                  <a:srgbClr val="C6C6C2"/>
                </a:solidFill>
              </a:defRPr>
            </a:lvl6pPr>
            <a:lvl7pPr algn="l">
              <a:defRPr sz="1725" b="0">
                <a:solidFill>
                  <a:srgbClr val="C6C6C2"/>
                </a:solidFill>
              </a:defRPr>
            </a:lvl7pPr>
            <a:lvl8pPr algn="l">
              <a:defRPr sz="1725" b="0">
                <a:solidFill>
                  <a:srgbClr val="C6C6C2"/>
                </a:solidFill>
              </a:defRPr>
            </a:lvl8pPr>
            <a:lvl9pPr algn="l">
              <a:defRPr sz="1725" b="0">
                <a:solidFill>
                  <a:srgbClr val="C6C6C2"/>
                </a:solidFill>
              </a:defRPr>
            </a:lvl9pPr>
          </a:lstStyle>
          <a:p xmlns:a="http://schemas.openxmlformats.org/drawingml/2006/main">
            <a:pPr algn="l">
              <a:defRPr sz="1725" b="0">
                <a:solidFill>
                  <a:srgbClr val="C6C6C2"/>
                </a:solidFill>
              </a:defRPr>
            </a:pPr>
            <a:r>
              <a:rPr sz="1725" b="0">
                <a:solidFill>
                  <a:srgbClr val="C6C6C2"/>
                </a:solidFill>
              </a:rPr>
              <a:t>Show charts and reasons; store alerts in SQLite</a:t>
            </a:r>
          </a:p>
        </p:txBody>
      </p:sp>
    </p:spTree>
    <p:extLst>
      <p:ext uri="{BB962C8B-B14F-4D97-AF65-F5344CB8AC3E}">
        <p14:creationId xmlns:p14="http://schemas.microsoft.com/office/powerpoint/2010/main" val="1804596670"/>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3C78591-702E-45A4-A2B4-8ECAA11EDCF2}"/>
              </a:ext>
            </a:extLst>
          </p:cNvPr>
          <p:cNvSpPr>
            <a:spLocks xmlns:a="http://schemas.openxmlformats.org/drawingml/2006/main" noGrp="1"/>
          </p:cNvSpPr>
          <p:nvPr/>
        </p:nvSpPr>
        <p:spPr>
          <a:xfrm xmlns:a="http://schemas.openxmlformats.org/drawingml/2006/main">
            <a:off x="685800" y="4381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DE5A1D"/>
                </a:solidFill>
              </a:defRPr>
            </a:defPPr>
            <a:lvl1pPr algn="l">
              <a:defRPr sz="1200" b="1">
                <a:solidFill>
                  <a:srgbClr val="DE5A1D"/>
                </a:solidFill>
              </a:defRPr>
            </a:lvl1pPr>
            <a:lvl2pPr algn="l">
              <a:defRPr sz="1200" b="1">
                <a:solidFill>
                  <a:srgbClr val="DE5A1D"/>
                </a:solidFill>
              </a:defRPr>
            </a:lvl2pPr>
            <a:lvl3pPr algn="l">
              <a:defRPr sz="1200" b="1">
                <a:solidFill>
                  <a:srgbClr val="DE5A1D"/>
                </a:solidFill>
              </a:defRPr>
            </a:lvl3pPr>
            <a:lvl4pPr algn="l">
              <a:defRPr sz="1200" b="1">
                <a:solidFill>
                  <a:srgbClr val="DE5A1D"/>
                </a:solidFill>
              </a:defRPr>
            </a:lvl4pPr>
            <a:lvl5pPr algn="l">
              <a:defRPr sz="1200" b="1">
                <a:solidFill>
                  <a:srgbClr val="DE5A1D"/>
                </a:solidFill>
              </a:defRPr>
            </a:lvl5pPr>
            <a:lvl6pPr algn="l">
              <a:defRPr sz="1200" b="1">
                <a:solidFill>
                  <a:srgbClr val="DE5A1D"/>
                </a:solidFill>
              </a:defRPr>
            </a:lvl6pPr>
            <a:lvl7pPr algn="l">
              <a:defRPr sz="1200" b="1">
                <a:solidFill>
                  <a:srgbClr val="DE5A1D"/>
                </a:solidFill>
              </a:defRPr>
            </a:lvl7pPr>
            <a:lvl8pPr algn="l">
              <a:defRPr sz="1200" b="1">
                <a:solidFill>
                  <a:srgbClr val="DE5A1D"/>
                </a:solidFill>
              </a:defRPr>
            </a:lvl8pPr>
            <a:lvl9pPr algn="l">
              <a:defRPr sz="1200" b="1">
                <a:solidFill>
                  <a:srgbClr val="DE5A1D"/>
                </a:solidFill>
              </a:defRPr>
            </a:lvl9pPr>
          </a:lstStyle>
          <a:p xmlns:a="http://schemas.openxmlformats.org/drawingml/2006/main">
            <a:pPr algn="l">
              <a:defRPr sz="1200" b="1">
                <a:solidFill>
                  <a:srgbClr val="DE5A1D"/>
                </a:solidFill>
              </a:defRPr>
            </a:pPr>
            <a:r>
              <a:rPr sz="1200" b="1">
                <a:solidFill>
                  <a:srgbClr val="DE5A1D"/>
                </a:solidFill>
              </a:rPr>
              <a:t>FEATURES</a:t>
            </a:r>
          </a:p>
        </p:txBody>
      </p:sp>
      <p:sp>
        <p:nvSpPr>
          <p:cNvPr id="2" name="">
            <a:extLst xmlns:a="http://schemas.openxmlformats.org/drawingml/2006/main">
              <a:ext uri="{FF2B5EF4-FFF2-40B4-BE49-F238E27FC236}">
                <a16:creationId xmlns:a16="http://schemas.microsoft.com/office/drawing/2014/main" id="{281702C5-D826-4D32-8FE3-04BF3B28347B}"/>
              </a:ext>
            </a:extLst>
          </p:cNvPr>
          <p:cNvSpPr>
            <a:spLocks xmlns:a="http://schemas.openxmlformats.org/drawingml/2006/main" noGrp="1"/>
          </p:cNvSpPr>
          <p:nvPr/>
        </p:nvSpPr>
        <p:spPr>
          <a:xfrm xmlns:a="http://schemas.openxmlformats.org/drawingml/2006/main">
            <a:off x="685800" y="8953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F7F7F5"/>
                </a:solidFill>
              </a:defRPr>
            </a:defPPr>
            <a:lvl1pPr algn="l">
              <a:defRPr sz="3000" b="1">
                <a:solidFill>
                  <a:srgbClr val="F7F7F5"/>
                </a:solidFill>
              </a:defRPr>
            </a:lvl1pPr>
            <a:lvl2pPr algn="l">
              <a:defRPr sz="3000" b="1">
                <a:solidFill>
                  <a:srgbClr val="F7F7F5"/>
                </a:solidFill>
              </a:defRPr>
            </a:lvl2pPr>
            <a:lvl3pPr algn="l">
              <a:defRPr sz="3000" b="1">
                <a:solidFill>
                  <a:srgbClr val="F7F7F5"/>
                </a:solidFill>
              </a:defRPr>
            </a:lvl3pPr>
            <a:lvl4pPr algn="l">
              <a:defRPr sz="3000" b="1">
                <a:solidFill>
                  <a:srgbClr val="F7F7F5"/>
                </a:solidFill>
              </a:defRPr>
            </a:lvl4pPr>
            <a:lvl5pPr algn="l">
              <a:defRPr sz="3000" b="1">
                <a:solidFill>
                  <a:srgbClr val="F7F7F5"/>
                </a:solidFill>
              </a:defRPr>
            </a:lvl5pPr>
            <a:lvl6pPr algn="l">
              <a:defRPr sz="3000" b="1">
                <a:solidFill>
                  <a:srgbClr val="F7F7F5"/>
                </a:solidFill>
              </a:defRPr>
            </a:lvl6pPr>
            <a:lvl7pPr algn="l">
              <a:defRPr sz="3000" b="1">
                <a:solidFill>
                  <a:srgbClr val="F7F7F5"/>
                </a:solidFill>
              </a:defRPr>
            </a:lvl7pPr>
            <a:lvl8pPr algn="l">
              <a:defRPr sz="3000" b="1">
                <a:solidFill>
                  <a:srgbClr val="F7F7F5"/>
                </a:solidFill>
              </a:defRPr>
            </a:lvl8pPr>
            <a:lvl9pPr algn="l">
              <a:defRPr sz="3000" b="1">
                <a:solidFill>
                  <a:srgbClr val="F7F7F5"/>
                </a:solidFill>
              </a:defRPr>
            </a:lvl9pPr>
          </a:lstStyle>
          <a:p xmlns:a="http://schemas.openxmlformats.org/drawingml/2006/main">
            <a:pPr algn="l">
              <a:defRPr sz="3000" b="1">
                <a:solidFill>
                  <a:srgbClr val="F7F7F5"/>
                </a:solidFill>
              </a:defRPr>
            </a:pPr>
            <a:r>
              <a:rPr sz="3000" b="1">
                <a:solidFill>
                  <a:srgbClr val="F7F7F5"/>
                </a:solidFill>
              </a:rPr>
              <a:t>What each window measures</a:t>
            </a:r>
          </a:p>
        </p:txBody>
      </p:sp>
      <p:sp>
        <p:nvSpPr>
          <p:cNvPr id="3" name="">
            <a:extLst xmlns:a="http://schemas.openxmlformats.org/drawingml/2006/main">
              <a:ext uri="{FF2B5EF4-FFF2-40B4-BE49-F238E27FC236}">
                <a16:creationId xmlns:a16="http://schemas.microsoft.com/office/drawing/2014/main" id="{45C95EA4-FFE6-4A70-80ED-4CE72F0961F2}"/>
              </a:ext>
            </a:extLst>
          </p:cNvPr>
          <p:cNvSpPr>
            <a:spLocks xmlns:a="http://schemas.openxmlformats.org/drawingml/2006/main" noGrp="1"/>
          </p:cNvSpPr>
          <p:nvPr/>
        </p:nvSpPr>
        <p:spPr>
          <a:xfrm xmlns:a="http://schemas.openxmlformats.org/drawingml/2006/main">
            <a:off x="11049000" y="5334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0">
                <a:solidFill>
                  <a:srgbClr val="8C8C88"/>
                </a:solidFill>
              </a:defRPr>
            </a:defPPr>
            <a:lvl1pPr algn="r">
              <a:defRPr sz="1050" b="0">
                <a:solidFill>
                  <a:srgbClr val="8C8C88"/>
                </a:solidFill>
              </a:defRPr>
            </a:lvl1pPr>
            <a:lvl2pPr algn="r">
              <a:defRPr sz="1050" b="0">
                <a:solidFill>
                  <a:srgbClr val="8C8C88"/>
                </a:solidFill>
              </a:defRPr>
            </a:lvl2pPr>
            <a:lvl3pPr algn="r">
              <a:defRPr sz="1050" b="0">
                <a:solidFill>
                  <a:srgbClr val="8C8C88"/>
                </a:solidFill>
              </a:defRPr>
            </a:lvl3pPr>
            <a:lvl4pPr algn="r">
              <a:defRPr sz="1050" b="0">
                <a:solidFill>
                  <a:srgbClr val="8C8C88"/>
                </a:solidFill>
              </a:defRPr>
            </a:lvl4pPr>
            <a:lvl5pPr algn="r">
              <a:defRPr sz="1050" b="0">
                <a:solidFill>
                  <a:srgbClr val="8C8C88"/>
                </a:solidFill>
              </a:defRPr>
            </a:lvl5pPr>
            <a:lvl6pPr algn="r">
              <a:defRPr sz="1050" b="0">
                <a:solidFill>
                  <a:srgbClr val="8C8C88"/>
                </a:solidFill>
              </a:defRPr>
            </a:lvl6pPr>
            <a:lvl7pPr algn="r">
              <a:defRPr sz="1050" b="0">
                <a:solidFill>
                  <a:srgbClr val="8C8C88"/>
                </a:solidFill>
              </a:defRPr>
            </a:lvl7pPr>
            <a:lvl8pPr algn="r">
              <a:defRPr sz="1050" b="0">
                <a:solidFill>
                  <a:srgbClr val="8C8C88"/>
                </a:solidFill>
              </a:defRPr>
            </a:lvl8pPr>
            <a:lvl9pPr algn="r">
              <a:defRPr sz="1050" b="0">
                <a:solidFill>
                  <a:srgbClr val="8C8C88"/>
                </a:solidFill>
              </a:defRPr>
            </a:lvl9pPr>
          </a:lstStyle>
          <a:p xmlns:a="http://schemas.openxmlformats.org/drawingml/2006/main">
            <a:pPr algn="r">
              <a:defRPr sz="1050" b="0">
                <a:solidFill>
                  <a:srgbClr val="8C8C88"/>
                </a:solidFill>
              </a:defRPr>
            </a:pPr>
            <a:r>
              <a:rPr sz="1050" b="0">
                <a:solidFill>
                  <a:srgbClr val="8C8C88"/>
                </a:solidFill>
              </a:rPr>
              <a:t>04</a:t>
            </a:r>
          </a:p>
        </p:txBody>
      </p:sp>
      <p:sp>
        <p:nvSpPr>
          <p:cNvPr id="4" name="">
            <a:extLst xmlns:a="http://schemas.openxmlformats.org/drawingml/2006/main">
              <a:ext uri="{FF2B5EF4-FFF2-40B4-BE49-F238E27FC236}">
                <a16:creationId xmlns:a16="http://schemas.microsoft.com/office/drawing/2014/main" id="{F0B3B952-7D93-4771-A767-D04A74F71D3E}"/>
              </a:ext>
            </a:extLst>
          </p:cNvPr>
          <p:cNvSpPr>
            <a:spLocks xmlns:a="http://schemas.openxmlformats.org/drawingml/2006/main" noGrp="1"/>
          </p:cNvSpPr>
          <p:nvPr/>
        </p:nvSpPr>
        <p:spPr>
          <a:xfrm xmlns:a="http://schemas.openxmlformats.org/drawingml/2006/main">
            <a:off x="704850" y="186690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F7F7F5"/>
                </a:solidFill>
              </a:defRPr>
            </a:defPPr>
            <a:lvl1pPr algn="l">
              <a:defRPr sz="2175" b="0">
                <a:solidFill>
                  <a:srgbClr val="F7F7F5"/>
                </a:solidFill>
              </a:defRPr>
            </a:lvl1pPr>
            <a:lvl2pPr algn="l">
              <a:defRPr sz="2175" b="0">
                <a:solidFill>
                  <a:srgbClr val="F7F7F5"/>
                </a:solidFill>
              </a:defRPr>
            </a:lvl2pPr>
            <a:lvl3pPr algn="l">
              <a:defRPr sz="2175" b="0">
                <a:solidFill>
                  <a:srgbClr val="F7F7F5"/>
                </a:solidFill>
              </a:defRPr>
            </a:lvl3pPr>
            <a:lvl4pPr algn="l">
              <a:defRPr sz="2175" b="0">
                <a:solidFill>
                  <a:srgbClr val="F7F7F5"/>
                </a:solidFill>
              </a:defRPr>
            </a:lvl4pPr>
            <a:lvl5pPr algn="l">
              <a:defRPr sz="2175" b="0">
                <a:solidFill>
                  <a:srgbClr val="F7F7F5"/>
                </a:solidFill>
              </a:defRPr>
            </a:lvl5pPr>
            <a:lvl6pPr algn="l">
              <a:defRPr sz="2175" b="0">
                <a:solidFill>
                  <a:srgbClr val="F7F7F5"/>
                </a:solidFill>
              </a:defRPr>
            </a:lvl6pPr>
            <a:lvl7pPr algn="l">
              <a:defRPr sz="2175" b="0">
                <a:solidFill>
                  <a:srgbClr val="F7F7F5"/>
                </a:solidFill>
              </a:defRPr>
            </a:lvl7pPr>
            <a:lvl8pPr algn="l">
              <a:defRPr sz="2175" b="0">
                <a:solidFill>
                  <a:srgbClr val="F7F7F5"/>
                </a:solidFill>
              </a:defRPr>
            </a:lvl8pPr>
            <a:lvl9pPr algn="l">
              <a:defRPr sz="2175" b="0">
                <a:solidFill>
                  <a:srgbClr val="F7F7F5"/>
                </a:solidFill>
              </a:defRPr>
            </a:lvl9pPr>
          </a:lstStyle>
          <a:p xmlns:a="http://schemas.openxmlformats.org/drawingml/2006/main">
            <a:pPr algn="l">
              <a:defRPr sz="2175" b="0">
                <a:solidFill>
                  <a:srgbClr val="F7F7F5"/>
                </a:solidFill>
              </a:defRPr>
            </a:pPr>
            <a:r>
              <a:rPr sz="2175" b="0">
                <a:solidFill>
                  <a:srgbClr val="F7F7F5"/>
                </a:solidFill>
              </a:rPr>
              <a:t>The project extracts 21 numeric features from each five-second window.</a:t>
            </a:r>
          </a:p>
        </p:txBody>
      </p:sp>
      <p:sp>
        <p:nvSpPr>
          <p:cNvPr id="5" name="">
            <a:extLst xmlns:a="http://schemas.openxmlformats.org/drawingml/2006/main">
              <a:ext uri="{FF2B5EF4-FFF2-40B4-BE49-F238E27FC236}">
                <a16:creationId xmlns:a16="http://schemas.microsoft.com/office/drawing/2014/main" id="{3E909871-7B5C-47D8-9128-ECE935CE9B1E}"/>
              </a:ext>
            </a:extLst>
          </p:cNvPr>
          <p:cNvSpPr>
            <a:spLocks xmlns:a="http://schemas.openxmlformats.org/drawingml/2006/main" noGrp="1"/>
          </p:cNvSpPr>
          <p:nvPr/>
        </p:nvSpPr>
        <p:spPr>
          <a:xfrm xmlns:a="http://schemas.openxmlformats.org/drawingml/2006/main">
            <a:off x="685800" y="2819400"/>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01</a:t>
            </a:r>
          </a:p>
        </p:txBody>
      </p:sp>
      <p:sp>
        <p:nvSpPr>
          <p:cNvPr id="6" name="">
            <a:extLst xmlns:a="http://schemas.openxmlformats.org/drawingml/2006/main">
              <a:ext uri="{FF2B5EF4-FFF2-40B4-BE49-F238E27FC236}">
                <a16:creationId xmlns:a16="http://schemas.microsoft.com/office/drawing/2014/main" id="{799DD209-4EB5-4D29-9220-FBA03E0C5676}"/>
              </a:ext>
            </a:extLst>
          </p:cNvPr>
          <p:cNvSpPr>
            <a:spLocks xmlns:a="http://schemas.openxmlformats.org/drawingml/2006/main" noGrp="1"/>
          </p:cNvSpPr>
          <p:nvPr/>
        </p:nvSpPr>
        <p:spPr>
          <a:xfrm xmlns:a="http://schemas.openxmlformats.org/drawingml/2006/main">
            <a:off x="1504950" y="28194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Traffic volume</a:t>
            </a:r>
          </a:p>
        </p:txBody>
      </p:sp>
      <p:sp>
        <p:nvSpPr>
          <p:cNvPr id="7" name="">
            <a:extLst xmlns:a="http://schemas.openxmlformats.org/drawingml/2006/main">
              <a:ext uri="{FF2B5EF4-FFF2-40B4-BE49-F238E27FC236}">
                <a16:creationId xmlns:a16="http://schemas.microsoft.com/office/drawing/2014/main" id="{0FFCB7F3-A27D-4E99-9BF7-90BB9937DC29}"/>
              </a:ext>
            </a:extLst>
          </p:cNvPr>
          <p:cNvSpPr>
            <a:spLocks xmlns:a="http://schemas.openxmlformats.org/drawingml/2006/main" noGrp="1"/>
          </p:cNvSpPr>
          <p:nvPr/>
        </p:nvSpPr>
        <p:spPr>
          <a:xfrm xmlns:a="http://schemas.openxmlformats.org/drawingml/2006/main">
            <a:off x="4953000" y="2838450"/>
            <a:ext cx="619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C6C6C2"/>
                </a:solidFill>
              </a:defRPr>
            </a:defPPr>
            <a:lvl1pPr algn="l">
              <a:defRPr sz="1650" b="0">
                <a:solidFill>
                  <a:srgbClr val="C6C6C2"/>
                </a:solidFill>
              </a:defRPr>
            </a:lvl1pPr>
            <a:lvl2pPr algn="l">
              <a:defRPr sz="1650" b="0">
                <a:solidFill>
                  <a:srgbClr val="C6C6C2"/>
                </a:solidFill>
              </a:defRPr>
            </a:lvl2pPr>
            <a:lvl3pPr algn="l">
              <a:defRPr sz="1650" b="0">
                <a:solidFill>
                  <a:srgbClr val="C6C6C2"/>
                </a:solidFill>
              </a:defRPr>
            </a:lvl3pPr>
            <a:lvl4pPr algn="l">
              <a:defRPr sz="1650" b="0">
                <a:solidFill>
                  <a:srgbClr val="C6C6C2"/>
                </a:solidFill>
              </a:defRPr>
            </a:lvl4pPr>
            <a:lvl5pPr algn="l">
              <a:defRPr sz="1650" b="0">
                <a:solidFill>
                  <a:srgbClr val="C6C6C2"/>
                </a:solidFill>
              </a:defRPr>
            </a:lvl5pPr>
            <a:lvl6pPr algn="l">
              <a:defRPr sz="1650" b="0">
                <a:solidFill>
                  <a:srgbClr val="C6C6C2"/>
                </a:solidFill>
              </a:defRPr>
            </a:lvl6pPr>
            <a:lvl7pPr algn="l">
              <a:defRPr sz="1650" b="0">
                <a:solidFill>
                  <a:srgbClr val="C6C6C2"/>
                </a:solidFill>
              </a:defRPr>
            </a:lvl7pPr>
            <a:lvl8pPr algn="l">
              <a:defRPr sz="1650" b="0">
                <a:solidFill>
                  <a:srgbClr val="C6C6C2"/>
                </a:solidFill>
              </a:defRPr>
            </a:lvl8pPr>
            <a:lvl9pPr algn="l">
              <a:defRPr sz="1650" b="0">
                <a:solidFill>
                  <a:srgbClr val="C6C6C2"/>
                </a:solidFill>
              </a:defRPr>
            </a:lvl9pPr>
          </a:lstStyle>
          <a:p xmlns:a="http://schemas.openxmlformats.org/drawingml/2006/main">
            <a:pPr algn="l">
              <a:defRPr sz="1650" b="0">
                <a:solidFill>
                  <a:srgbClr val="C6C6C2"/>
                </a:solidFill>
              </a:defRPr>
            </a:pPr>
            <a:r>
              <a:rPr sz="1650" b="0">
                <a:solidFill>
                  <a:srgbClr val="C6C6C2"/>
                </a:solidFill>
              </a:rPr>
              <a:t>Packet count and bytes become rates per second</a:t>
            </a:r>
          </a:p>
        </p:txBody>
      </p:sp>
      <p:sp>
        <p:nvSpPr>
          <p:cNvPr id="8" name="">
            <a:extLst xmlns:a="http://schemas.openxmlformats.org/drawingml/2006/main">
              <a:ext uri="{FF2B5EF4-FFF2-40B4-BE49-F238E27FC236}">
                <a16:creationId xmlns:a16="http://schemas.microsoft.com/office/drawing/2014/main" id="{FB7B791E-91A4-489B-863E-4F629B5582C3}"/>
              </a:ext>
            </a:extLst>
          </p:cNvPr>
          <p:cNvSpPr>
            <a:spLocks xmlns:a="http://schemas.openxmlformats.org/drawingml/2006/main" noGrp="1"/>
          </p:cNvSpPr>
          <p:nvPr/>
        </p:nvSpPr>
        <p:spPr>
          <a:xfrm xmlns:a="http://schemas.openxmlformats.org/drawingml/2006/main">
            <a:off x="685800" y="3752850"/>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02</a:t>
            </a:r>
          </a:p>
        </p:txBody>
      </p:sp>
      <p:sp>
        <p:nvSpPr>
          <p:cNvPr id="9" name="">
            <a:extLst xmlns:a="http://schemas.openxmlformats.org/drawingml/2006/main">
              <a:ext uri="{FF2B5EF4-FFF2-40B4-BE49-F238E27FC236}">
                <a16:creationId xmlns:a16="http://schemas.microsoft.com/office/drawing/2014/main" id="{62A64547-B93F-4BE0-8057-88BD27AABD95}"/>
              </a:ext>
            </a:extLst>
          </p:cNvPr>
          <p:cNvSpPr>
            <a:spLocks xmlns:a="http://schemas.openxmlformats.org/drawingml/2006/main" noGrp="1"/>
          </p:cNvSpPr>
          <p:nvPr/>
        </p:nvSpPr>
        <p:spPr>
          <a:xfrm xmlns:a="http://schemas.openxmlformats.org/drawingml/2006/main">
            <a:off x="1504950" y="375285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TCP flags</a:t>
            </a:r>
          </a:p>
        </p:txBody>
      </p:sp>
      <p:sp>
        <p:nvSpPr>
          <p:cNvPr id="10" name="">
            <a:extLst xmlns:a="http://schemas.openxmlformats.org/drawingml/2006/main">
              <a:ext uri="{FF2B5EF4-FFF2-40B4-BE49-F238E27FC236}">
                <a16:creationId xmlns:a16="http://schemas.microsoft.com/office/drawing/2014/main" id="{E9DB051C-AF31-4B32-A050-779BE84C667F}"/>
              </a:ext>
            </a:extLst>
          </p:cNvPr>
          <p:cNvSpPr>
            <a:spLocks xmlns:a="http://schemas.openxmlformats.org/drawingml/2006/main" noGrp="1"/>
          </p:cNvSpPr>
          <p:nvPr/>
        </p:nvSpPr>
        <p:spPr>
          <a:xfrm xmlns:a="http://schemas.openxmlformats.org/drawingml/2006/main">
            <a:off x="4953000" y="3771900"/>
            <a:ext cx="619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C6C6C2"/>
                </a:solidFill>
              </a:defRPr>
            </a:defPPr>
            <a:lvl1pPr algn="l">
              <a:defRPr sz="1650" b="0">
                <a:solidFill>
                  <a:srgbClr val="C6C6C2"/>
                </a:solidFill>
              </a:defRPr>
            </a:lvl1pPr>
            <a:lvl2pPr algn="l">
              <a:defRPr sz="1650" b="0">
                <a:solidFill>
                  <a:srgbClr val="C6C6C2"/>
                </a:solidFill>
              </a:defRPr>
            </a:lvl2pPr>
            <a:lvl3pPr algn="l">
              <a:defRPr sz="1650" b="0">
                <a:solidFill>
                  <a:srgbClr val="C6C6C2"/>
                </a:solidFill>
              </a:defRPr>
            </a:lvl3pPr>
            <a:lvl4pPr algn="l">
              <a:defRPr sz="1650" b="0">
                <a:solidFill>
                  <a:srgbClr val="C6C6C2"/>
                </a:solidFill>
              </a:defRPr>
            </a:lvl4pPr>
            <a:lvl5pPr algn="l">
              <a:defRPr sz="1650" b="0">
                <a:solidFill>
                  <a:srgbClr val="C6C6C2"/>
                </a:solidFill>
              </a:defRPr>
            </a:lvl5pPr>
            <a:lvl6pPr algn="l">
              <a:defRPr sz="1650" b="0">
                <a:solidFill>
                  <a:srgbClr val="C6C6C2"/>
                </a:solidFill>
              </a:defRPr>
            </a:lvl6pPr>
            <a:lvl7pPr algn="l">
              <a:defRPr sz="1650" b="0">
                <a:solidFill>
                  <a:srgbClr val="C6C6C2"/>
                </a:solidFill>
              </a:defRPr>
            </a:lvl7pPr>
            <a:lvl8pPr algn="l">
              <a:defRPr sz="1650" b="0">
                <a:solidFill>
                  <a:srgbClr val="C6C6C2"/>
                </a:solidFill>
              </a:defRPr>
            </a:lvl8pPr>
            <a:lvl9pPr algn="l">
              <a:defRPr sz="1650" b="0">
                <a:solidFill>
                  <a:srgbClr val="C6C6C2"/>
                </a:solidFill>
              </a:defRPr>
            </a:lvl9pPr>
          </a:lstStyle>
          <a:p xmlns:a="http://schemas.openxmlformats.org/drawingml/2006/main">
            <a:pPr algn="l">
              <a:defRPr sz="1650" b="0">
                <a:solidFill>
                  <a:srgbClr val="C6C6C2"/>
                </a:solidFill>
              </a:defRPr>
            </a:pPr>
            <a:r>
              <a:rPr sz="1650" b="0">
                <a:solidFill>
                  <a:srgbClr val="C6C6C2"/>
                </a:solidFill>
              </a:rPr>
              <a:t>SYN, SYN-ACK, ACK, FIN, and RST counts reveal connection behavior</a:t>
            </a:r>
          </a:p>
        </p:txBody>
      </p:sp>
      <p:sp>
        <p:nvSpPr>
          <p:cNvPr id="11" name="">
            <a:extLst xmlns:a="http://schemas.openxmlformats.org/drawingml/2006/main">
              <a:ext uri="{FF2B5EF4-FFF2-40B4-BE49-F238E27FC236}">
                <a16:creationId xmlns:a16="http://schemas.microsoft.com/office/drawing/2014/main" id="{D298948F-A038-4EAE-938F-60A0071F5F42}"/>
              </a:ext>
            </a:extLst>
          </p:cNvPr>
          <p:cNvSpPr>
            <a:spLocks xmlns:a="http://schemas.openxmlformats.org/drawingml/2006/main" noGrp="1"/>
          </p:cNvSpPr>
          <p:nvPr/>
        </p:nvSpPr>
        <p:spPr>
          <a:xfrm xmlns:a="http://schemas.openxmlformats.org/drawingml/2006/main">
            <a:off x="685800" y="4686300"/>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03</a:t>
            </a:r>
          </a:p>
        </p:txBody>
      </p:sp>
      <p:sp>
        <p:nvSpPr>
          <p:cNvPr id="12" name="">
            <a:extLst xmlns:a="http://schemas.openxmlformats.org/drawingml/2006/main">
              <a:ext uri="{FF2B5EF4-FFF2-40B4-BE49-F238E27FC236}">
                <a16:creationId xmlns:a16="http://schemas.microsoft.com/office/drawing/2014/main" id="{EE89579E-AAED-4DA2-B6BC-ECD9C0BFF6D4}"/>
              </a:ext>
            </a:extLst>
          </p:cNvPr>
          <p:cNvSpPr>
            <a:spLocks xmlns:a="http://schemas.openxmlformats.org/drawingml/2006/main" noGrp="1"/>
          </p:cNvSpPr>
          <p:nvPr/>
        </p:nvSpPr>
        <p:spPr>
          <a:xfrm xmlns:a="http://schemas.openxmlformats.org/drawingml/2006/main">
            <a:off x="1504950" y="46863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Traffic spread</a:t>
            </a:r>
          </a:p>
        </p:txBody>
      </p:sp>
      <p:sp>
        <p:nvSpPr>
          <p:cNvPr id="13" name="">
            <a:extLst xmlns:a="http://schemas.openxmlformats.org/drawingml/2006/main">
              <a:ext uri="{FF2B5EF4-FFF2-40B4-BE49-F238E27FC236}">
                <a16:creationId xmlns:a16="http://schemas.microsoft.com/office/drawing/2014/main" id="{CCF2AFF3-0367-41A8-88CE-C359BBE21B59}"/>
              </a:ext>
            </a:extLst>
          </p:cNvPr>
          <p:cNvSpPr>
            <a:spLocks xmlns:a="http://schemas.openxmlformats.org/drawingml/2006/main" noGrp="1"/>
          </p:cNvSpPr>
          <p:nvPr/>
        </p:nvSpPr>
        <p:spPr>
          <a:xfrm xmlns:a="http://schemas.openxmlformats.org/drawingml/2006/main">
            <a:off x="4953000" y="4705350"/>
            <a:ext cx="619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C6C6C2"/>
                </a:solidFill>
              </a:defRPr>
            </a:defPPr>
            <a:lvl1pPr algn="l">
              <a:defRPr sz="1650" b="0">
                <a:solidFill>
                  <a:srgbClr val="C6C6C2"/>
                </a:solidFill>
              </a:defRPr>
            </a:lvl1pPr>
            <a:lvl2pPr algn="l">
              <a:defRPr sz="1650" b="0">
                <a:solidFill>
                  <a:srgbClr val="C6C6C2"/>
                </a:solidFill>
              </a:defRPr>
            </a:lvl2pPr>
            <a:lvl3pPr algn="l">
              <a:defRPr sz="1650" b="0">
                <a:solidFill>
                  <a:srgbClr val="C6C6C2"/>
                </a:solidFill>
              </a:defRPr>
            </a:lvl3pPr>
            <a:lvl4pPr algn="l">
              <a:defRPr sz="1650" b="0">
                <a:solidFill>
                  <a:srgbClr val="C6C6C2"/>
                </a:solidFill>
              </a:defRPr>
            </a:lvl4pPr>
            <a:lvl5pPr algn="l">
              <a:defRPr sz="1650" b="0">
                <a:solidFill>
                  <a:srgbClr val="C6C6C2"/>
                </a:solidFill>
              </a:defRPr>
            </a:lvl5pPr>
            <a:lvl6pPr algn="l">
              <a:defRPr sz="1650" b="0">
                <a:solidFill>
                  <a:srgbClr val="C6C6C2"/>
                </a:solidFill>
              </a:defRPr>
            </a:lvl6pPr>
            <a:lvl7pPr algn="l">
              <a:defRPr sz="1650" b="0">
                <a:solidFill>
                  <a:srgbClr val="C6C6C2"/>
                </a:solidFill>
              </a:defRPr>
            </a:lvl7pPr>
            <a:lvl8pPr algn="l">
              <a:defRPr sz="1650" b="0">
                <a:solidFill>
                  <a:srgbClr val="C6C6C2"/>
                </a:solidFill>
              </a:defRPr>
            </a:lvl8pPr>
            <a:lvl9pPr algn="l">
              <a:defRPr sz="1650" b="0">
                <a:solidFill>
                  <a:srgbClr val="C6C6C2"/>
                </a:solidFill>
              </a:defRPr>
            </a:lvl9pPr>
          </a:lstStyle>
          <a:p xmlns:a="http://schemas.openxmlformats.org/drawingml/2006/main">
            <a:pPr algn="l">
              <a:defRPr sz="1650" b="0">
                <a:solidFill>
                  <a:srgbClr val="C6C6C2"/>
                </a:solidFill>
              </a:defRPr>
            </a:pPr>
            <a:r>
              <a:rPr sz="1650" b="0">
                <a:solidFill>
                  <a:srgbClr val="C6C6C2"/>
                </a:solidFill>
              </a:rPr>
              <a:t>Unique sources, destinations, ports, and flows add context</a:t>
            </a:r>
          </a:p>
        </p:txBody>
      </p:sp>
    </p:spTree>
    <p:extLst>
      <p:ext uri="{BB962C8B-B14F-4D97-AF65-F5344CB8AC3E}">
        <p14:creationId xmlns:p14="http://schemas.microsoft.com/office/powerpoint/2010/main" val="355234257"/>
      </p:ext>
    </p:extLst>
  </p:cSld>
</p:sld>
</file>

<file path=ppt/slides/slide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92A6BF6-0C07-4066-B606-074DCDC419C8}"/>
              </a:ext>
            </a:extLst>
          </p:cNvPr>
          <p:cNvSpPr>
            <a:spLocks xmlns:a="http://schemas.openxmlformats.org/drawingml/2006/main" noGrp="1"/>
          </p:cNvSpPr>
          <p:nvPr/>
        </p:nvSpPr>
        <p:spPr>
          <a:xfrm xmlns:a="http://schemas.openxmlformats.org/drawingml/2006/main">
            <a:off x="685800" y="4381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DE5A1D"/>
                </a:solidFill>
              </a:defRPr>
            </a:defPPr>
            <a:lvl1pPr algn="l">
              <a:defRPr sz="1200" b="1">
                <a:solidFill>
                  <a:srgbClr val="DE5A1D"/>
                </a:solidFill>
              </a:defRPr>
            </a:lvl1pPr>
            <a:lvl2pPr algn="l">
              <a:defRPr sz="1200" b="1">
                <a:solidFill>
                  <a:srgbClr val="DE5A1D"/>
                </a:solidFill>
              </a:defRPr>
            </a:lvl2pPr>
            <a:lvl3pPr algn="l">
              <a:defRPr sz="1200" b="1">
                <a:solidFill>
                  <a:srgbClr val="DE5A1D"/>
                </a:solidFill>
              </a:defRPr>
            </a:lvl3pPr>
            <a:lvl4pPr algn="l">
              <a:defRPr sz="1200" b="1">
                <a:solidFill>
                  <a:srgbClr val="DE5A1D"/>
                </a:solidFill>
              </a:defRPr>
            </a:lvl4pPr>
            <a:lvl5pPr algn="l">
              <a:defRPr sz="1200" b="1">
                <a:solidFill>
                  <a:srgbClr val="DE5A1D"/>
                </a:solidFill>
              </a:defRPr>
            </a:lvl5pPr>
            <a:lvl6pPr algn="l">
              <a:defRPr sz="1200" b="1">
                <a:solidFill>
                  <a:srgbClr val="DE5A1D"/>
                </a:solidFill>
              </a:defRPr>
            </a:lvl6pPr>
            <a:lvl7pPr algn="l">
              <a:defRPr sz="1200" b="1">
                <a:solidFill>
                  <a:srgbClr val="DE5A1D"/>
                </a:solidFill>
              </a:defRPr>
            </a:lvl7pPr>
            <a:lvl8pPr algn="l">
              <a:defRPr sz="1200" b="1">
                <a:solidFill>
                  <a:srgbClr val="DE5A1D"/>
                </a:solidFill>
              </a:defRPr>
            </a:lvl8pPr>
            <a:lvl9pPr algn="l">
              <a:defRPr sz="1200" b="1">
                <a:solidFill>
                  <a:srgbClr val="DE5A1D"/>
                </a:solidFill>
              </a:defRPr>
            </a:lvl9pPr>
          </a:lstStyle>
          <a:p xmlns:a="http://schemas.openxmlformats.org/drawingml/2006/main">
            <a:pPr algn="l">
              <a:defRPr sz="1200" b="1">
                <a:solidFill>
                  <a:srgbClr val="DE5A1D"/>
                </a:solidFill>
              </a:defRPr>
            </a:pPr>
            <a:r>
              <a:rPr sz="1200" b="1">
                <a:solidFill>
                  <a:srgbClr val="DE5A1D"/>
                </a:solidFill>
              </a:rPr>
              <a:t>DETECTION</a:t>
            </a:r>
          </a:p>
        </p:txBody>
      </p:sp>
      <p:sp>
        <p:nvSpPr>
          <p:cNvPr id="2" name="">
            <a:extLst xmlns:a="http://schemas.openxmlformats.org/drawingml/2006/main">
              <a:ext uri="{FF2B5EF4-FFF2-40B4-BE49-F238E27FC236}">
                <a16:creationId xmlns:a16="http://schemas.microsoft.com/office/drawing/2014/main" id="{6D20AEDD-D429-4D90-865B-352E48AEAD83}"/>
              </a:ext>
            </a:extLst>
          </p:cNvPr>
          <p:cNvSpPr>
            <a:spLocks xmlns:a="http://schemas.openxmlformats.org/drawingml/2006/main" noGrp="1"/>
          </p:cNvSpPr>
          <p:nvPr/>
        </p:nvSpPr>
        <p:spPr>
          <a:xfrm xmlns:a="http://schemas.openxmlformats.org/drawingml/2006/main">
            <a:off x="685800" y="8953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F7F7F5"/>
                </a:solidFill>
              </a:defRPr>
            </a:defPPr>
            <a:lvl1pPr algn="l">
              <a:defRPr sz="3000" b="1">
                <a:solidFill>
                  <a:srgbClr val="F7F7F5"/>
                </a:solidFill>
              </a:defRPr>
            </a:lvl1pPr>
            <a:lvl2pPr algn="l">
              <a:defRPr sz="3000" b="1">
                <a:solidFill>
                  <a:srgbClr val="F7F7F5"/>
                </a:solidFill>
              </a:defRPr>
            </a:lvl2pPr>
            <a:lvl3pPr algn="l">
              <a:defRPr sz="3000" b="1">
                <a:solidFill>
                  <a:srgbClr val="F7F7F5"/>
                </a:solidFill>
              </a:defRPr>
            </a:lvl3pPr>
            <a:lvl4pPr algn="l">
              <a:defRPr sz="3000" b="1">
                <a:solidFill>
                  <a:srgbClr val="F7F7F5"/>
                </a:solidFill>
              </a:defRPr>
            </a:lvl4pPr>
            <a:lvl5pPr algn="l">
              <a:defRPr sz="3000" b="1">
                <a:solidFill>
                  <a:srgbClr val="F7F7F5"/>
                </a:solidFill>
              </a:defRPr>
            </a:lvl5pPr>
            <a:lvl6pPr algn="l">
              <a:defRPr sz="3000" b="1">
                <a:solidFill>
                  <a:srgbClr val="F7F7F5"/>
                </a:solidFill>
              </a:defRPr>
            </a:lvl6pPr>
            <a:lvl7pPr algn="l">
              <a:defRPr sz="3000" b="1">
                <a:solidFill>
                  <a:srgbClr val="F7F7F5"/>
                </a:solidFill>
              </a:defRPr>
            </a:lvl7pPr>
            <a:lvl8pPr algn="l">
              <a:defRPr sz="3000" b="1">
                <a:solidFill>
                  <a:srgbClr val="F7F7F5"/>
                </a:solidFill>
              </a:defRPr>
            </a:lvl8pPr>
            <a:lvl9pPr algn="l">
              <a:defRPr sz="3000" b="1">
                <a:solidFill>
                  <a:srgbClr val="F7F7F5"/>
                </a:solidFill>
              </a:defRPr>
            </a:lvl9pPr>
          </a:lstStyle>
          <a:p xmlns:a="http://schemas.openxmlformats.org/drawingml/2006/main">
            <a:pPr algn="l">
              <a:defRPr sz="3000" b="1">
                <a:solidFill>
                  <a:srgbClr val="F7F7F5"/>
                </a:solidFill>
              </a:defRPr>
            </a:pPr>
            <a:r>
              <a:rPr sz="3000" b="1">
                <a:solidFill>
                  <a:srgbClr val="F7F7F5"/>
                </a:solidFill>
              </a:rPr>
              <a:t>What the rules check</a:t>
            </a:r>
          </a:p>
        </p:txBody>
      </p:sp>
      <p:sp>
        <p:nvSpPr>
          <p:cNvPr id="3" name="">
            <a:extLst xmlns:a="http://schemas.openxmlformats.org/drawingml/2006/main">
              <a:ext uri="{FF2B5EF4-FFF2-40B4-BE49-F238E27FC236}">
                <a16:creationId xmlns:a16="http://schemas.microsoft.com/office/drawing/2014/main" id="{3217E69E-0AF8-40B7-B3BA-BE58B0A36581}"/>
              </a:ext>
            </a:extLst>
          </p:cNvPr>
          <p:cNvSpPr>
            <a:spLocks xmlns:a="http://schemas.openxmlformats.org/drawingml/2006/main" noGrp="1"/>
          </p:cNvSpPr>
          <p:nvPr/>
        </p:nvSpPr>
        <p:spPr>
          <a:xfrm xmlns:a="http://schemas.openxmlformats.org/drawingml/2006/main">
            <a:off x="11049000" y="5334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0">
                <a:solidFill>
                  <a:srgbClr val="8C8C88"/>
                </a:solidFill>
              </a:defRPr>
            </a:defPPr>
            <a:lvl1pPr algn="r">
              <a:defRPr sz="1050" b="0">
                <a:solidFill>
                  <a:srgbClr val="8C8C88"/>
                </a:solidFill>
              </a:defRPr>
            </a:lvl1pPr>
            <a:lvl2pPr algn="r">
              <a:defRPr sz="1050" b="0">
                <a:solidFill>
                  <a:srgbClr val="8C8C88"/>
                </a:solidFill>
              </a:defRPr>
            </a:lvl2pPr>
            <a:lvl3pPr algn="r">
              <a:defRPr sz="1050" b="0">
                <a:solidFill>
                  <a:srgbClr val="8C8C88"/>
                </a:solidFill>
              </a:defRPr>
            </a:lvl3pPr>
            <a:lvl4pPr algn="r">
              <a:defRPr sz="1050" b="0">
                <a:solidFill>
                  <a:srgbClr val="8C8C88"/>
                </a:solidFill>
              </a:defRPr>
            </a:lvl4pPr>
            <a:lvl5pPr algn="r">
              <a:defRPr sz="1050" b="0">
                <a:solidFill>
                  <a:srgbClr val="8C8C88"/>
                </a:solidFill>
              </a:defRPr>
            </a:lvl5pPr>
            <a:lvl6pPr algn="r">
              <a:defRPr sz="1050" b="0">
                <a:solidFill>
                  <a:srgbClr val="8C8C88"/>
                </a:solidFill>
              </a:defRPr>
            </a:lvl6pPr>
            <a:lvl7pPr algn="r">
              <a:defRPr sz="1050" b="0">
                <a:solidFill>
                  <a:srgbClr val="8C8C88"/>
                </a:solidFill>
              </a:defRPr>
            </a:lvl7pPr>
            <a:lvl8pPr algn="r">
              <a:defRPr sz="1050" b="0">
                <a:solidFill>
                  <a:srgbClr val="8C8C88"/>
                </a:solidFill>
              </a:defRPr>
            </a:lvl8pPr>
            <a:lvl9pPr algn="r">
              <a:defRPr sz="1050" b="0">
                <a:solidFill>
                  <a:srgbClr val="8C8C88"/>
                </a:solidFill>
              </a:defRPr>
            </a:lvl9pPr>
          </a:lstStyle>
          <a:p xmlns:a="http://schemas.openxmlformats.org/drawingml/2006/main">
            <a:pPr algn="r">
              <a:defRPr sz="1050" b="0">
                <a:solidFill>
                  <a:srgbClr val="8C8C88"/>
                </a:solidFill>
              </a:defRPr>
            </a:pPr>
            <a:r>
              <a:rPr sz="1050" b="0">
                <a:solidFill>
                  <a:srgbClr val="8C8C88"/>
                </a:solidFill>
              </a:rPr>
              <a:t>05</a:t>
            </a:r>
          </a:p>
        </p:txBody>
      </p:sp>
      <p:sp>
        <p:nvSpPr>
          <p:cNvPr id="4" name="">
            <a:extLst xmlns:a="http://schemas.openxmlformats.org/drawingml/2006/main">
              <a:ext uri="{FF2B5EF4-FFF2-40B4-BE49-F238E27FC236}">
                <a16:creationId xmlns:a16="http://schemas.microsoft.com/office/drawing/2014/main" id="{04D1DB5E-4FC7-42C4-9F00-718347AC68C1}"/>
              </a:ext>
            </a:extLst>
          </p:cNvPr>
          <p:cNvSpPr>
            <a:spLocks xmlns:a="http://schemas.openxmlformats.org/drawingml/2006/main" noGrp="1"/>
          </p:cNvSpPr>
          <p:nvPr/>
        </p:nvSpPr>
        <p:spPr>
          <a:xfrm xmlns:a="http://schemas.openxmlformats.org/drawingml/2006/main">
            <a:off x="685800" y="2095500"/>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01</a:t>
            </a:r>
          </a:p>
        </p:txBody>
      </p:sp>
      <p:sp>
        <p:nvSpPr>
          <p:cNvPr id="5" name="">
            <a:extLst xmlns:a="http://schemas.openxmlformats.org/drawingml/2006/main">
              <a:ext uri="{FF2B5EF4-FFF2-40B4-BE49-F238E27FC236}">
                <a16:creationId xmlns:a16="http://schemas.microsoft.com/office/drawing/2014/main" id="{40B767D1-66B7-4D6A-9D72-FEAEACF544EF}"/>
              </a:ext>
            </a:extLst>
          </p:cNvPr>
          <p:cNvSpPr>
            <a:spLocks xmlns:a="http://schemas.openxmlformats.org/drawingml/2006/main" noGrp="1"/>
          </p:cNvSpPr>
          <p:nvPr/>
        </p:nvSpPr>
        <p:spPr>
          <a:xfrm xmlns:a="http://schemas.openxmlformats.org/drawingml/2006/main">
            <a:off x="1504950" y="20955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Packet rate</a:t>
            </a:r>
          </a:p>
        </p:txBody>
      </p:sp>
      <p:sp>
        <p:nvSpPr>
          <p:cNvPr id="6" name="">
            <a:extLst xmlns:a="http://schemas.openxmlformats.org/drawingml/2006/main">
              <a:ext uri="{FF2B5EF4-FFF2-40B4-BE49-F238E27FC236}">
                <a16:creationId xmlns:a16="http://schemas.microsoft.com/office/drawing/2014/main" id="{CE0ABBF5-89DC-4104-B83E-FECC9408052E}"/>
              </a:ext>
            </a:extLst>
          </p:cNvPr>
          <p:cNvSpPr>
            <a:spLocks xmlns:a="http://schemas.openxmlformats.org/drawingml/2006/main" noGrp="1"/>
          </p:cNvSpPr>
          <p:nvPr/>
        </p:nvSpPr>
        <p:spPr>
          <a:xfrm xmlns:a="http://schemas.openxmlformats.org/drawingml/2006/main">
            <a:off x="4953000" y="2114550"/>
            <a:ext cx="619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C6C6C2"/>
                </a:solidFill>
              </a:defRPr>
            </a:defPPr>
            <a:lvl1pPr algn="l">
              <a:defRPr sz="1650" b="0">
                <a:solidFill>
                  <a:srgbClr val="C6C6C2"/>
                </a:solidFill>
              </a:defRPr>
            </a:lvl1pPr>
            <a:lvl2pPr algn="l">
              <a:defRPr sz="1650" b="0">
                <a:solidFill>
                  <a:srgbClr val="C6C6C2"/>
                </a:solidFill>
              </a:defRPr>
            </a:lvl2pPr>
            <a:lvl3pPr algn="l">
              <a:defRPr sz="1650" b="0">
                <a:solidFill>
                  <a:srgbClr val="C6C6C2"/>
                </a:solidFill>
              </a:defRPr>
            </a:lvl3pPr>
            <a:lvl4pPr algn="l">
              <a:defRPr sz="1650" b="0">
                <a:solidFill>
                  <a:srgbClr val="C6C6C2"/>
                </a:solidFill>
              </a:defRPr>
            </a:lvl4pPr>
            <a:lvl5pPr algn="l">
              <a:defRPr sz="1650" b="0">
                <a:solidFill>
                  <a:srgbClr val="C6C6C2"/>
                </a:solidFill>
              </a:defRPr>
            </a:lvl5pPr>
            <a:lvl6pPr algn="l">
              <a:defRPr sz="1650" b="0">
                <a:solidFill>
                  <a:srgbClr val="C6C6C2"/>
                </a:solidFill>
              </a:defRPr>
            </a:lvl6pPr>
            <a:lvl7pPr algn="l">
              <a:defRPr sz="1650" b="0">
                <a:solidFill>
                  <a:srgbClr val="C6C6C2"/>
                </a:solidFill>
              </a:defRPr>
            </a:lvl7pPr>
            <a:lvl8pPr algn="l">
              <a:defRPr sz="1650" b="0">
                <a:solidFill>
                  <a:srgbClr val="C6C6C2"/>
                </a:solidFill>
              </a:defRPr>
            </a:lvl8pPr>
            <a:lvl9pPr algn="l">
              <a:defRPr sz="1650" b="0">
                <a:solidFill>
                  <a:srgbClr val="C6C6C2"/>
                </a:solidFill>
              </a:defRPr>
            </a:lvl9pPr>
          </a:lstStyle>
          <a:p xmlns:a="http://schemas.openxmlformats.org/drawingml/2006/main">
            <a:pPr algn="l">
              <a:defRPr sz="1650" b="0">
                <a:solidFill>
                  <a:srgbClr val="C6C6C2"/>
                </a:solidFill>
              </a:defRPr>
            </a:pPr>
            <a:r>
              <a:rPr sz="1650" b="0">
                <a:solidFill>
                  <a:srgbClr val="C6C6C2"/>
                </a:solidFill>
              </a:rPr>
              <a:t>Compared with an adaptive baseline of recent normal-looking windows</a:t>
            </a:r>
          </a:p>
        </p:txBody>
      </p:sp>
      <p:sp>
        <p:nvSpPr>
          <p:cNvPr id="7" name="">
            <a:extLst xmlns:a="http://schemas.openxmlformats.org/drawingml/2006/main">
              <a:ext uri="{FF2B5EF4-FFF2-40B4-BE49-F238E27FC236}">
                <a16:creationId xmlns:a16="http://schemas.microsoft.com/office/drawing/2014/main" id="{69DDD526-C10E-4570-84B6-65F3AF5B7C1B}"/>
              </a:ext>
            </a:extLst>
          </p:cNvPr>
          <p:cNvSpPr>
            <a:spLocks xmlns:a="http://schemas.openxmlformats.org/drawingml/2006/main" noGrp="1"/>
          </p:cNvSpPr>
          <p:nvPr/>
        </p:nvSpPr>
        <p:spPr>
          <a:xfrm xmlns:a="http://schemas.openxmlformats.org/drawingml/2006/main">
            <a:off x="685800" y="3286125"/>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02</a:t>
            </a:r>
          </a:p>
        </p:txBody>
      </p:sp>
      <p:sp>
        <p:nvSpPr>
          <p:cNvPr id="8" name="">
            <a:extLst xmlns:a="http://schemas.openxmlformats.org/drawingml/2006/main">
              <a:ext uri="{FF2B5EF4-FFF2-40B4-BE49-F238E27FC236}">
                <a16:creationId xmlns:a16="http://schemas.microsoft.com/office/drawing/2014/main" id="{9C24BED0-FEAD-4B02-A125-25769666A5FA}"/>
              </a:ext>
            </a:extLst>
          </p:cNvPr>
          <p:cNvSpPr>
            <a:spLocks xmlns:a="http://schemas.openxmlformats.org/drawingml/2006/main" noGrp="1"/>
          </p:cNvSpPr>
          <p:nvPr/>
        </p:nvSpPr>
        <p:spPr>
          <a:xfrm xmlns:a="http://schemas.openxmlformats.org/drawingml/2006/main">
            <a:off x="1504950" y="328612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SYN activity</a:t>
            </a:r>
          </a:p>
        </p:txBody>
      </p:sp>
      <p:sp>
        <p:nvSpPr>
          <p:cNvPr id="9" name="">
            <a:extLst xmlns:a="http://schemas.openxmlformats.org/drawingml/2006/main">
              <a:ext uri="{FF2B5EF4-FFF2-40B4-BE49-F238E27FC236}">
                <a16:creationId xmlns:a16="http://schemas.microsoft.com/office/drawing/2014/main" id="{75875E31-795E-4285-AFEA-0A888071BB11}"/>
              </a:ext>
            </a:extLst>
          </p:cNvPr>
          <p:cNvSpPr>
            <a:spLocks xmlns:a="http://schemas.openxmlformats.org/drawingml/2006/main" noGrp="1"/>
          </p:cNvSpPr>
          <p:nvPr/>
        </p:nvSpPr>
        <p:spPr>
          <a:xfrm xmlns:a="http://schemas.openxmlformats.org/drawingml/2006/main">
            <a:off x="4953000" y="3305175"/>
            <a:ext cx="619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C6C6C2"/>
                </a:solidFill>
              </a:defRPr>
            </a:defPPr>
            <a:lvl1pPr algn="l">
              <a:defRPr sz="1650" b="0">
                <a:solidFill>
                  <a:srgbClr val="C6C6C2"/>
                </a:solidFill>
              </a:defRPr>
            </a:lvl1pPr>
            <a:lvl2pPr algn="l">
              <a:defRPr sz="1650" b="0">
                <a:solidFill>
                  <a:srgbClr val="C6C6C2"/>
                </a:solidFill>
              </a:defRPr>
            </a:lvl2pPr>
            <a:lvl3pPr algn="l">
              <a:defRPr sz="1650" b="0">
                <a:solidFill>
                  <a:srgbClr val="C6C6C2"/>
                </a:solidFill>
              </a:defRPr>
            </a:lvl3pPr>
            <a:lvl4pPr algn="l">
              <a:defRPr sz="1650" b="0">
                <a:solidFill>
                  <a:srgbClr val="C6C6C2"/>
                </a:solidFill>
              </a:defRPr>
            </a:lvl4pPr>
            <a:lvl5pPr algn="l">
              <a:defRPr sz="1650" b="0">
                <a:solidFill>
                  <a:srgbClr val="C6C6C2"/>
                </a:solidFill>
              </a:defRPr>
            </a:lvl5pPr>
            <a:lvl6pPr algn="l">
              <a:defRPr sz="1650" b="0">
                <a:solidFill>
                  <a:srgbClr val="C6C6C2"/>
                </a:solidFill>
              </a:defRPr>
            </a:lvl6pPr>
            <a:lvl7pPr algn="l">
              <a:defRPr sz="1650" b="0">
                <a:solidFill>
                  <a:srgbClr val="C6C6C2"/>
                </a:solidFill>
              </a:defRPr>
            </a:lvl7pPr>
            <a:lvl8pPr algn="l">
              <a:defRPr sz="1650" b="0">
                <a:solidFill>
                  <a:srgbClr val="C6C6C2"/>
                </a:solidFill>
              </a:defRPr>
            </a:lvl8pPr>
            <a:lvl9pPr algn="l">
              <a:defRPr sz="1650" b="0">
                <a:solidFill>
                  <a:srgbClr val="C6C6C2"/>
                </a:solidFill>
              </a:defRPr>
            </a:lvl9pPr>
          </a:lstStyle>
          <a:p xmlns:a="http://schemas.openxmlformats.org/drawingml/2006/main">
            <a:pPr algn="l">
              <a:defRPr sz="1650" b="0">
                <a:solidFill>
                  <a:srgbClr val="C6C6C2"/>
                </a:solidFill>
              </a:defRPr>
            </a:pPr>
            <a:r>
              <a:rPr sz="1650" b="0">
                <a:solidFill>
                  <a:srgbClr val="C6C6C2"/>
                </a:solidFill>
              </a:rPr>
              <a:t>Initial TCP SYN share and rate reveal unusual connection attempts</a:t>
            </a:r>
          </a:p>
        </p:txBody>
      </p:sp>
      <p:sp>
        <p:nvSpPr>
          <p:cNvPr id="10" name="">
            <a:extLst xmlns:a="http://schemas.openxmlformats.org/drawingml/2006/main">
              <a:ext uri="{FF2B5EF4-FFF2-40B4-BE49-F238E27FC236}">
                <a16:creationId xmlns:a16="http://schemas.microsoft.com/office/drawing/2014/main" id="{CEA1378E-5D2B-46AA-9372-199029CA4AB4}"/>
              </a:ext>
            </a:extLst>
          </p:cNvPr>
          <p:cNvSpPr>
            <a:spLocks xmlns:a="http://schemas.openxmlformats.org/drawingml/2006/main" noGrp="1"/>
          </p:cNvSpPr>
          <p:nvPr/>
        </p:nvSpPr>
        <p:spPr>
          <a:xfrm xmlns:a="http://schemas.openxmlformats.org/drawingml/2006/main">
            <a:off x="685800" y="4476750"/>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03</a:t>
            </a:r>
          </a:p>
        </p:txBody>
      </p:sp>
      <p:sp>
        <p:nvSpPr>
          <p:cNvPr id="11" name="">
            <a:extLst xmlns:a="http://schemas.openxmlformats.org/drawingml/2006/main">
              <a:ext uri="{FF2B5EF4-FFF2-40B4-BE49-F238E27FC236}">
                <a16:creationId xmlns:a16="http://schemas.microsoft.com/office/drawing/2014/main" id="{1B315916-2953-4CF9-ADF5-0F3791977746}"/>
              </a:ext>
            </a:extLst>
          </p:cNvPr>
          <p:cNvSpPr>
            <a:spLocks xmlns:a="http://schemas.openxmlformats.org/drawingml/2006/main" noGrp="1"/>
          </p:cNvSpPr>
          <p:nvPr/>
        </p:nvSpPr>
        <p:spPr>
          <a:xfrm xmlns:a="http://schemas.openxmlformats.org/drawingml/2006/main">
            <a:off x="1504950" y="447675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Alert reason</a:t>
            </a:r>
          </a:p>
        </p:txBody>
      </p:sp>
      <p:sp>
        <p:nvSpPr>
          <p:cNvPr id="12" name="">
            <a:extLst xmlns:a="http://schemas.openxmlformats.org/drawingml/2006/main">
              <a:ext uri="{FF2B5EF4-FFF2-40B4-BE49-F238E27FC236}">
                <a16:creationId xmlns:a16="http://schemas.microsoft.com/office/drawing/2014/main" id="{A858668D-CFDF-4356-83EC-741E52E71E64}"/>
              </a:ext>
            </a:extLst>
          </p:cNvPr>
          <p:cNvSpPr>
            <a:spLocks xmlns:a="http://schemas.openxmlformats.org/drawingml/2006/main" noGrp="1"/>
          </p:cNvSpPr>
          <p:nvPr/>
        </p:nvSpPr>
        <p:spPr>
          <a:xfrm xmlns:a="http://schemas.openxmlformats.org/drawingml/2006/main">
            <a:off x="4953000" y="4495800"/>
            <a:ext cx="619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C6C6C2"/>
                </a:solidFill>
              </a:defRPr>
            </a:defPPr>
            <a:lvl1pPr algn="l">
              <a:defRPr sz="1650" b="0">
                <a:solidFill>
                  <a:srgbClr val="C6C6C2"/>
                </a:solidFill>
              </a:defRPr>
            </a:lvl1pPr>
            <a:lvl2pPr algn="l">
              <a:defRPr sz="1650" b="0">
                <a:solidFill>
                  <a:srgbClr val="C6C6C2"/>
                </a:solidFill>
              </a:defRPr>
            </a:lvl2pPr>
            <a:lvl3pPr algn="l">
              <a:defRPr sz="1650" b="0">
                <a:solidFill>
                  <a:srgbClr val="C6C6C2"/>
                </a:solidFill>
              </a:defRPr>
            </a:lvl3pPr>
            <a:lvl4pPr algn="l">
              <a:defRPr sz="1650" b="0">
                <a:solidFill>
                  <a:srgbClr val="C6C6C2"/>
                </a:solidFill>
              </a:defRPr>
            </a:lvl4pPr>
            <a:lvl5pPr algn="l">
              <a:defRPr sz="1650" b="0">
                <a:solidFill>
                  <a:srgbClr val="C6C6C2"/>
                </a:solidFill>
              </a:defRPr>
            </a:lvl5pPr>
            <a:lvl6pPr algn="l">
              <a:defRPr sz="1650" b="0">
                <a:solidFill>
                  <a:srgbClr val="C6C6C2"/>
                </a:solidFill>
              </a:defRPr>
            </a:lvl6pPr>
            <a:lvl7pPr algn="l">
              <a:defRPr sz="1650" b="0">
                <a:solidFill>
                  <a:srgbClr val="C6C6C2"/>
                </a:solidFill>
              </a:defRPr>
            </a:lvl7pPr>
            <a:lvl8pPr algn="l">
              <a:defRPr sz="1650" b="0">
                <a:solidFill>
                  <a:srgbClr val="C6C6C2"/>
                </a:solidFill>
              </a:defRPr>
            </a:lvl8pPr>
            <a:lvl9pPr algn="l">
              <a:defRPr sz="1650" b="0">
                <a:solidFill>
                  <a:srgbClr val="C6C6C2"/>
                </a:solidFill>
              </a:defRPr>
            </a:lvl9pPr>
          </a:lstStyle>
          <a:p xmlns:a="http://schemas.openxmlformats.org/drawingml/2006/main">
            <a:pPr algn="l">
              <a:defRPr sz="1650" b="0">
                <a:solidFill>
                  <a:srgbClr val="C6C6C2"/>
                </a:solidFill>
              </a:defRPr>
            </a:pPr>
            <a:r>
              <a:rPr sz="1650" b="0">
                <a:solidFill>
                  <a:srgbClr val="C6C6C2"/>
                </a:solidFill>
              </a:rPr>
              <a:t>A combined rate and SYN signal receives “Potential DDoS Activity”</a:t>
            </a:r>
          </a:p>
        </p:txBody>
      </p:sp>
      <p:sp>
        <p:nvSpPr>
          <p:cNvPr id="13" name="">
            <a:extLst xmlns:a="http://schemas.openxmlformats.org/drawingml/2006/main">
              <a:ext uri="{FF2B5EF4-FFF2-40B4-BE49-F238E27FC236}">
                <a16:creationId xmlns:a16="http://schemas.microsoft.com/office/drawing/2014/main" id="{69AB678F-CDBC-4152-B101-F3819CEABE05}"/>
              </a:ext>
            </a:extLst>
          </p:cNvPr>
          <p:cNvSpPr>
            <a:spLocks xmlns:a="http://schemas.openxmlformats.org/drawingml/2006/main" noGrp="1"/>
          </p:cNvSpPr>
          <p:nvPr/>
        </p:nvSpPr>
        <p:spPr>
          <a:xfrm xmlns:a="http://schemas.openxmlformats.org/drawingml/2006/main">
            <a:off x="704850" y="5953125"/>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a:solidFill>
                  <a:srgbClr val="DE5A1D"/>
                </a:solidFill>
              </a:defRPr>
            </a:defPPr>
            <a:lvl1pPr algn="l">
              <a:defRPr sz="1500" b="1">
                <a:solidFill>
                  <a:srgbClr val="DE5A1D"/>
                </a:solidFill>
              </a:defRPr>
            </a:lvl1pPr>
            <a:lvl2pPr algn="l">
              <a:defRPr sz="1500" b="1">
                <a:solidFill>
                  <a:srgbClr val="DE5A1D"/>
                </a:solidFill>
              </a:defRPr>
            </a:lvl2pPr>
            <a:lvl3pPr algn="l">
              <a:defRPr sz="1500" b="1">
                <a:solidFill>
                  <a:srgbClr val="DE5A1D"/>
                </a:solidFill>
              </a:defRPr>
            </a:lvl3pPr>
            <a:lvl4pPr algn="l">
              <a:defRPr sz="1500" b="1">
                <a:solidFill>
                  <a:srgbClr val="DE5A1D"/>
                </a:solidFill>
              </a:defRPr>
            </a:lvl4pPr>
            <a:lvl5pPr algn="l">
              <a:defRPr sz="1500" b="1">
                <a:solidFill>
                  <a:srgbClr val="DE5A1D"/>
                </a:solidFill>
              </a:defRPr>
            </a:lvl5pPr>
            <a:lvl6pPr algn="l">
              <a:defRPr sz="1500" b="1">
                <a:solidFill>
                  <a:srgbClr val="DE5A1D"/>
                </a:solidFill>
              </a:defRPr>
            </a:lvl6pPr>
            <a:lvl7pPr algn="l">
              <a:defRPr sz="1500" b="1">
                <a:solidFill>
                  <a:srgbClr val="DE5A1D"/>
                </a:solidFill>
              </a:defRPr>
            </a:lvl7pPr>
            <a:lvl8pPr algn="l">
              <a:defRPr sz="1500" b="1">
                <a:solidFill>
                  <a:srgbClr val="DE5A1D"/>
                </a:solidFill>
              </a:defRPr>
            </a:lvl8pPr>
            <a:lvl9pPr algn="l">
              <a:defRPr sz="1500" b="1">
                <a:solidFill>
                  <a:srgbClr val="DE5A1D"/>
                </a:solidFill>
              </a:defRPr>
            </a:lvl9pPr>
          </a:lstStyle>
          <a:p xmlns:a="http://schemas.openxmlformats.org/drawingml/2006/main">
            <a:pPr algn="l">
              <a:defRPr sz="1500" b="1">
                <a:solidFill>
                  <a:srgbClr val="DE5A1D"/>
                </a:solidFill>
              </a:defRPr>
            </a:pPr>
            <a:r>
              <a:rPr sz="1500" b="1">
                <a:solidFill>
                  <a:srgbClr val="DE5A1D"/>
                </a:solidFill>
              </a:rPr>
              <a:t>An alert is a reason to investigate, not confirmation of an attack.</a:t>
            </a:r>
          </a:p>
        </p:txBody>
      </p:sp>
    </p:spTree>
    <p:extLst>
      <p:ext uri="{BB962C8B-B14F-4D97-AF65-F5344CB8AC3E}">
        <p14:creationId xmlns:p14="http://schemas.microsoft.com/office/powerpoint/2010/main" val="1432084567"/>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8E52F3-5A11-4410-B8B2-A9367E255433}"/>
              </a:ext>
            </a:extLst>
          </p:cNvPr>
          <p:cNvSpPr>
            <a:spLocks xmlns:a="http://schemas.openxmlformats.org/drawingml/2006/main" noGrp="1"/>
          </p:cNvSpPr>
          <p:nvPr/>
        </p:nvSpPr>
        <p:spPr>
          <a:xfrm xmlns:a="http://schemas.openxmlformats.org/drawingml/2006/main">
            <a:off x="685800" y="4381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DE5A1D"/>
                </a:solidFill>
              </a:defRPr>
            </a:defPPr>
            <a:lvl1pPr algn="l">
              <a:defRPr sz="1200" b="1">
                <a:solidFill>
                  <a:srgbClr val="DE5A1D"/>
                </a:solidFill>
              </a:defRPr>
            </a:lvl1pPr>
            <a:lvl2pPr algn="l">
              <a:defRPr sz="1200" b="1">
                <a:solidFill>
                  <a:srgbClr val="DE5A1D"/>
                </a:solidFill>
              </a:defRPr>
            </a:lvl2pPr>
            <a:lvl3pPr algn="l">
              <a:defRPr sz="1200" b="1">
                <a:solidFill>
                  <a:srgbClr val="DE5A1D"/>
                </a:solidFill>
              </a:defRPr>
            </a:lvl3pPr>
            <a:lvl4pPr algn="l">
              <a:defRPr sz="1200" b="1">
                <a:solidFill>
                  <a:srgbClr val="DE5A1D"/>
                </a:solidFill>
              </a:defRPr>
            </a:lvl4pPr>
            <a:lvl5pPr algn="l">
              <a:defRPr sz="1200" b="1">
                <a:solidFill>
                  <a:srgbClr val="DE5A1D"/>
                </a:solidFill>
              </a:defRPr>
            </a:lvl5pPr>
            <a:lvl6pPr algn="l">
              <a:defRPr sz="1200" b="1">
                <a:solidFill>
                  <a:srgbClr val="DE5A1D"/>
                </a:solidFill>
              </a:defRPr>
            </a:lvl6pPr>
            <a:lvl7pPr algn="l">
              <a:defRPr sz="1200" b="1">
                <a:solidFill>
                  <a:srgbClr val="DE5A1D"/>
                </a:solidFill>
              </a:defRPr>
            </a:lvl7pPr>
            <a:lvl8pPr algn="l">
              <a:defRPr sz="1200" b="1">
                <a:solidFill>
                  <a:srgbClr val="DE5A1D"/>
                </a:solidFill>
              </a:defRPr>
            </a:lvl8pPr>
            <a:lvl9pPr algn="l">
              <a:defRPr sz="1200" b="1">
                <a:solidFill>
                  <a:srgbClr val="DE5A1D"/>
                </a:solidFill>
              </a:defRPr>
            </a:lvl9pPr>
          </a:lstStyle>
          <a:p xmlns:a="http://schemas.openxmlformats.org/drawingml/2006/main">
            <a:pPr algn="l">
              <a:defRPr sz="1200" b="1">
                <a:solidFill>
                  <a:srgbClr val="DE5A1D"/>
                </a:solidFill>
              </a:defRPr>
            </a:pPr>
            <a:r>
              <a:rPr sz="1200" b="1">
                <a:solidFill>
                  <a:srgbClr val="DE5A1D"/>
                </a:solidFill>
              </a:rPr>
              <a:t>MACHINE LEARNING</a:t>
            </a:r>
          </a:p>
        </p:txBody>
      </p:sp>
      <p:sp>
        <p:nvSpPr>
          <p:cNvPr id="2" name="">
            <a:extLst xmlns:a="http://schemas.openxmlformats.org/drawingml/2006/main">
              <a:ext uri="{FF2B5EF4-FFF2-40B4-BE49-F238E27FC236}">
                <a16:creationId xmlns:a16="http://schemas.microsoft.com/office/drawing/2014/main" id="{9BD84938-6CC7-4DC2-B55B-C85E2D7B3F63}"/>
              </a:ext>
            </a:extLst>
          </p:cNvPr>
          <p:cNvSpPr>
            <a:spLocks xmlns:a="http://schemas.openxmlformats.org/drawingml/2006/main" noGrp="1"/>
          </p:cNvSpPr>
          <p:nvPr/>
        </p:nvSpPr>
        <p:spPr>
          <a:xfrm xmlns:a="http://schemas.openxmlformats.org/drawingml/2006/main">
            <a:off x="685800" y="8953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F7F7F5"/>
                </a:solidFill>
              </a:defRPr>
            </a:defPPr>
            <a:lvl1pPr algn="l">
              <a:defRPr sz="3000" b="1">
                <a:solidFill>
                  <a:srgbClr val="F7F7F5"/>
                </a:solidFill>
              </a:defRPr>
            </a:lvl1pPr>
            <a:lvl2pPr algn="l">
              <a:defRPr sz="3000" b="1">
                <a:solidFill>
                  <a:srgbClr val="F7F7F5"/>
                </a:solidFill>
              </a:defRPr>
            </a:lvl2pPr>
            <a:lvl3pPr algn="l">
              <a:defRPr sz="3000" b="1">
                <a:solidFill>
                  <a:srgbClr val="F7F7F5"/>
                </a:solidFill>
              </a:defRPr>
            </a:lvl3pPr>
            <a:lvl4pPr algn="l">
              <a:defRPr sz="3000" b="1">
                <a:solidFill>
                  <a:srgbClr val="F7F7F5"/>
                </a:solidFill>
              </a:defRPr>
            </a:lvl4pPr>
            <a:lvl5pPr algn="l">
              <a:defRPr sz="3000" b="1">
                <a:solidFill>
                  <a:srgbClr val="F7F7F5"/>
                </a:solidFill>
              </a:defRPr>
            </a:lvl5pPr>
            <a:lvl6pPr algn="l">
              <a:defRPr sz="3000" b="1">
                <a:solidFill>
                  <a:srgbClr val="F7F7F5"/>
                </a:solidFill>
              </a:defRPr>
            </a:lvl6pPr>
            <a:lvl7pPr algn="l">
              <a:defRPr sz="3000" b="1">
                <a:solidFill>
                  <a:srgbClr val="F7F7F5"/>
                </a:solidFill>
              </a:defRPr>
            </a:lvl7pPr>
            <a:lvl8pPr algn="l">
              <a:defRPr sz="3000" b="1">
                <a:solidFill>
                  <a:srgbClr val="F7F7F5"/>
                </a:solidFill>
              </a:defRPr>
            </a:lvl8pPr>
            <a:lvl9pPr algn="l">
              <a:defRPr sz="3000" b="1">
                <a:solidFill>
                  <a:srgbClr val="F7F7F5"/>
                </a:solidFill>
              </a:defRPr>
            </a:lvl9pPr>
          </a:lstStyle>
          <a:p xmlns:a="http://schemas.openxmlformats.org/drawingml/2006/main">
            <a:pPr algn="l">
              <a:defRPr sz="3000" b="1">
                <a:solidFill>
                  <a:srgbClr val="F7F7F5"/>
                </a:solidFill>
              </a:defRPr>
            </a:pPr>
            <a:r>
              <a:rPr sz="3000" b="1">
                <a:solidFill>
                  <a:srgbClr val="F7F7F5"/>
                </a:solidFill>
              </a:rPr>
              <a:t>Two separate ML roles</a:t>
            </a:r>
          </a:p>
        </p:txBody>
      </p:sp>
      <p:sp>
        <p:nvSpPr>
          <p:cNvPr id="3" name="">
            <a:extLst xmlns:a="http://schemas.openxmlformats.org/drawingml/2006/main">
              <a:ext uri="{FF2B5EF4-FFF2-40B4-BE49-F238E27FC236}">
                <a16:creationId xmlns:a16="http://schemas.microsoft.com/office/drawing/2014/main" id="{7998D76F-A1BB-478B-BAB5-678B0A3121E6}"/>
              </a:ext>
            </a:extLst>
          </p:cNvPr>
          <p:cNvSpPr>
            <a:spLocks xmlns:a="http://schemas.openxmlformats.org/drawingml/2006/main" noGrp="1"/>
          </p:cNvSpPr>
          <p:nvPr/>
        </p:nvSpPr>
        <p:spPr>
          <a:xfrm xmlns:a="http://schemas.openxmlformats.org/drawingml/2006/main">
            <a:off x="11049000" y="5334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0">
                <a:solidFill>
                  <a:srgbClr val="8C8C88"/>
                </a:solidFill>
              </a:defRPr>
            </a:defPPr>
            <a:lvl1pPr algn="r">
              <a:defRPr sz="1050" b="0">
                <a:solidFill>
                  <a:srgbClr val="8C8C88"/>
                </a:solidFill>
              </a:defRPr>
            </a:lvl1pPr>
            <a:lvl2pPr algn="r">
              <a:defRPr sz="1050" b="0">
                <a:solidFill>
                  <a:srgbClr val="8C8C88"/>
                </a:solidFill>
              </a:defRPr>
            </a:lvl2pPr>
            <a:lvl3pPr algn="r">
              <a:defRPr sz="1050" b="0">
                <a:solidFill>
                  <a:srgbClr val="8C8C88"/>
                </a:solidFill>
              </a:defRPr>
            </a:lvl3pPr>
            <a:lvl4pPr algn="r">
              <a:defRPr sz="1050" b="0">
                <a:solidFill>
                  <a:srgbClr val="8C8C88"/>
                </a:solidFill>
              </a:defRPr>
            </a:lvl4pPr>
            <a:lvl5pPr algn="r">
              <a:defRPr sz="1050" b="0">
                <a:solidFill>
                  <a:srgbClr val="8C8C88"/>
                </a:solidFill>
              </a:defRPr>
            </a:lvl5pPr>
            <a:lvl6pPr algn="r">
              <a:defRPr sz="1050" b="0">
                <a:solidFill>
                  <a:srgbClr val="8C8C88"/>
                </a:solidFill>
              </a:defRPr>
            </a:lvl6pPr>
            <a:lvl7pPr algn="r">
              <a:defRPr sz="1050" b="0">
                <a:solidFill>
                  <a:srgbClr val="8C8C88"/>
                </a:solidFill>
              </a:defRPr>
            </a:lvl7pPr>
            <a:lvl8pPr algn="r">
              <a:defRPr sz="1050" b="0">
                <a:solidFill>
                  <a:srgbClr val="8C8C88"/>
                </a:solidFill>
              </a:defRPr>
            </a:lvl8pPr>
            <a:lvl9pPr algn="r">
              <a:defRPr sz="1050" b="0">
                <a:solidFill>
                  <a:srgbClr val="8C8C88"/>
                </a:solidFill>
              </a:defRPr>
            </a:lvl9pPr>
          </a:lstStyle>
          <a:p xmlns:a="http://schemas.openxmlformats.org/drawingml/2006/main">
            <a:pPr algn="r">
              <a:defRPr sz="1050" b="0">
                <a:solidFill>
                  <a:srgbClr val="8C8C88"/>
                </a:solidFill>
              </a:defRPr>
            </a:pPr>
            <a:r>
              <a:rPr sz="1050" b="0">
                <a:solidFill>
                  <a:srgbClr val="8C8C88"/>
                </a:solidFill>
              </a:rPr>
              <a:t>06</a:t>
            </a:r>
          </a:p>
        </p:txBody>
      </p:sp>
      <p:sp>
        <p:nvSpPr>
          <p:cNvPr id="4" name="">
            <a:extLst xmlns:a="http://schemas.openxmlformats.org/drawingml/2006/main">
              <a:ext uri="{FF2B5EF4-FFF2-40B4-BE49-F238E27FC236}">
                <a16:creationId xmlns:a16="http://schemas.microsoft.com/office/drawing/2014/main" id="{9D7F9380-7A76-4991-BC60-0DD092EE044B}"/>
              </a:ext>
            </a:extLst>
          </p:cNvPr>
          <p:cNvSpPr>
            <a:spLocks xmlns:a="http://schemas.openxmlformats.org/drawingml/2006/main" noGrp="1"/>
          </p:cNvSpPr>
          <p:nvPr/>
        </p:nvSpPr>
        <p:spPr>
          <a:xfrm xmlns:a="http://schemas.openxmlformats.org/drawingml/2006/main">
            <a:off x="704850" y="2066925"/>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F7F7F5"/>
                </a:solidFill>
              </a:defRPr>
            </a:defPPr>
            <a:lvl1pPr algn="l">
              <a:defRPr sz="2250" b="1">
                <a:solidFill>
                  <a:srgbClr val="F7F7F5"/>
                </a:solidFill>
              </a:defRPr>
            </a:lvl1pPr>
            <a:lvl2pPr algn="l">
              <a:defRPr sz="2250" b="1">
                <a:solidFill>
                  <a:srgbClr val="F7F7F5"/>
                </a:solidFill>
              </a:defRPr>
            </a:lvl2pPr>
            <a:lvl3pPr algn="l">
              <a:defRPr sz="2250" b="1">
                <a:solidFill>
                  <a:srgbClr val="F7F7F5"/>
                </a:solidFill>
              </a:defRPr>
            </a:lvl3pPr>
            <a:lvl4pPr algn="l">
              <a:defRPr sz="2250" b="1">
                <a:solidFill>
                  <a:srgbClr val="F7F7F5"/>
                </a:solidFill>
              </a:defRPr>
            </a:lvl4pPr>
            <a:lvl5pPr algn="l">
              <a:defRPr sz="2250" b="1">
                <a:solidFill>
                  <a:srgbClr val="F7F7F5"/>
                </a:solidFill>
              </a:defRPr>
            </a:lvl5pPr>
            <a:lvl6pPr algn="l">
              <a:defRPr sz="2250" b="1">
                <a:solidFill>
                  <a:srgbClr val="F7F7F5"/>
                </a:solidFill>
              </a:defRPr>
            </a:lvl6pPr>
            <a:lvl7pPr algn="l">
              <a:defRPr sz="2250" b="1">
                <a:solidFill>
                  <a:srgbClr val="F7F7F5"/>
                </a:solidFill>
              </a:defRPr>
            </a:lvl7pPr>
            <a:lvl8pPr algn="l">
              <a:defRPr sz="2250" b="1">
                <a:solidFill>
                  <a:srgbClr val="F7F7F5"/>
                </a:solidFill>
              </a:defRPr>
            </a:lvl8pPr>
            <a:lvl9pPr algn="l">
              <a:defRPr sz="2250" b="1">
                <a:solidFill>
                  <a:srgbClr val="F7F7F5"/>
                </a:solidFill>
              </a:defRPr>
            </a:lvl9pPr>
          </a:lstStyle>
          <a:p xmlns:a="http://schemas.openxmlformats.org/drawingml/2006/main">
            <a:pPr algn="l">
              <a:defRPr sz="2250" b="1">
                <a:solidFill>
                  <a:srgbClr val="F7F7F5"/>
                </a:solidFill>
              </a:defRPr>
            </a:pPr>
            <a:r>
              <a:rPr sz="2250" b="1">
                <a:solidFill>
                  <a:srgbClr val="F7F7F5"/>
                </a:solidFill>
              </a:rPr>
              <a:t>Dashboard comparison</a:t>
            </a:r>
          </a:p>
        </p:txBody>
      </p:sp>
      <p:sp>
        <p:nvSpPr>
          <p:cNvPr id="5" name="">
            <a:extLst xmlns:a="http://schemas.openxmlformats.org/drawingml/2006/main">
              <a:ext uri="{FF2B5EF4-FFF2-40B4-BE49-F238E27FC236}">
                <a16:creationId xmlns:a16="http://schemas.microsoft.com/office/drawing/2014/main" id="{A51F8D55-6BA9-4EA5-828F-DADADF46F16F}"/>
              </a:ext>
            </a:extLst>
          </p:cNvPr>
          <p:cNvSpPr>
            <a:spLocks xmlns:a="http://schemas.openxmlformats.org/drawingml/2006/main" noGrp="1"/>
          </p:cNvSpPr>
          <p:nvPr/>
        </p:nvSpPr>
        <p:spPr>
          <a:xfrm xmlns:a="http://schemas.openxmlformats.org/drawingml/2006/main">
            <a:off x="704850" y="2800350"/>
            <a:ext cx="48577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C6C6C2"/>
                </a:solidFill>
              </a:defRPr>
            </a:defPPr>
            <a:lvl1pPr algn="l">
              <a:defRPr sz="1875" b="0">
                <a:solidFill>
                  <a:srgbClr val="C6C6C2"/>
                </a:solidFill>
              </a:defRPr>
            </a:lvl1pPr>
            <a:lvl2pPr algn="l">
              <a:defRPr sz="1875" b="0">
                <a:solidFill>
                  <a:srgbClr val="C6C6C2"/>
                </a:solidFill>
              </a:defRPr>
            </a:lvl2pPr>
            <a:lvl3pPr algn="l">
              <a:defRPr sz="1875" b="0">
                <a:solidFill>
                  <a:srgbClr val="C6C6C2"/>
                </a:solidFill>
              </a:defRPr>
            </a:lvl3pPr>
            <a:lvl4pPr algn="l">
              <a:defRPr sz="1875" b="0">
                <a:solidFill>
                  <a:srgbClr val="C6C6C2"/>
                </a:solidFill>
              </a:defRPr>
            </a:lvl4pPr>
            <a:lvl5pPr algn="l">
              <a:defRPr sz="1875" b="0">
                <a:solidFill>
                  <a:srgbClr val="C6C6C2"/>
                </a:solidFill>
              </a:defRPr>
            </a:lvl5pPr>
            <a:lvl6pPr algn="l">
              <a:defRPr sz="1875" b="0">
                <a:solidFill>
                  <a:srgbClr val="C6C6C2"/>
                </a:solidFill>
              </a:defRPr>
            </a:lvl6pPr>
            <a:lvl7pPr algn="l">
              <a:defRPr sz="1875" b="0">
                <a:solidFill>
                  <a:srgbClr val="C6C6C2"/>
                </a:solidFill>
              </a:defRPr>
            </a:lvl7pPr>
            <a:lvl8pPr algn="l">
              <a:defRPr sz="1875" b="0">
                <a:solidFill>
                  <a:srgbClr val="C6C6C2"/>
                </a:solidFill>
              </a:defRPr>
            </a:lvl8pPr>
            <a:lvl9pPr algn="l">
              <a:defRPr sz="1875" b="0">
                <a:solidFill>
                  <a:srgbClr val="C6C6C2"/>
                </a:solidFill>
              </a:defRPr>
            </a:lvl9pPr>
          </a:lstStyle>
          <a:p xmlns:a="http://schemas.openxmlformats.org/drawingml/2006/main">
            <a:pPr algn="l">
              <a:defRPr sz="1875" b="0">
                <a:solidFill>
                  <a:srgbClr val="C6C6C2"/>
                </a:solidFill>
              </a:defRPr>
            </a:pPr>
            <a:r>
              <a:rPr sz="1875" b="0">
                <a:solidFill>
                  <a:srgbClr val="C6C6C2"/>
                </a:solidFill>
              </a:rPr>
              <a:t>A Random Forest trained on generated examples checks that the training and inference path works. These examples are synthetic.</a:t>
            </a:r>
          </a:p>
        </p:txBody>
      </p:sp>
      <p:sp>
        <p:nvSpPr>
          <p:cNvPr id="6" name="">
            <a:extLst xmlns:a="http://schemas.openxmlformats.org/drawingml/2006/main">
              <a:ext uri="{FF2B5EF4-FFF2-40B4-BE49-F238E27FC236}">
                <a16:creationId xmlns:a16="http://schemas.microsoft.com/office/drawing/2014/main" id="{2A7DBF8D-4C01-4BAA-BCDB-D6291FD72CA0}"/>
              </a:ext>
            </a:extLst>
          </p:cNvPr>
          <p:cNvSpPr>
            <a:spLocks xmlns:a="http://schemas.openxmlformats.org/drawingml/2006/main" noGrp="1"/>
          </p:cNvSpPr>
          <p:nvPr/>
        </p:nvSpPr>
        <p:spPr>
          <a:xfrm xmlns:a="http://schemas.openxmlformats.org/drawingml/2006/main">
            <a:off x="6477000" y="2066925"/>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F7F7F5"/>
                </a:solidFill>
              </a:defRPr>
            </a:defPPr>
            <a:lvl1pPr algn="l">
              <a:defRPr sz="2250" b="1">
                <a:solidFill>
                  <a:srgbClr val="F7F7F5"/>
                </a:solidFill>
              </a:defRPr>
            </a:lvl1pPr>
            <a:lvl2pPr algn="l">
              <a:defRPr sz="2250" b="1">
                <a:solidFill>
                  <a:srgbClr val="F7F7F5"/>
                </a:solidFill>
              </a:defRPr>
            </a:lvl2pPr>
            <a:lvl3pPr algn="l">
              <a:defRPr sz="2250" b="1">
                <a:solidFill>
                  <a:srgbClr val="F7F7F5"/>
                </a:solidFill>
              </a:defRPr>
            </a:lvl3pPr>
            <a:lvl4pPr algn="l">
              <a:defRPr sz="2250" b="1">
                <a:solidFill>
                  <a:srgbClr val="F7F7F5"/>
                </a:solidFill>
              </a:defRPr>
            </a:lvl4pPr>
            <a:lvl5pPr algn="l">
              <a:defRPr sz="2250" b="1">
                <a:solidFill>
                  <a:srgbClr val="F7F7F5"/>
                </a:solidFill>
              </a:defRPr>
            </a:lvl5pPr>
            <a:lvl6pPr algn="l">
              <a:defRPr sz="2250" b="1">
                <a:solidFill>
                  <a:srgbClr val="F7F7F5"/>
                </a:solidFill>
              </a:defRPr>
            </a:lvl6pPr>
            <a:lvl7pPr algn="l">
              <a:defRPr sz="2250" b="1">
                <a:solidFill>
                  <a:srgbClr val="F7F7F5"/>
                </a:solidFill>
              </a:defRPr>
            </a:lvl7pPr>
            <a:lvl8pPr algn="l">
              <a:defRPr sz="2250" b="1">
                <a:solidFill>
                  <a:srgbClr val="F7F7F5"/>
                </a:solidFill>
              </a:defRPr>
            </a:lvl8pPr>
            <a:lvl9pPr algn="l">
              <a:defRPr sz="2250" b="1">
                <a:solidFill>
                  <a:srgbClr val="F7F7F5"/>
                </a:solidFill>
              </a:defRPr>
            </a:lvl9pPr>
          </a:lstStyle>
          <a:p xmlns:a="http://schemas.openxmlformats.org/drawingml/2006/main">
            <a:pPr algn="l">
              <a:defRPr sz="2250" b="1">
                <a:solidFill>
                  <a:srgbClr val="F7F7F5"/>
                </a:solidFill>
              </a:defRPr>
            </a:pPr>
            <a:r>
              <a:rPr sz="2250" b="1">
                <a:solidFill>
                  <a:srgbClr val="F7F7F5"/>
                </a:solidFill>
              </a:rPr>
              <a:t>Real-data experiment</a:t>
            </a:r>
          </a:p>
        </p:txBody>
      </p:sp>
      <p:sp>
        <p:nvSpPr>
          <p:cNvPr id="7" name="">
            <a:extLst xmlns:a="http://schemas.openxmlformats.org/drawingml/2006/main">
              <a:ext uri="{FF2B5EF4-FFF2-40B4-BE49-F238E27FC236}">
                <a16:creationId xmlns:a16="http://schemas.microsoft.com/office/drawing/2014/main" id="{7FCF7001-F1C0-4C46-98BE-A0FEDC247B7D}"/>
              </a:ext>
            </a:extLst>
          </p:cNvPr>
          <p:cNvSpPr>
            <a:spLocks xmlns:a="http://schemas.openxmlformats.org/drawingml/2006/main" noGrp="1"/>
          </p:cNvSpPr>
          <p:nvPr/>
        </p:nvSpPr>
        <p:spPr>
          <a:xfrm xmlns:a="http://schemas.openxmlformats.org/drawingml/2006/main">
            <a:off x="6477000" y="2800350"/>
            <a:ext cx="48577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C6C6C2"/>
                </a:solidFill>
              </a:defRPr>
            </a:defPPr>
            <a:lvl1pPr algn="l">
              <a:defRPr sz="1875" b="0">
                <a:solidFill>
                  <a:srgbClr val="C6C6C2"/>
                </a:solidFill>
              </a:defRPr>
            </a:lvl1pPr>
            <a:lvl2pPr algn="l">
              <a:defRPr sz="1875" b="0">
                <a:solidFill>
                  <a:srgbClr val="C6C6C2"/>
                </a:solidFill>
              </a:defRPr>
            </a:lvl2pPr>
            <a:lvl3pPr algn="l">
              <a:defRPr sz="1875" b="0">
                <a:solidFill>
                  <a:srgbClr val="C6C6C2"/>
                </a:solidFill>
              </a:defRPr>
            </a:lvl3pPr>
            <a:lvl4pPr algn="l">
              <a:defRPr sz="1875" b="0">
                <a:solidFill>
                  <a:srgbClr val="C6C6C2"/>
                </a:solidFill>
              </a:defRPr>
            </a:lvl4pPr>
            <a:lvl5pPr algn="l">
              <a:defRPr sz="1875" b="0">
                <a:solidFill>
                  <a:srgbClr val="C6C6C2"/>
                </a:solidFill>
              </a:defRPr>
            </a:lvl5pPr>
            <a:lvl6pPr algn="l">
              <a:defRPr sz="1875" b="0">
                <a:solidFill>
                  <a:srgbClr val="C6C6C2"/>
                </a:solidFill>
              </a:defRPr>
            </a:lvl6pPr>
            <a:lvl7pPr algn="l">
              <a:defRPr sz="1875" b="0">
                <a:solidFill>
                  <a:srgbClr val="C6C6C2"/>
                </a:solidFill>
              </a:defRPr>
            </a:lvl7pPr>
            <a:lvl8pPr algn="l">
              <a:defRPr sz="1875" b="0">
                <a:solidFill>
                  <a:srgbClr val="C6C6C2"/>
                </a:solidFill>
              </a:defRPr>
            </a:lvl8pPr>
            <a:lvl9pPr algn="l">
              <a:defRPr sz="1875" b="0">
                <a:solidFill>
                  <a:srgbClr val="C6C6C2"/>
                </a:solidFill>
              </a:defRPr>
            </a:lvl9pPr>
          </a:lstStyle>
          <a:p xmlns:a="http://schemas.openxmlformats.org/drawingml/2006/main">
            <a:pPr algn="l">
              <a:defRPr sz="1875" b="0">
                <a:solidFill>
                  <a:srgbClr val="C6C6C2"/>
                </a:solidFill>
              </a:defRPr>
            </a:pPr>
            <a:r>
              <a:rPr sz="1875" b="0">
                <a:solidFill>
                  <a:srgbClr val="C6C6C2"/>
                </a:solidFill>
              </a:rPr>
              <a:t>A separate Random Forest uses CIC flow CSV features. Its external results are too weak for live decisions.</a:t>
            </a:r>
          </a:p>
        </p:txBody>
      </p:sp>
      <p:sp>
        <p:nvSpPr>
          <p:cNvPr id="8" name="">
            <a:extLst xmlns:a="http://schemas.openxmlformats.org/drawingml/2006/main">
              <a:ext uri="{FF2B5EF4-FFF2-40B4-BE49-F238E27FC236}">
                <a16:creationId xmlns:a16="http://schemas.microsoft.com/office/drawing/2014/main" id="{3201DB0F-6C8E-4FCF-8CCE-D75C71713FE6}"/>
              </a:ext>
            </a:extLst>
          </p:cNvPr>
          <p:cNvSpPr>
            <a:spLocks xmlns:a="http://schemas.openxmlformats.org/drawingml/2006/main" noGrp="1"/>
          </p:cNvSpPr>
          <p:nvPr/>
        </p:nvSpPr>
        <p:spPr>
          <a:xfrm xmlns:a="http://schemas.openxmlformats.org/drawingml/2006/main">
            <a:off x="704850" y="54483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DE5A1D"/>
                </a:solidFill>
              </a:defRPr>
            </a:defPPr>
            <a:lvl1pPr algn="l">
              <a:defRPr sz="1725" b="1">
                <a:solidFill>
                  <a:srgbClr val="DE5A1D"/>
                </a:solidFill>
              </a:defRPr>
            </a:lvl1pPr>
            <a:lvl2pPr algn="l">
              <a:defRPr sz="1725" b="1">
                <a:solidFill>
                  <a:srgbClr val="DE5A1D"/>
                </a:solidFill>
              </a:defRPr>
            </a:lvl2pPr>
            <a:lvl3pPr algn="l">
              <a:defRPr sz="1725" b="1">
                <a:solidFill>
                  <a:srgbClr val="DE5A1D"/>
                </a:solidFill>
              </a:defRPr>
            </a:lvl3pPr>
            <a:lvl4pPr algn="l">
              <a:defRPr sz="1725" b="1">
                <a:solidFill>
                  <a:srgbClr val="DE5A1D"/>
                </a:solidFill>
              </a:defRPr>
            </a:lvl4pPr>
            <a:lvl5pPr algn="l">
              <a:defRPr sz="1725" b="1">
                <a:solidFill>
                  <a:srgbClr val="DE5A1D"/>
                </a:solidFill>
              </a:defRPr>
            </a:lvl5pPr>
            <a:lvl6pPr algn="l">
              <a:defRPr sz="1725" b="1">
                <a:solidFill>
                  <a:srgbClr val="DE5A1D"/>
                </a:solidFill>
              </a:defRPr>
            </a:lvl6pPr>
            <a:lvl7pPr algn="l">
              <a:defRPr sz="1725" b="1">
                <a:solidFill>
                  <a:srgbClr val="DE5A1D"/>
                </a:solidFill>
              </a:defRPr>
            </a:lvl7pPr>
            <a:lvl8pPr algn="l">
              <a:defRPr sz="1725" b="1">
                <a:solidFill>
                  <a:srgbClr val="DE5A1D"/>
                </a:solidFill>
              </a:defRPr>
            </a:lvl8pPr>
            <a:lvl9pPr algn="l">
              <a:defRPr sz="1725" b="1">
                <a:solidFill>
                  <a:srgbClr val="DE5A1D"/>
                </a:solidFill>
              </a:defRPr>
            </a:lvl9pPr>
          </a:lstStyle>
          <a:p xmlns:a="http://schemas.openxmlformats.org/drawingml/2006/main">
            <a:pPr algn="l">
              <a:defRPr sz="1725" b="1">
                <a:solidFill>
                  <a:srgbClr val="DE5A1D"/>
                </a:solidFill>
              </a:defRPr>
            </a:pPr>
            <a:r>
              <a:rPr sz="1725" b="1">
                <a:solidFill>
                  <a:srgbClr val="DE5A1D"/>
                </a:solidFill>
              </a:rPr>
              <a:t>Flow features and packet-window features are different schemas.</a:t>
            </a:r>
          </a:p>
        </p:txBody>
      </p:sp>
    </p:spTree>
    <p:extLst>
      <p:ext uri="{BB962C8B-B14F-4D97-AF65-F5344CB8AC3E}">
        <p14:creationId xmlns:p14="http://schemas.microsoft.com/office/powerpoint/2010/main" val="1341722910"/>
      </p:ext>
    </p:extLst>
  </p:cSld>
</p:sld>
</file>

<file path=ppt/slides/slide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4239CDD-79F9-4C1D-9E22-902913E83C3A}"/>
              </a:ext>
            </a:extLst>
          </p:cNvPr>
          <p:cNvSpPr>
            <a:spLocks xmlns:a="http://schemas.openxmlformats.org/drawingml/2006/main" noGrp="1"/>
          </p:cNvSpPr>
          <p:nvPr/>
        </p:nvSpPr>
        <p:spPr>
          <a:xfrm xmlns:a="http://schemas.openxmlformats.org/drawingml/2006/main">
            <a:off x="685800" y="4381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DE5A1D"/>
                </a:solidFill>
              </a:defRPr>
            </a:defPPr>
            <a:lvl1pPr algn="l">
              <a:defRPr sz="1200" b="1">
                <a:solidFill>
                  <a:srgbClr val="DE5A1D"/>
                </a:solidFill>
              </a:defRPr>
            </a:lvl1pPr>
            <a:lvl2pPr algn="l">
              <a:defRPr sz="1200" b="1">
                <a:solidFill>
                  <a:srgbClr val="DE5A1D"/>
                </a:solidFill>
              </a:defRPr>
            </a:lvl2pPr>
            <a:lvl3pPr algn="l">
              <a:defRPr sz="1200" b="1">
                <a:solidFill>
                  <a:srgbClr val="DE5A1D"/>
                </a:solidFill>
              </a:defRPr>
            </a:lvl3pPr>
            <a:lvl4pPr algn="l">
              <a:defRPr sz="1200" b="1">
                <a:solidFill>
                  <a:srgbClr val="DE5A1D"/>
                </a:solidFill>
              </a:defRPr>
            </a:lvl4pPr>
            <a:lvl5pPr algn="l">
              <a:defRPr sz="1200" b="1">
                <a:solidFill>
                  <a:srgbClr val="DE5A1D"/>
                </a:solidFill>
              </a:defRPr>
            </a:lvl5pPr>
            <a:lvl6pPr algn="l">
              <a:defRPr sz="1200" b="1">
                <a:solidFill>
                  <a:srgbClr val="DE5A1D"/>
                </a:solidFill>
              </a:defRPr>
            </a:lvl6pPr>
            <a:lvl7pPr algn="l">
              <a:defRPr sz="1200" b="1">
                <a:solidFill>
                  <a:srgbClr val="DE5A1D"/>
                </a:solidFill>
              </a:defRPr>
            </a:lvl7pPr>
            <a:lvl8pPr algn="l">
              <a:defRPr sz="1200" b="1">
                <a:solidFill>
                  <a:srgbClr val="DE5A1D"/>
                </a:solidFill>
              </a:defRPr>
            </a:lvl8pPr>
            <a:lvl9pPr algn="l">
              <a:defRPr sz="1200" b="1">
                <a:solidFill>
                  <a:srgbClr val="DE5A1D"/>
                </a:solidFill>
              </a:defRPr>
            </a:lvl9pPr>
          </a:lstStyle>
          <a:p xmlns:a="http://schemas.openxmlformats.org/drawingml/2006/main">
            <a:pPr algn="l">
              <a:defRPr sz="1200" b="1">
                <a:solidFill>
                  <a:srgbClr val="DE5A1D"/>
                </a:solidFill>
              </a:defRPr>
            </a:pPr>
            <a:r>
              <a:rPr sz="1200" b="1">
                <a:solidFill>
                  <a:srgbClr val="DE5A1D"/>
                </a:solidFill>
              </a:rPr>
              <a:t>DATA</a:t>
            </a:r>
          </a:p>
        </p:txBody>
      </p:sp>
      <p:sp>
        <p:nvSpPr>
          <p:cNvPr id="2" name="">
            <a:extLst xmlns:a="http://schemas.openxmlformats.org/drawingml/2006/main">
              <a:ext uri="{FF2B5EF4-FFF2-40B4-BE49-F238E27FC236}">
                <a16:creationId xmlns:a16="http://schemas.microsoft.com/office/drawing/2014/main" id="{3FBCF397-0A4B-4230-9750-DBCB7C982941}"/>
              </a:ext>
            </a:extLst>
          </p:cNvPr>
          <p:cNvSpPr>
            <a:spLocks xmlns:a="http://schemas.openxmlformats.org/drawingml/2006/main" noGrp="1"/>
          </p:cNvSpPr>
          <p:nvPr/>
        </p:nvSpPr>
        <p:spPr>
          <a:xfrm xmlns:a="http://schemas.openxmlformats.org/drawingml/2006/main">
            <a:off x="685800" y="8953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F7F7F5"/>
                </a:solidFill>
              </a:defRPr>
            </a:defPPr>
            <a:lvl1pPr algn="l">
              <a:defRPr sz="3000" b="1">
                <a:solidFill>
                  <a:srgbClr val="F7F7F5"/>
                </a:solidFill>
              </a:defRPr>
            </a:lvl1pPr>
            <a:lvl2pPr algn="l">
              <a:defRPr sz="3000" b="1">
                <a:solidFill>
                  <a:srgbClr val="F7F7F5"/>
                </a:solidFill>
              </a:defRPr>
            </a:lvl2pPr>
            <a:lvl3pPr algn="l">
              <a:defRPr sz="3000" b="1">
                <a:solidFill>
                  <a:srgbClr val="F7F7F5"/>
                </a:solidFill>
              </a:defRPr>
            </a:lvl3pPr>
            <a:lvl4pPr algn="l">
              <a:defRPr sz="3000" b="1">
                <a:solidFill>
                  <a:srgbClr val="F7F7F5"/>
                </a:solidFill>
              </a:defRPr>
            </a:lvl4pPr>
            <a:lvl5pPr algn="l">
              <a:defRPr sz="3000" b="1">
                <a:solidFill>
                  <a:srgbClr val="F7F7F5"/>
                </a:solidFill>
              </a:defRPr>
            </a:lvl5pPr>
            <a:lvl6pPr algn="l">
              <a:defRPr sz="3000" b="1">
                <a:solidFill>
                  <a:srgbClr val="F7F7F5"/>
                </a:solidFill>
              </a:defRPr>
            </a:lvl6pPr>
            <a:lvl7pPr algn="l">
              <a:defRPr sz="3000" b="1">
                <a:solidFill>
                  <a:srgbClr val="F7F7F5"/>
                </a:solidFill>
              </a:defRPr>
            </a:lvl7pPr>
            <a:lvl8pPr algn="l">
              <a:defRPr sz="3000" b="1">
                <a:solidFill>
                  <a:srgbClr val="F7F7F5"/>
                </a:solidFill>
              </a:defRPr>
            </a:lvl8pPr>
            <a:lvl9pPr algn="l">
              <a:defRPr sz="3000" b="1">
                <a:solidFill>
                  <a:srgbClr val="F7F7F5"/>
                </a:solidFill>
              </a:defRPr>
            </a:lvl9pPr>
          </a:lstStyle>
          <a:p xmlns:a="http://schemas.openxmlformats.org/drawingml/2006/main">
            <a:pPr algn="l">
              <a:defRPr sz="3000" b="1">
                <a:solidFill>
                  <a:srgbClr val="F7F7F5"/>
                </a:solidFill>
              </a:defRPr>
            </a:pPr>
            <a:r>
              <a:rPr sz="3000" b="1">
                <a:solidFill>
                  <a:srgbClr val="F7F7F5"/>
                </a:solidFill>
              </a:rPr>
              <a:t>Which datasets help</a:t>
            </a:r>
          </a:p>
        </p:txBody>
      </p:sp>
      <p:sp>
        <p:nvSpPr>
          <p:cNvPr id="3" name="">
            <a:extLst xmlns:a="http://schemas.openxmlformats.org/drawingml/2006/main">
              <a:ext uri="{FF2B5EF4-FFF2-40B4-BE49-F238E27FC236}">
                <a16:creationId xmlns:a16="http://schemas.microsoft.com/office/drawing/2014/main" id="{9574F859-94F0-4F8B-873D-602DD6435480}"/>
              </a:ext>
            </a:extLst>
          </p:cNvPr>
          <p:cNvSpPr>
            <a:spLocks xmlns:a="http://schemas.openxmlformats.org/drawingml/2006/main" noGrp="1"/>
          </p:cNvSpPr>
          <p:nvPr/>
        </p:nvSpPr>
        <p:spPr>
          <a:xfrm xmlns:a="http://schemas.openxmlformats.org/drawingml/2006/main">
            <a:off x="11049000" y="5334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0">
                <a:solidFill>
                  <a:srgbClr val="8C8C88"/>
                </a:solidFill>
              </a:defRPr>
            </a:defPPr>
            <a:lvl1pPr algn="r">
              <a:defRPr sz="1050" b="0">
                <a:solidFill>
                  <a:srgbClr val="8C8C88"/>
                </a:solidFill>
              </a:defRPr>
            </a:lvl1pPr>
            <a:lvl2pPr algn="r">
              <a:defRPr sz="1050" b="0">
                <a:solidFill>
                  <a:srgbClr val="8C8C88"/>
                </a:solidFill>
              </a:defRPr>
            </a:lvl2pPr>
            <a:lvl3pPr algn="r">
              <a:defRPr sz="1050" b="0">
                <a:solidFill>
                  <a:srgbClr val="8C8C88"/>
                </a:solidFill>
              </a:defRPr>
            </a:lvl3pPr>
            <a:lvl4pPr algn="r">
              <a:defRPr sz="1050" b="0">
                <a:solidFill>
                  <a:srgbClr val="8C8C88"/>
                </a:solidFill>
              </a:defRPr>
            </a:lvl4pPr>
            <a:lvl5pPr algn="r">
              <a:defRPr sz="1050" b="0">
                <a:solidFill>
                  <a:srgbClr val="8C8C88"/>
                </a:solidFill>
              </a:defRPr>
            </a:lvl5pPr>
            <a:lvl6pPr algn="r">
              <a:defRPr sz="1050" b="0">
                <a:solidFill>
                  <a:srgbClr val="8C8C88"/>
                </a:solidFill>
              </a:defRPr>
            </a:lvl6pPr>
            <a:lvl7pPr algn="r">
              <a:defRPr sz="1050" b="0">
                <a:solidFill>
                  <a:srgbClr val="8C8C88"/>
                </a:solidFill>
              </a:defRPr>
            </a:lvl7pPr>
            <a:lvl8pPr algn="r">
              <a:defRPr sz="1050" b="0">
                <a:solidFill>
                  <a:srgbClr val="8C8C88"/>
                </a:solidFill>
              </a:defRPr>
            </a:lvl8pPr>
            <a:lvl9pPr algn="r">
              <a:defRPr sz="1050" b="0">
                <a:solidFill>
                  <a:srgbClr val="8C8C88"/>
                </a:solidFill>
              </a:defRPr>
            </a:lvl9pPr>
          </a:lstStyle>
          <a:p xmlns:a="http://schemas.openxmlformats.org/drawingml/2006/main">
            <a:pPr algn="r">
              <a:defRPr sz="1050" b="0">
                <a:solidFill>
                  <a:srgbClr val="8C8C88"/>
                </a:solidFill>
              </a:defRPr>
            </a:pPr>
            <a:r>
              <a:rPr sz="1050" b="0">
                <a:solidFill>
                  <a:srgbClr val="8C8C88"/>
                </a:solidFill>
              </a:rPr>
              <a:t>07</a:t>
            </a:r>
          </a:p>
        </p:txBody>
      </p:sp>
      <p:sp>
        <p:nvSpPr>
          <p:cNvPr id="4" name="">
            <a:extLst xmlns:a="http://schemas.openxmlformats.org/drawingml/2006/main">
              <a:ext uri="{FF2B5EF4-FFF2-40B4-BE49-F238E27FC236}">
                <a16:creationId xmlns:a16="http://schemas.microsoft.com/office/drawing/2014/main" id="{53C5D297-909F-4E2D-A52E-613DA1CA6E44}"/>
              </a:ext>
            </a:extLst>
          </p:cNvPr>
          <p:cNvSpPr>
            <a:spLocks xmlns:a="http://schemas.openxmlformats.org/drawingml/2006/main" noGrp="1"/>
          </p:cNvSpPr>
          <p:nvPr/>
        </p:nvSpPr>
        <p:spPr>
          <a:xfrm xmlns:a="http://schemas.openxmlformats.org/drawingml/2006/main">
            <a:off x="685800" y="1885950"/>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01</a:t>
            </a:r>
          </a:p>
        </p:txBody>
      </p:sp>
      <p:sp>
        <p:nvSpPr>
          <p:cNvPr id="5" name="">
            <a:extLst xmlns:a="http://schemas.openxmlformats.org/drawingml/2006/main">
              <a:ext uri="{FF2B5EF4-FFF2-40B4-BE49-F238E27FC236}">
                <a16:creationId xmlns:a16="http://schemas.microsoft.com/office/drawing/2014/main" id="{CCD06C76-D2D5-401A-AF6F-2B71EAB6EB3D}"/>
              </a:ext>
            </a:extLst>
          </p:cNvPr>
          <p:cNvSpPr>
            <a:spLocks xmlns:a="http://schemas.openxmlformats.org/drawingml/2006/main" noGrp="1"/>
          </p:cNvSpPr>
          <p:nvPr/>
        </p:nvSpPr>
        <p:spPr>
          <a:xfrm xmlns:a="http://schemas.openxmlformats.org/drawingml/2006/main">
            <a:off x="1504950" y="188595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Friday CSV</a:t>
            </a:r>
          </a:p>
        </p:txBody>
      </p:sp>
      <p:sp>
        <p:nvSpPr>
          <p:cNvPr id="6" name="">
            <a:extLst xmlns:a="http://schemas.openxmlformats.org/drawingml/2006/main">
              <a:ext uri="{FF2B5EF4-FFF2-40B4-BE49-F238E27FC236}">
                <a16:creationId xmlns:a16="http://schemas.microsoft.com/office/drawing/2014/main" id="{9301E580-7C3E-4B62-9849-82D5912954CE}"/>
              </a:ext>
            </a:extLst>
          </p:cNvPr>
          <p:cNvSpPr>
            <a:spLocks xmlns:a="http://schemas.openxmlformats.org/drawingml/2006/main" noGrp="1"/>
          </p:cNvSpPr>
          <p:nvPr/>
        </p:nvSpPr>
        <p:spPr>
          <a:xfrm xmlns:a="http://schemas.openxmlformats.org/drawingml/2006/main">
            <a:off x="4953000" y="1905000"/>
            <a:ext cx="619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C6C6C2"/>
                </a:solidFill>
              </a:defRPr>
            </a:defPPr>
            <a:lvl1pPr algn="l">
              <a:defRPr sz="1575" b="0">
                <a:solidFill>
                  <a:srgbClr val="C6C6C2"/>
                </a:solidFill>
              </a:defRPr>
            </a:lvl1pPr>
            <a:lvl2pPr algn="l">
              <a:defRPr sz="1575" b="0">
                <a:solidFill>
                  <a:srgbClr val="C6C6C2"/>
                </a:solidFill>
              </a:defRPr>
            </a:lvl2pPr>
            <a:lvl3pPr algn="l">
              <a:defRPr sz="1575" b="0">
                <a:solidFill>
                  <a:srgbClr val="C6C6C2"/>
                </a:solidFill>
              </a:defRPr>
            </a:lvl3pPr>
            <a:lvl4pPr algn="l">
              <a:defRPr sz="1575" b="0">
                <a:solidFill>
                  <a:srgbClr val="C6C6C2"/>
                </a:solidFill>
              </a:defRPr>
            </a:lvl4pPr>
            <a:lvl5pPr algn="l">
              <a:defRPr sz="1575" b="0">
                <a:solidFill>
                  <a:srgbClr val="C6C6C2"/>
                </a:solidFill>
              </a:defRPr>
            </a:lvl5pPr>
            <a:lvl6pPr algn="l">
              <a:defRPr sz="1575" b="0">
                <a:solidFill>
                  <a:srgbClr val="C6C6C2"/>
                </a:solidFill>
              </a:defRPr>
            </a:lvl6pPr>
            <a:lvl7pPr algn="l">
              <a:defRPr sz="1575" b="0">
                <a:solidFill>
                  <a:srgbClr val="C6C6C2"/>
                </a:solidFill>
              </a:defRPr>
            </a:lvl7pPr>
            <a:lvl8pPr algn="l">
              <a:defRPr sz="1575" b="0">
                <a:solidFill>
                  <a:srgbClr val="C6C6C2"/>
                </a:solidFill>
              </a:defRPr>
            </a:lvl8pPr>
            <a:lvl9pPr algn="l">
              <a:defRPr sz="1575" b="0">
                <a:solidFill>
                  <a:srgbClr val="C6C6C2"/>
                </a:solidFill>
              </a:defRPr>
            </a:lvl9pPr>
          </a:lstStyle>
          <a:p xmlns:a="http://schemas.openxmlformats.org/drawingml/2006/main">
            <a:pPr algn="l">
              <a:defRPr sz="1575" b="0">
                <a:solidFill>
                  <a:srgbClr val="C6C6C2"/>
                </a:solidFill>
              </a:defRPr>
            </a:pPr>
            <a:r>
              <a:rPr sz="1575" b="0">
                <a:solidFill>
                  <a:srgbClr val="C6C6C2"/>
                </a:solidFill>
              </a:rPr>
              <a:t>225,745 labeled CIC-IDS2017 flows; used for external evaluation</a:t>
            </a:r>
          </a:p>
        </p:txBody>
      </p:sp>
      <p:sp>
        <p:nvSpPr>
          <p:cNvPr id="7" name="">
            <a:extLst xmlns:a="http://schemas.openxmlformats.org/drawingml/2006/main">
              <a:ext uri="{FF2B5EF4-FFF2-40B4-BE49-F238E27FC236}">
                <a16:creationId xmlns:a16="http://schemas.microsoft.com/office/drawing/2014/main" id="{75CB373C-13B5-400C-A74E-12D09EAA3116}"/>
              </a:ext>
            </a:extLst>
          </p:cNvPr>
          <p:cNvSpPr>
            <a:spLocks xmlns:a="http://schemas.openxmlformats.org/drawingml/2006/main" noGrp="1"/>
          </p:cNvSpPr>
          <p:nvPr/>
        </p:nvSpPr>
        <p:spPr>
          <a:xfrm xmlns:a="http://schemas.openxmlformats.org/drawingml/2006/main">
            <a:off x="685800" y="2809875"/>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02</a:t>
            </a:r>
          </a:p>
        </p:txBody>
      </p:sp>
      <p:sp>
        <p:nvSpPr>
          <p:cNvPr id="8" name="">
            <a:extLst xmlns:a="http://schemas.openxmlformats.org/drawingml/2006/main">
              <a:ext uri="{FF2B5EF4-FFF2-40B4-BE49-F238E27FC236}">
                <a16:creationId xmlns:a16="http://schemas.microsoft.com/office/drawing/2014/main" id="{21DA899F-30EE-46AE-A089-35DD28F793B4}"/>
              </a:ext>
            </a:extLst>
          </p:cNvPr>
          <p:cNvSpPr>
            <a:spLocks xmlns:a="http://schemas.openxmlformats.org/drawingml/2006/main" noGrp="1"/>
          </p:cNvSpPr>
          <p:nvPr/>
        </p:nvSpPr>
        <p:spPr>
          <a:xfrm xmlns:a="http://schemas.openxmlformats.org/drawingml/2006/main">
            <a:off x="1504950" y="280987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Thursday PCAP</a:t>
            </a:r>
          </a:p>
        </p:txBody>
      </p:sp>
      <p:sp>
        <p:nvSpPr>
          <p:cNvPr id="9" name="">
            <a:extLst xmlns:a="http://schemas.openxmlformats.org/drawingml/2006/main">
              <a:ext uri="{FF2B5EF4-FFF2-40B4-BE49-F238E27FC236}">
                <a16:creationId xmlns:a16="http://schemas.microsoft.com/office/drawing/2014/main" id="{8E7FF171-ABBD-451B-9F8B-08E475A19E37}"/>
              </a:ext>
            </a:extLst>
          </p:cNvPr>
          <p:cNvSpPr>
            <a:spLocks xmlns:a="http://schemas.openxmlformats.org/drawingml/2006/main" noGrp="1"/>
          </p:cNvSpPr>
          <p:nvPr/>
        </p:nvSpPr>
        <p:spPr>
          <a:xfrm xmlns:a="http://schemas.openxmlformats.org/drawingml/2006/main">
            <a:off x="4953000" y="2828925"/>
            <a:ext cx="619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C6C6C2"/>
                </a:solidFill>
              </a:defRPr>
            </a:defPPr>
            <a:lvl1pPr algn="l">
              <a:defRPr sz="1575" b="0">
                <a:solidFill>
                  <a:srgbClr val="C6C6C2"/>
                </a:solidFill>
              </a:defRPr>
            </a:lvl1pPr>
            <a:lvl2pPr algn="l">
              <a:defRPr sz="1575" b="0">
                <a:solidFill>
                  <a:srgbClr val="C6C6C2"/>
                </a:solidFill>
              </a:defRPr>
            </a:lvl2pPr>
            <a:lvl3pPr algn="l">
              <a:defRPr sz="1575" b="0">
                <a:solidFill>
                  <a:srgbClr val="C6C6C2"/>
                </a:solidFill>
              </a:defRPr>
            </a:lvl3pPr>
            <a:lvl4pPr algn="l">
              <a:defRPr sz="1575" b="0">
                <a:solidFill>
                  <a:srgbClr val="C6C6C2"/>
                </a:solidFill>
              </a:defRPr>
            </a:lvl4pPr>
            <a:lvl5pPr algn="l">
              <a:defRPr sz="1575" b="0">
                <a:solidFill>
                  <a:srgbClr val="C6C6C2"/>
                </a:solidFill>
              </a:defRPr>
            </a:lvl5pPr>
            <a:lvl6pPr algn="l">
              <a:defRPr sz="1575" b="0">
                <a:solidFill>
                  <a:srgbClr val="C6C6C2"/>
                </a:solidFill>
              </a:defRPr>
            </a:lvl6pPr>
            <a:lvl7pPr algn="l">
              <a:defRPr sz="1575" b="0">
                <a:solidFill>
                  <a:srgbClr val="C6C6C2"/>
                </a:solidFill>
              </a:defRPr>
            </a:lvl7pPr>
            <a:lvl8pPr algn="l">
              <a:defRPr sz="1575" b="0">
                <a:solidFill>
                  <a:srgbClr val="C6C6C2"/>
                </a:solidFill>
              </a:defRPr>
            </a:lvl8pPr>
            <a:lvl9pPr algn="l">
              <a:defRPr sz="1575" b="0">
                <a:solidFill>
                  <a:srgbClr val="C6C6C2"/>
                </a:solidFill>
              </a:defRPr>
            </a:lvl9pPr>
          </a:lstStyle>
          <a:p xmlns:a="http://schemas.openxmlformats.org/drawingml/2006/main">
            <a:pPr algn="l">
              <a:defRPr sz="1575" b="0">
                <a:solidFill>
                  <a:srgbClr val="C6C6C2"/>
                </a:solidFill>
              </a:defRPr>
            </a:pPr>
            <a:r>
              <a:rPr sz="1575" b="0">
                <a:solidFill>
                  <a:srgbClr val="C6C6C2"/>
                </a:solidFill>
              </a:rPr>
              <a:t>Mixed capture; early sample label remains provisional</a:t>
            </a:r>
          </a:p>
        </p:txBody>
      </p:sp>
      <p:sp>
        <p:nvSpPr>
          <p:cNvPr id="10" name="">
            <a:extLst xmlns:a="http://schemas.openxmlformats.org/drawingml/2006/main">
              <a:ext uri="{FF2B5EF4-FFF2-40B4-BE49-F238E27FC236}">
                <a16:creationId xmlns:a16="http://schemas.microsoft.com/office/drawing/2014/main" id="{A189AA80-A1E0-4C81-8800-5E400B7F6C97}"/>
              </a:ext>
            </a:extLst>
          </p:cNvPr>
          <p:cNvSpPr>
            <a:spLocks xmlns:a="http://schemas.openxmlformats.org/drawingml/2006/main" noGrp="1"/>
          </p:cNvSpPr>
          <p:nvPr/>
        </p:nvSpPr>
        <p:spPr>
          <a:xfrm xmlns:a="http://schemas.openxmlformats.org/drawingml/2006/main">
            <a:off x="685800" y="3733800"/>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03</a:t>
            </a:r>
          </a:p>
        </p:txBody>
      </p:sp>
      <p:sp>
        <p:nvSpPr>
          <p:cNvPr id="11" name="">
            <a:extLst xmlns:a="http://schemas.openxmlformats.org/drawingml/2006/main">
              <a:ext uri="{FF2B5EF4-FFF2-40B4-BE49-F238E27FC236}">
                <a16:creationId xmlns:a16="http://schemas.microsoft.com/office/drawing/2014/main" id="{1C8B6FAF-284F-459D-B7C1-3DDB25C52213}"/>
              </a:ext>
            </a:extLst>
          </p:cNvPr>
          <p:cNvSpPr>
            <a:spLocks xmlns:a="http://schemas.openxmlformats.org/drawingml/2006/main" noGrp="1"/>
          </p:cNvSpPr>
          <p:nvPr/>
        </p:nvSpPr>
        <p:spPr>
          <a:xfrm xmlns:a="http://schemas.openxmlformats.org/drawingml/2006/main">
            <a:off x="1504950" y="37338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LUCID PCAPs</a:t>
            </a:r>
          </a:p>
        </p:txBody>
      </p:sp>
      <p:sp>
        <p:nvSpPr>
          <p:cNvPr id="12" name="">
            <a:extLst xmlns:a="http://schemas.openxmlformats.org/drawingml/2006/main">
              <a:ext uri="{FF2B5EF4-FFF2-40B4-BE49-F238E27FC236}">
                <a16:creationId xmlns:a16="http://schemas.microsoft.com/office/drawing/2014/main" id="{AAE37471-D18F-4A9A-99CF-9401329435CC}"/>
              </a:ext>
            </a:extLst>
          </p:cNvPr>
          <p:cNvSpPr>
            <a:spLocks xmlns:a="http://schemas.openxmlformats.org/drawingml/2006/main" noGrp="1"/>
          </p:cNvSpPr>
          <p:nvPr/>
        </p:nvSpPr>
        <p:spPr>
          <a:xfrm xmlns:a="http://schemas.openxmlformats.org/drawingml/2006/main">
            <a:off x="4953000" y="3752850"/>
            <a:ext cx="619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C6C6C2"/>
                </a:solidFill>
              </a:defRPr>
            </a:defPPr>
            <a:lvl1pPr algn="l">
              <a:defRPr sz="1575" b="0">
                <a:solidFill>
                  <a:srgbClr val="C6C6C2"/>
                </a:solidFill>
              </a:defRPr>
            </a:lvl1pPr>
            <a:lvl2pPr algn="l">
              <a:defRPr sz="1575" b="0">
                <a:solidFill>
                  <a:srgbClr val="C6C6C2"/>
                </a:solidFill>
              </a:defRPr>
            </a:lvl2pPr>
            <a:lvl3pPr algn="l">
              <a:defRPr sz="1575" b="0">
                <a:solidFill>
                  <a:srgbClr val="C6C6C2"/>
                </a:solidFill>
              </a:defRPr>
            </a:lvl3pPr>
            <a:lvl4pPr algn="l">
              <a:defRPr sz="1575" b="0">
                <a:solidFill>
                  <a:srgbClr val="C6C6C2"/>
                </a:solidFill>
              </a:defRPr>
            </a:lvl4pPr>
            <a:lvl5pPr algn="l">
              <a:defRPr sz="1575" b="0">
                <a:solidFill>
                  <a:srgbClr val="C6C6C2"/>
                </a:solidFill>
              </a:defRPr>
            </a:lvl5pPr>
            <a:lvl6pPr algn="l">
              <a:defRPr sz="1575" b="0">
                <a:solidFill>
                  <a:srgbClr val="C6C6C2"/>
                </a:solidFill>
              </a:defRPr>
            </a:lvl6pPr>
            <a:lvl7pPr algn="l">
              <a:defRPr sz="1575" b="0">
                <a:solidFill>
                  <a:srgbClr val="C6C6C2"/>
                </a:solidFill>
              </a:defRPr>
            </a:lvl7pPr>
            <a:lvl8pPr algn="l">
              <a:defRPr sz="1575" b="0">
                <a:solidFill>
                  <a:srgbClr val="C6C6C2"/>
                </a:solidFill>
              </a:defRPr>
            </a:lvl8pPr>
            <a:lvl9pPr algn="l">
              <a:defRPr sz="1575" b="0">
                <a:solidFill>
                  <a:srgbClr val="C6C6C2"/>
                </a:solidFill>
              </a:defRPr>
            </a:lvl9pPr>
          </a:lstStyle>
          <a:p xmlns:a="http://schemas.openxmlformats.org/drawingml/2006/main">
            <a:pPr algn="l">
              <a:defRPr sz="1575" b="0">
                <a:solidFill>
                  <a:srgbClr val="C6C6C2"/>
                </a:solidFill>
              </a:defRPr>
            </a:pPr>
            <a:r>
              <a:rPr sz="1575" b="0">
                <a:solidFill>
                  <a:srgbClr val="C6C6C2"/>
                </a:solidFill>
              </a:rPr>
              <a:t>Small DDoS excerpts; only one benign capture for a holdout</a:t>
            </a:r>
          </a:p>
        </p:txBody>
      </p:sp>
      <p:sp>
        <p:nvSpPr>
          <p:cNvPr id="13" name="">
            <a:extLst xmlns:a="http://schemas.openxmlformats.org/drawingml/2006/main">
              <a:ext uri="{FF2B5EF4-FFF2-40B4-BE49-F238E27FC236}">
                <a16:creationId xmlns:a16="http://schemas.microsoft.com/office/drawing/2014/main" id="{224B34AB-0B86-45CC-8306-BD4F772095F9}"/>
              </a:ext>
            </a:extLst>
          </p:cNvPr>
          <p:cNvSpPr>
            <a:spLocks xmlns:a="http://schemas.openxmlformats.org/drawingml/2006/main" noGrp="1"/>
          </p:cNvSpPr>
          <p:nvPr/>
        </p:nvSpPr>
        <p:spPr>
          <a:xfrm xmlns:a="http://schemas.openxmlformats.org/drawingml/2006/main">
            <a:off x="685800" y="4657725"/>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04</a:t>
            </a:r>
          </a:p>
        </p:txBody>
      </p:sp>
      <p:sp>
        <p:nvSpPr>
          <p:cNvPr id="14" name="">
            <a:extLst xmlns:a="http://schemas.openxmlformats.org/drawingml/2006/main">
              <a:ext uri="{FF2B5EF4-FFF2-40B4-BE49-F238E27FC236}">
                <a16:creationId xmlns:a16="http://schemas.microsoft.com/office/drawing/2014/main" id="{8F8893F9-A2CE-436B-BC0B-75924B359B77}"/>
              </a:ext>
            </a:extLst>
          </p:cNvPr>
          <p:cNvSpPr>
            <a:spLocks xmlns:a="http://schemas.openxmlformats.org/drawingml/2006/main" noGrp="1"/>
          </p:cNvSpPr>
          <p:nvPr/>
        </p:nvSpPr>
        <p:spPr>
          <a:xfrm xmlns:a="http://schemas.openxmlformats.org/drawingml/2006/main">
            <a:off x="1504950" y="465772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Xena PCAPs</a:t>
            </a:r>
          </a:p>
        </p:txBody>
      </p:sp>
      <p:sp>
        <p:nvSpPr>
          <p:cNvPr id="15" name="">
            <a:extLst xmlns:a="http://schemas.openxmlformats.org/drawingml/2006/main">
              <a:ext uri="{FF2B5EF4-FFF2-40B4-BE49-F238E27FC236}">
                <a16:creationId xmlns:a16="http://schemas.microsoft.com/office/drawing/2014/main" id="{CCFF778B-A8AF-443F-899C-E8C4BB344675}"/>
              </a:ext>
            </a:extLst>
          </p:cNvPr>
          <p:cNvSpPr>
            <a:spLocks xmlns:a="http://schemas.openxmlformats.org/drawingml/2006/main" noGrp="1"/>
          </p:cNvSpPr>
          <p:nvPr/>
        </p:nvSpPr>
        <p:spPr>
          <a:xfrm xmlns:a="http://schemas.openxmlformats.org/drawingml/2006/main">
            <a:off x="4953000" y="4676775"/>
            <a:ext cx="61912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C6C6C2"/>
                </a:solidFill>
              </a:defRPr>
            </a:defPPr>
            <a:lvl1pPr algn="l">
              <a:defRPr sz="1575" b="0">
                <a:solidFill>
                  <a:srgbClr val="C6C6C2"/>
                </a:solidFill>
              </a:defRPr>
            </a:lvl1pPr>
            <a:lvl2pPr algn="l">
              <a:defRPr sz="1575" b="0">
                <a:solidFill>
                  <a:srgbClr val="C6C6C2"/>
                </a:solidFill>
              </a:defRPr>
            </a:lvl2pPr>
            <a:lvl3pPr algn="l">
              <a:defRPr sz="1575" b="0">
                <a:solidFill>
                  <a:srgbClr val="C6C6C2"/>
                </a:solidFill>
              </a:defRPr>
            </a:lvl3pPr>
            <a:lvl4pPr algn="l">
              <a:defRPr sz="1575" b="0">
                <a:solidFill>
                  <a:srgbClr val="C6C6C2"/>
                </a:solidFill>
              </a:defRPr>
            </a:lvl4pPr>
            <a:lvl5pPr algn="l">
              <a:defRPr sz="1575" b="0">
                <a:solidFill>
                  <a:srgbClr val="C6C6C2"/>
                </a:solidFill>
              </a:defRPr>
            </a:lvl5pPr>
            <a:lvl6pPr algn="l">
              <a:defRPr sz="1575" b="0">
                <a:solidFill>
                  <a:srgbClr val="C6C6C2"/>
                </a:solidFill>
              </a:defRPr>
            </a:lvl6pPr>
            <a:lvl7pPr algn="l">
              <a:defRPr sz="1575" b="0">
                <a:solidFill>
                  <a:srgbClr val="C6C6C2"/>
                </a:solidFill>
              </a:defRPr>
            </a:lvl7pPr>
            <a:lvl8pPr algn="l">
              <a:defRPr sz="1575" b="0">
                <a:solidFill>
                  <a:srgbClr val="C6C6C2"/>
                </a:solidFill>
              </a:defRPr>
            </a:lvl8pPr>
            <a:lvl9pPr algn="l">
              <a:defRPr sz="1575" b="0">
                <a:solidFill>
                  <a:srgbClr val="C6C6C2"/>
                </a:solidFill>
              </a:defRPr>
            </a:lvl9pPr>
          </a:lstStyle>
          <a:p xmlns:a="http://schemas.openxmlformats.org/drawingml/2006/main">
            <a:pPr algn="l">
              <a:defRPr sz="1575" b="0">
                <a:solidFill>
                  <a:srgbClr val="C6C6C2"/>
                </a:solidFill>
              </a:defRPr>
            </a:pPr>
            <a:r>
              <a:rPr sz="1575" b="0">
                <a:solidFill>
                  <a:srgbClr val="C6C6C2"/>
                </a:solidFill>
              </a:rPr>
              <a:t>25 examples, 98 packets total; no flood benchmark</a:t>
            </a:r>
          </a:p>
        </p:txBody>
      </p:sp>
    </p:spTree>
    <p:extLst>
      <p:ext uri="{BB962C8B-B14F-4D97-AF65-F5344CB8AC3E}">
        <p14:creationId xmlns:p14="http://schemas.microsoft.com/office/powerpoint/2010/main" val="786638696"/>
      </p:ext>
    </p:extLst>
  </p:cSld>
</p:sld>
</file>

<file path=ppt/slides/slide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1FCCC56-082B-447E-B701-E452F029DBCA}"/>
              </a:ext>
            </a:extLst>
          </p:cNvPr>
          <p:cNvSpPr>
            <a:spLocks xmlns:a="http://schemas.openxmlformats.org/drawingml/2006/main" noGrp="1"/>
          </p:cNvSpPr>
          <p:nvPr/>
        </p:nvSpPr>
        <p:spPr>
          <a:xfrm xmlns:a="http://schemas.openxmlformats.org/drawingml/2006/main">
            <a:off x="685800" y="4381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DE5A1D"/>
                </a:solidFill>
              </a:defRPr>
            </a:defPPr>
            <a:lvl1pPr algn="l">
              <a:defRPr sz="1200" b="1">
                <a:solidFill>
                  <a:srgbClr val="DE5A1D"/>
                </a:solidFill>
              </a:defRPr>
            </a:lvl1pPr>
            <a:lvl2pPr algn="l">
              <a:defRPr sz="1200" b="1">
                <a:solidFill>
                  <a:srgbClr val="DE5A1D"/>
                </a:solidFill>
              </a:defRPr>
            </a:lvl2pPr>
            <a:lvl3pPr algn="l">
              <a:defRPr sz="1200" b="1">
                <a:solidFill>
                  <a:srgbClr val="DE5A1D"/>
                </a:solidFill>
              </a:defRPr>
            </a:lvl3pPr>
            <a:lvl4pPr algn="l">
              <a:defRPr sz="1200" b="1">
                <a:solidFill>
                  <a:srgbClr val="DE5A1D"/>
                </a:solidFill>
              </a:defRPr>
            </a:lvl4pPr>
            <a:lvl5pPr algn="l">
              <a:defRPr sz="1200" b="1">
                <a:solidFill>
                  <a:srgbClr val="DE5A1D"/>
                </a:solidFill>
              </a:defRPr>
            </a:lvl5pPr>
            <a:lvl6pPr algn="l">
              <a:defRPr sz="1200" b="1">
                <a:solidFill>
                  <a:srgbClr val="DE5A1D"/>
                </a:solidFill>
              </a:defRPr>
            </a:lvl6pPr>
            <a:lvl7pPr algn="l">
              <a:defRPr sz="1200" b="1">
                <a:solidFill>
                  <a:srgbClr val="DE5A1D"/>
                </a:solidFill>
              </a:defRPr>
            </a:lvl7pPr>
            <a:lvl8pPr algn="l">
              <a:defRPr sz="1200" b="1">
                <a:solidFill>
                  <a:srgbClr val="DE5A1D"/>
                </a:solidFill>
              </a:defRPr>
            </a:lvl8pPr>
            <a:lvl9pPr algn="l">
              <a:defRPr sz="1200" b="1">
                <a:solidFill>
                  <a:srgbClr val="DE5A1D"/>
                </a:solidFill>
              </a:defRPr>
            </a:lvl9pPr>
          </a:lstStyle>
          <a:p xmlns:a="http://schemas.openxmlformats.org/drawingml/2006/main">
            <a:pPr algn="l">
              <a:defRPr sz="1200" b="1">
                <a:solidFill>
                  <a:srgbClr val="DE5A1D"/>
                </a:solidFill>
              </a:defRPr>
            </a:pPr>
            <a:r>
              <a:rPr sz="1200" b="1">
                <a:solidFill>
                  <a:srgbClr val="DE5A1D"/>
                </a:solidFill>
              </a:rPr>
              <a:t>EVALUATION METHOD</a:t>
            </a:r>
          </a:p>
        </p:txBody>
      </p:sp>
      <p:sp>
        <p:nvSpPr>
          <p:cNvPr id="2" name="">
            <a:extLst xmlns:a="http://schemas.openxmlformats.org/drawingml/2006/main">
              <a:ext uri="{FF2B5EF4-FFF2-40B4-BE49-F238E27FC236}">
                <a16:creationId xmlns:a16="http://schemas.microsoft.com/office/drawing/2014/main" id="{2D1615DB-0DD3-4C2E-A8CD-93E14D05F77A}"/>
              </a:ext>
            </a:extLst>
          </p:cNvPr>
          <p:cNvSpPr>
            <a:spLocks xmlns:a="http://schemas.openxmlformats.org/drawingml/2006/main" noGrp="1"/>
          </p:cNvSpPr>
          <p:nvPr/>
        </p:nvSpPr>
        <p:spPr>
          <a:xfrm xmlns:a="http://schemas.openxmlformats.org/drawingml/2006/main">
            <a:off x="685800" y="8953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F7F7F5"/>
                </a:solidFill>
              </a:defRPr>
            </a:defPPr>
            <a:lvl1pPr algn="l">
              <a:defRPr sz="3000" b="1">
                <a:solidFill>
                  <a:srgbClr val="F7F7F5"/>
                </a:solidFill>
              </a:defRPr>
            </a:lvl1pPr>
            <a:lvl2pPr algn="l">
              <a:defRPr sz="3000" b="1">
                <a:solidFill>
                  <a:srgbClr val="F7F7F5"/>
                </a:solidFill>
              </a:defRPr>
            </a:lvl2pPr>
            <a:lvl3pPr algn="l">
              <a:defRPr sz="3000" b="1">
                <a:solidFill>
                  <a:srgbClr val="F7F7F5"/>
                </a:solidFill>
              </a:defRPr>
            </a:lvl3pPr>
            <a:lvl4pPr algn="l">
              <a:defRPr sz="3000" b="1">
                <a:solidFill>
                  <a:srgbClr val="F7F7F5"/>
                </a:solidFill>
              </a:defRPr>
            </a:lvl4pPr>
            <a:lvl5pPr algn="l">
              <a:defRPr sz="3000" b="1">
                <a:solidFill>
                  <a:srgbClr val="F7F7F5"/>
                </a:solidFill>
              </a:defRPr>
            </a:lvl5pPr>
            <a:lvl6pPr algn="l">
              <a:defRPr sz="3000" b="1">
                <a:solidFill>
                  <a:srgbClr val="F7F7F5"/>
                </a:solidFill>
              </a:defRPr>
            </a:lvl6pPr>
            <a:lvl7pPr algn="l">
              <a:defRPr sz="3000" b="1">
                <a:solidFill>
                  <a:srgbClr val="F7F7F5"/>
                </a:solidFill>
              </a:defRPr>
            </a:lvl7pPr>
            <a:lvl8pPr algn="l">
              <a:defRPr sz="3000" b="1">
                <a:solidFill>
                  <a:srgbClr val="F7F7F5"/>
                </a:solidFill>
              </a:defRPr>
            </a:lvl8pPr>
            <a:lvl9pPr algn="l">
              <a:defRPr sz="3000" b="1">
                <a:solidFill>
                  <a:srgbClr val="F7F7F5"/>
                </a:solidFill>
              </a:defRPr>
            </a:lvl9pPr>
          </a:lstStyle>
          <a:p xmlns:a="http://schemas.openxmlformats.org/drawingml/2006/main">
            <a:pPr algn="l">
              <a:defRPr sz="3000" b="1">
                <a:solidFill>
                  <a:srgbClr val="F7F7F5"/>
                </a:solidFill>
              </a:defRPr>
            </a:pPr>
            <a:r>
              <a:rPr sz="3000" b="1">
                <a:solidFill>
                  <a:srgbClr val="F7F7F5"/>
                </a:solidFill>
              </a:rPr>
              <a:t>How we avoid misleading scores</a:t>
            </a:r>
          </a:p>
        </p:txBody>
      </p:sp>
      <p:sp>
        <p:nvSpPr>
          <p:cNvPr id="3" name="">
            <a:extLst xmlns:a="http://schemas.openxmlformats.org/drawingml/2006/main">
              <a:ext uri="{FF2B5EF4-FFF2-40B4-BE49-F238E27FC236}">
                <a16:creationId xmlns:a16="http://schemas.microsoft.com/office/drawing/2014/main" id="{450FDBFC-2174-456B-A403-FE4E3CBBBC89}"/>
              </a:ext>
            </a:extLst>
          </p:cNvPr>
          <p:cNvSpPr>
            <a:spLocks xmlns:a="http://schemas.openxmlformats.org/drawingml/2006/main" noGrp="1"/>
          </p:cNvSpPr>
          <p:nvPr/>
        </p:nvSpPr>
        <p:spPr>
          <a:xfrm xmlns:a="http://schemas.openxmlformats.org/drawingml/2006/main">
            <a:off x="11049000" y="5334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0">
                <a:solidFill>
                  <a:srgbClr val="8C8C88"/>
                </a:solidFill>
              </a:defRPr>
            </a:defPPr>
            <a:lvl1pPr algn="r">
              <a:defRPr sz="1050" b="0">
                <a:solidFill>
                  <a:srgbClr val="8C8C88"/>
                </a:solidFill>
              </a:defRPr>
            </a:lvl1pPr>
            <a:lvl2pPr algn="r">
              <a:defRPr sz="1050" b="0">
                <a:solidFill>
                  <a:srgbClr val="8C8C88"/>
                </a:solidFill>
              </a:defRPr>
            </a:lvl2pPr>
            <a:lvl3pPr algn="r">
              <a:defRPr sz="1050" b="0">
                <a:solidFill>
                  <a:srgbClr val="8C8C88"/>
                </a:solidFill>
              </a:defRPr>
            </a:lvl3pPr>
            <a:lvl4pPr algn="r">
              <a:defRPr sz="1050" b="0">
                <a:solidFill>
                  <a:srgbClr val="8C8C88"/>
                </a:solidFill>
              </a:defRPr>
            </a:lvl4pPr>
            <a:lvl5pPr algn="r">
              <a:defRPr sz="1050" b="0">
                <a:solidFill>
                  <a:srgbClr val="8C8C88"/>
                </a:solidFill>
              </a:defRPr>
            </a:lvl5pPr>
            <a:lvl6pPr algn="r">
              <a:defRPr sz="1050" b="0">
                <a:solidFill>
                  <a:srgbClr val="8C8C88"/>
                </a:solidFill>
              </a:defRPr>
            </a:lvl6pPr>
            <a:lvl7pPr algn="r">
              <a:defRPr sz="1050" b="0">
                <a:solidFill>
                  <a:srgbClr val="8C8C88"/>
                </a:solidFill>
              </a:defRPr>
            </a:lvl7pPr>
            <a:lvl8pPr algn="r">
              <a:defRPr sz="1050" b="0">
                <a:solidFill>
                  <a:srgbClr val="8C8C88"/>
                </a:solidFill>
              </a:defRPr>
            </a:lvl8pPr>
            <a:lvl9pPr algn="r">
              <a:defRPr sz="1050" b="0">
                <a:solidFill>
                  <a:srgbClr val="8C8C88"/>
                </a:solidFill>
              </a:defRPr>
            </a:lvl9pPr>
          </a:lstStyle>
          <a:p xmlns:a="http://schemas.openxmlformats.org/drawingml/2006/main">
            <a:pPr algn="r">
              <a:defRPr sz="1050" b="0">
                <a:solidFill>
                  <a:srgbClr val="8C8C88"/>
                </a:solidFill>
              </a:defRPr>
            </a:pPr>
            <a:r>
              <a:rPr sz="1050" b="0">
                <a:solidFill>
                  <a:srgbClr val="8C8C88"/>
                </a:solidFill>
              </a:rPr>
              <a:t>08</a:t>
            </a:r>
          </a:p>
        </p:txBody>
      </p:sp>
      <p:sp>
        <p:nvSpPr>
          <p:cNvPr id="4" name="">
            <a:extLst xmlns:a="http://schemas.openxmlformats.org/drawingml/2006/main">
              <a:ext uri="{FF2B5EF4-FFF2-40B4-BE49-F238E27FC236}">
                <a16:creationId xmlns:a16="http://schemas.microsoft.com/office/drawing/2014/main" id="{6DBAF695-A020-4EC0-AED3-A5FAC14DF90A}"/>
              </a:ext>
            </a:extLst>
          </p:cNvPr>
          <p:cNvSpPr>
            <a:spLocks xmlns:a="http://schemas.openxmlformats.org/drawingml/2006/main" noGrp="1"/>
          </p:cNvSpPr>
          <p:nvPr/>
        </p:nvSpPr>
        <p:spPr>
          <a:xfrm xmlns:a="http://schemas.openxmlformats.org/drawingml/2006/main">
            <a:off x="685800" y="2009775"/>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01</a:t>
            </a:r>
          </a:p>
        </p:txBody>
      </p:sp>
      <p:sp>
        <p:nvSpPr>
          <p:cNvPr id="5" name="">
            <a:extLst xmlns:a="http://schemas.openxmlformats.org/drawingml/2006/main">
              <a:ext uri="{FF2B5EF4-FFF2-40B4-BE49-F238E27FC236}">
                <a16:creationId xmlns:a16="http://schemas.microsoft.com/office/drawing/2014/main" id="{F1BEA555-C505-4BD3-945F-4D985D2CAAA7}"/>
              </a:ext>
            </a:extLst>
          </p:cNvPr>
          <p:cNvSpPr>
            <a:spLocks xmlns:a="http://schemas.openxmlformats.org/drawingml/2006/main" noGrp="1"/>
          </p:cNvSpPr>
          <p:nvPr/>
        </p:nvSpPr>
        <p:spPr>
          <a:xfrm xmlns:a="http://schemas.openxmlformats.org/drawingml/2006/main">
            <a:off x="1504950" y="200977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External data</a:t>
            </a:r>
          </a:p>
        </p:txBody>
      </p:sp>
      <p:sp>
        <p:nvSpPr>
          <p:cNvPr id="6" name="">
            <a:extLst xmlns:a="http://schemas.openxmlformats.org/drawingml/2006/main">
              <a:ext uri="{FF2B5EF4-FFF2-40B4-BE49-F238E27FC236}">
                <a16:creationId xmlns:a16="http://schemas.microsoft.com/office/drawing/2014/main" id="{C107DF63-F34E-4EC6-A659-784C84ED782C}"/>
              </a:ext>
            </a:extLst>
          </p:cNvPr>
          <p:cNvSpPr>
            <a:spLocks xmlns:a="http://schemas.openxmlformats.org/drawingml/2006/main" noGrp="1"/>
          </p:cNvSpPr>
          <p:nvPr/>
        </p:nvSpPr>
        <p:spPr>
          <a:xfrm xmlns:a="http://schemas.openxmlformats.org/drawingml/2006/main">
            <a:off x="4953000" y="2028825"/>
            <a:ext cx="619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C6C6C2"/>
                </a:solidFill>
              </a:defRPr>
            </a:defPPr>
            <a:lvl1pPr algn="l">
              <a:defRPr sz="1575" b="0">
                <a:solidFill>
                  <a:srgbClr val="C6C6C2"/>
                </a:solidFill>
              </a:defRPr>
            </a:lvl1pPr>
            <a:lvl2pPr algn="l">
              <a:defRPr sz="1575" b="0">
                <a:solidFill>
                  <a:srgbClr val="C6C6C2"/>
                </a:solidFill>
              </a:defRPr>
            </a:lvl2pPr>
            <a:lvl3pPr algn="l">
              <a:defRPr sz="1575" b="0">
                <a:solidFill>
                  <a:srgbClr val="C6C6C2"/>
                </a:solidFill>
              </a:defRPr>
            </a:lvl3pPr>
            <a:lvl4pPr algn="l">
              <a:defRPr sz="1575" b="0">
                <a:solidFill>
                  <a:srgbClr val="C6C6C2"/>
                </a:solidFill>
              </a:defRPr>
            </a:lvl4pPr>
            <a:lvl5pPr algn="l">
              <a:defRPr sz="1575" b="0">
                <a:solidFill>
                  <a:srgbClr val="C6C6C2"/>
                </a:solidFill>
              </a:defRPr>
            </a:lvl5pPr>
            <a:lvl6pPr algn="l">
              <a:defRPr sz="1575" b="0">
                <a:solidFill>
                  <a:srgbClr val="C6C6C2"/>
                </a:solidFill>
              </a:defRPr>
            </a:lvl6pPr>
            <a:lvl7pPr algn="l">
              <a:defRPr sz="1575" b="0">
                <a:solidFill>
                  <a:srgbClr val="C6C6C2"/>
                </a:solidFill>
              </a:defRPr>
            </a:lvl7pPr>
            <a:lvl8pPr algn="l">
              <a:defRPr sz="1575" b="0">
                <a:solidFill>
                  <a:srgbClr val="C6C6C2"/>
                </a:solidFill>
              </a:defRPr>
            </a:lvl8pPr>
            <a:lvl9pPr algn="l">
              <a:defRPr sz="1575" b="0">
                <a:solidFill>
                  <a:srgbClr val="C6C6C2"/>
                </a:solidFill>
              </a:defRPr>
            </a:lvl9pPr>
          </a:lstStyle>
          <a:p xmlns:a="http://schemas.openxmlformats.org/drawingml/2006/main">
            <a:pPr algn="l">
              <a:defRPr sz="1575" b="0">
                <a:solidFill>
                  <a:srgbClr val="C6C6C2"/>
                </a:solidFill>
              </a:defRPr>
            </a:pPr>
            <a:r>
              <a:rPr sz="1575" b="0">
                <a:solidFill>
                  <a:srgbClr val="C6C6C2"/>
                </a:solidFill>
              </a:rPr>
              <a:t>Train on CIC-DDoS2019 flows; evaluate on Friday CIC-IDS2017 flows</a:t>
            </a:r>
          </a:p>
        </p:txBody>
      </p:sp>
      <p:sp>
        <p:nvSpPr>
          <p:cNvPr id="7" name="">
            <a:extLst xmlns:a="http://schemas.openxmlformats.org/drawingml/2006/main">
              <a:ext uri="{FF2B5EF4-FFF2-40B4-BE49-F238E27FC236}">
                <a16:creationId xmlns:a16="http://schemas.microsoft.com/office/drawing/2014/main" id="{F3C36A0C-15C5-426F-854A-96B4B1D4B179}"/>
              </a:ext>
            </a:extLst>
          </p:cNvPr>
          <p:cNvSpPr>
            <a:spLocks xmlns:a="http://schemas.openxmlformats.org/drawingml/2006/main" noGrp="1"/>
          </p:cNvSpPr>
          <p:nvPr/>
        </p:nvSpPr>
        <p:spPr>
          <a:xfrm xmlns:a="http://schemas.openxmlformats.org/drawingml/2006/main">
            <a:off x="685800" y="3124200"/>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02</a:t>
            </a:r>
          </a:p>
        </p:txBody>
      </p:sp>
      <p:sp>
        <p:nvSpPr>
          <p:cNvPr id="8" name="">
            <a:extLst xmlns:a="http://schemas.openxmlformats.org/drawingml/2006/main">
              <a:ext uri="{FF2B5EF4-FFF2-40B4-BE49-F238E27FC236}">
                <a16:creationId xmlns:a16="http://schemas.microsoft.com/office/drawing/2014/main" id="{2473C4BE-5DEC-4CD8-A707-64DF144F2E9C}"/>
              </a:ext>
            </a:extLst>
          </p:cNvPr>
          <p:cNvSpPr>
            <a:spLocks xmlns:a="http://schemas.openxmlformats.org/drawingml/2006/main" noGrp="1"/>
          </p:cNvSpPr>
          <p:nvPr/>
        </p:nvSpPr>
        <p:spPr>
          <a:xfrm xmlns:a="http://schemas.openxmlformats.org/drawingml/2006/main">
            <a:off x="1504950" y="31242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Second check</a:t>
            </a:r>
          </a:p>
        </p:txBody>
      </p:sp>
      <p:sp>
        <p:nvSpPr>
          <p:cNvPr id="9" name="">
            <a:extLst xmlns:a="http://schemas.openxmlformats.org/drawingml/2006/main">
              <a:ext uri="{FF2B5EF4-FFF2-40B4-BE49-F238E27FC236}">
                <a16:creationId xmlns:a16="http://schemas.microsoft.com/office/drawing/2014/main" id="{5D67EE45-111D-4C31-A8A2-E9ECADC7ACDA}"/>
              </a:ext>
            </a:extLst>
          </p:cNvPr>
          <p:cNvSpPr>
            <a:spLocks xmlns:a="http://schemas.openxmlformats.org/drawingml/2006/main" noGrp="1"/>
          </p:cNvSpPr>
          <p:nvPr/>
        </p:nvSpPr>
        <p:spPr>
          <a:xfrm xmlns:a="http://schemas.openxmlformats.org/drawingml/2006/main">
            <a:off x="4953000" y="3143250"/>
            <a:ext cx="619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C6C6C2"/>
                </a:solidFill>
              </a:defRPr>
            </a:defPPr>
            <a:lvl1pPr algn="l">
              <a:defRPr sz="1575" b="0">
                <a:solidFill>
                  <a:srgbClr val="C6C6C2"/>
                </a:solidFill>
              </a:defRPr>
            </a:lvl1pPr>
            <a:lvl2pPr algn="l">
              <a:defRPr sz="1575" b="0">
                <a:solidFill>
                  <a:srgbClr val="C6C6C2"/>
                </a:solidFill>
              </a:defRPr>
            </a:lvl2pPr>
            <a:lvl3pPr algn="l">
              <a:defRPr sz="1575" b="0">
                <a:solidFill>
                  <a:srgbClr val="C6C6C2"/>
                </a:solidFill>
              </a:defRPr>
            </a:lvl3pPr>
            <a:lvl4pPr algn="l">
              <a:defRPr sz="1575" b="0">
                <a:solidFill>
                  <a:srgbClr val="C6C6C2"/>
                </a:solidFill>
              </a:defRPr>
            </a:lvl4pPr>
            <a:lvl5pPr algn="l">
              <a:defRPr sz="1575" b="0">
                <a:solidFill>
                  <a:srgbClr val="C6C6C2"/>
                </a:solidFill>
              </a:defRPr>
            </a:lvl5pPr>
            <a:lvl6pPr algn="l">
              <a:defRPr sz="1575" b="0">
                <a:solidFill>
                  <a:srgbClr val="C6C6C2"/>
                </a:solidFill>
              </a:defRPr>
            </a:lvl6pPr>
            <a:lvl7pPr algn="l">
              <a:defRPr sz="1575" b="0">
                <a:solidFill>
                  <a:srgbClr val="C6C6C2"/>
                </a:solidFill>
              </a:defRPr>
            </a:lvl7pPr>
            <a:lvl8pPr algn="l">
              <a:defRPr sz="1575" b="0">
                <a:solidFill>
                  <a:srgbClr val="C6C6C2"/>
                </a:solidFill>
              </a:defRPr>
            </a:lvl8pPr>
            <a:lvl9pPr algn="l">
              <a:defRPr sz="1575" b="0">
                <a:solidFill>
                  <a:srgbClr val="C6C6C2"/>
                </a:solidFill>
              </a:defRPr>
            </a:lvl9pPr>
          </a:lstStyle>
          <a:p xmlns:a="http://schemas.openxmlformats.org/drawingml/2006/main">
            <a:pPr algn="l">
              <a:defRPr sz="1575" b="0">
                <a:solidFill>
                  <a:srgbClr val="C6C6C2"/>
                </a:solidFill>
              </a:defRPr>
            </a:pPr>
            <a:r>
              <a:rPr sz="1575" b="0">
                <a:solidFill>
                  <a:srgbClr val="C6C6C2"/>
                </a:solidFill>
              </a:rPr>
              <a:t>Train with both earlier flow sources; evaluate once on a 2018 file</a:t>
            </a:r>
          </a:p>
        </p:txBody>
      </p:sp>
      <p:sp>
        <p:nvSpPr>
          <p:cNvPr id="10" name="">
            <a:extLst xmlns:a="http://schemas.openxmlformats.org/drawingml/2006/main">
              <a:ext uri="{FF2B5EF4-FFF2-40B4-BE49-F238E27FC236}">
                <a16:creationId xmlns:a16="http://schemas.microsoft.com/office/drawing/2014/main" id="{8AA67A1E-C919-4620-ABDB-8101723D51B7}"/>
              </a:ext>
            </a:extLst>
          </p:cNvPr>
          <p:cNvSpPr>
            <a:spLocks xmlns:a="http://schemas.openxmlformats.org/drawingml/2006/main" noGrp="1"/>
          </p:cNvSpPr>
          <p:nvPr/>
        </p:nvSpPr>
        <p:spPr>
          <a:xfrm xmlns:a="http://schemas.openxmlformats.org/drawingml/2006/main">
            <a:off x="685800" y="4238625"/>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03</a:t>
            </a:r>
          </a:p>
        </p:txBody>
      </p:sp>
      <p:sp>
        <p:nvSpPr>
          <p:cNvPr id="11" name="">
            <a:extLst xmlns:a="http://schemas.openxmlformats.org/drawingml/2006/main">
              <a:ext uri="{FF2B5EF4-FFF2-40B4-BE49-F238E27FC236}">
                <a16:creationId xmlns:a16="http://schemas.microsoft.com/office/drawing/2014/main" id="{0C1AEE51-666A-4E3A-A922-9E503924648C}"/>
              </a:ext>
            </a:extLst>
          </p:cNvPr>
          <p:cNvSpPr>
            <a:spLocks xmlns:a="http://schemas.openxmlformats.org/drawingml/2006/main" noGrp="1"/>
          </p:cNvSpPr>
          <p:nvPr/>
        </p:nvSpPr>
        <p:spPr>
          <a:xfrm xmlns:a="http://schemas.openxmlformats.org/drawingml/2006/main">
            <a:off x="1504950" y="423862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Capture holdout</a:t>
            </a:r>
          </a:p>
        </p:txBody>
      </p:sp>
      <p:sp>
        <p:nvSpPr>
          <p:cNvPr id="12" name="">
            <a:extLst xmlns:a="http://schemas.openxmlformats.org/drawingml/2006/main">
              <a:ext uri="{FF2B5EF4-FFF2-40B4-BE49-F238E27FC236}">
                <a16:creationId xmlns:a16="http://schemas.microsoft.com/office/drawing/2014/main" id="{C34356C8-EF58-4F1C-8EAE-49322CB12AD8}"/>
              </a:ext>
            </a:extLst>
          </p:cNvPr>
          <p:cNvSpPr>
            <a:spLocks xmlns:a="http://schemas.openxmlformats.org/drawingml/2006/main" noGrp="1"/>
          </p:cNvSpPr>
          <p:nvPr/>
        </p:nvSpPr>
        <p:spPr>
          <a:xfrm xmlns:a="http://schemas.openxmlformats.org/drawingml/2006/main">
            <a:off x="4953000" y="4257675"/>
            <a:ext cx="619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a:solidFill>
                  <a:srgbClr val="C6C6C2"/>
                </a:solidFill>
              </a:defRPr>
            </a:defPPr>
            <a:lvl1pPr algn="l">
              <a:defRPr sz="1575" b="0">
                <a:solidFill>
                  <a:srgbClr val="C6C6C2"/>
                </a:solidFill>
              </a:defRPr>
            </a:lvl1pPr>
            <a:lvl2pPr algn="l">
              <a:defRPr sz="1575" b="0">
                <a:solidFill>
                  <a:srgbClr val="C6C6C2"/>
                </a:solidFill>
              </a:defRPr>
            </a:lvl2pPr>
            <a:lvl3pPr algn="l">
              <a:defRPr sz="1575" b="0">
                <a:solidFill>
                  <a:srgbClr val="C6C6C2"/>
                </a:solidFill>
              </a:defRPr>
            </a:lvl3pPr>
            <a:lvl4pPr algn="l">
              <a:defRPr sz="1575" b="0">
                <a:solidFill>
                  <a:srgbClr val="C6C6C2"/>
                </a:solidFill>
              </a:defRPr>
            </a:lvl4pPr>
            <a:lvl5pPr algn="l">
              <a:defRPr sz="1575" b="0">
                <a:solidFill>
                  <a:srgbClr val="C6C6C2"/>
                </a:solidFill>
              </a:defRPr>
            </a:lvl5pPr>
            <a:lvl6pPr algn="l">
              <a:defRPr sz="1575" b="0">
                <a:solidFill>
                  <a:srgbClr val="C6C6C2"/>
                </a:solidFill>
              </a:defRPr>
            </a:lvl6pPr>
            <a:lvl7pPr algn="l">
              <a:defRPr sz="1575" b="0">
                <a:solidFill>
                  <a:srgbClr val="C6C6C2"/>
                </a:solidFill>
              </a:defRPr>
            </a:lvl7pPr>
            <a:lvl8pPr algn="l">
              <a:defRPr sz="1575" b="0">
                <a:solidFill>
                  <a:srgbClr val="C6C6C2"/>
                </a:solidFill>
              </a:defRPr>
            </a:lvl8pPr>
            <a:lvl9pPr algn="l">
              <a:defRPr sz="1575" b="0">
                <a:solidFill>
                  <a:srgbClr val="C6C6C2"/>
                </a:solidFill>
              </a:defRPr>
            </a:lvl9pPr>
          </a:lstStyle>
          <a:p xmlns:a="http://schemas.openxmlformats.org/drawingml/2006/main">
            <a:pPr algn="l">
              <a:defRPr sz="1575" b="0">
                <a:solidFill>
                  <a:srgbClr val="C6C6C2"/>
                </a:solidFill>
              </a:defRPr>
            </a:pPr>
            <a:r>
              <a:rPr sz="1575" b="0">
                <a:solidFill>
                  <a:srgbClr val="C6C6C2"/>
                </a:solidFill>
              </a:rPr>
              <a:t>Keep all windows from a capture together; current PCAP samples lack a second benign capture</a:t>
            </a:r>
          </a:p>
        </p:txBody>
      </p:sp>
      <p:sp>
        <p:nvSpPr>
          <p:cNvPr id="13" name="">
            <a:extLst xmlns:a="http://schemas.openxmlformats.org/drawingml/2006/main">
              <a:ext uri="{FF2B5EF4-FFF2-40B4-BE49-F238E27FC236}">
                <a16:creationId xmlns:a16="http://schemas.microsoft.com/office/drawing/2014/main" id="{B0111773-4080-4D9C-9CB5-C80AC2902F6C}"/>
              </a:ext>
            </a:extLst>
          </p:cNvPr>
          <p:cNvSpPr>
            <a:spLocks xmlns:a="http://schemas.openxmlformats.org/drawingml/2006/main" noGrp="1"/>
          </p:cNvSpPr>
          <p:nvPr/>
        </p:nvSpPr>
        <p:spPr>
          <a:xfrm xmlns:a="http://schemas.openxmlformats.org/drawingml/2006/main">
            <a:off x="704850" y="5962650"/>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DE5A1D"/>
                </a:solidFill>
              </a:defRPr>
            </a:defPPr>
            <a:lvl1pPr algn="l">
              <a:defRPr sz="1650" b="1">
                <a:solidFill>
                  <a:srgbClr val="DE5A1D"/>
                </a:solidFill>
              </a:defRPr>
            </a:lvl1pPr>
            <a:lvl2pPr algn="l">
              <a:defRPr sz="1650" b="1">
                <a:solidFill>
                  <a:srgbClr val="DE5A1D"/>
                </a:solidFill>
              </a:defRPr>
            </a:lvl2pPr>
            <a:lvl3pPr algn="l">
              <a:defRPr sz="1650" b="1">
                <a:solidFill>
                  <a:srgbClr val="DE5A1D"/>
                </a:solidFill>
              </a:defRPr>
            </a:lvl3pPr>
            <a:lvl4pPr algn="l">
              <a:defRPr sz="1650" b="1">
                <a:solidFill>
                  <a:srgbClr val="DE5A1D"/>
                </a:solidFill>
              </a:defRPr>
            </a:lvl4pPr>
            <a:lvl5pPr algn="l">
              <a:defRPr sz="1650" b="1">
                <a:solidFill>
                  <a:srgbClr val="DE5A1D"/>
                </a:solidFill>
              </a:defRPr>
            </a:lvl5pPr>
            <a:lvl6pPr algn="l">
              <a:defRPr sz="1650" b="1">
                <a:solidFill>
                  <a:srgbClr val="DE5A1D"/>
                </a:solidFill>
              </a:defRPr>
            </a:lvl6pPr>
            <a:lvl7pPr algn="l">
              <a:defRPr sz="1650" b="1">
                <a:solidFill>
                  <a:srgbClr val="DE5A1D"/>
                </a:solidFill>
              </a:defRPr>
            </a:lvl7pPr>
            <a:lvl8pPr algn="l">
              <a:defRPr sz="1650" b="1">
                <a:solidFill>
                  <a:srgbClr val="DE5A1D"/>
                </a:solidFill>
              </a:defRPr>
            </a:lvl8pPr>
            <a:lvl9pPr algn="l">
              <a:defRPr sz="1650" b="1">
                <a:solidFill>
                  <a:srgbClr val="DE5A1D"/>
                </a:solidFill>
              </a:defRPr>
            </a:lvl9pPr>
          </a:lstStyle>
          <a:p xmlns:a="http://schemas.openxmlformats.org/drawingml/2006/main">
            <a:pPr algn="l">
              <a:defRPr sz="1650" b="1">
                <a:solidFill>
                  <a:srgbClr val="DE5A1D"/>
                </a:solidFill>
              </a:defRPr>
            </a:pPr>
            <a:r>
              <a:rPr sz="1650" b="1">
                <a:solidFill>
                  <a:srgbClr val="DE5A1D"/>
                </a:solidFill>
              </a:rPr>
              <a:t>Randomly mixing nearby windows can overstate performance.</a:t>
            </a:r>
          </a:p>
        </p:txBody>
      </p:sp>
    </p:spTree>
    <p:extLst>
      <p:ext uri="{BB962C8B-B14F-4D97-AF65-F5344CB8AC3E}">
        <p14:creationId xmlns:p14="http://schemas.microsoft.com/office/powerpoint/2010/main" val="557319552"/>
      </p:ext>
    </p:extLst>
  </p:cSld>
</p:sld>
</file>

<file path=ppt/slides/slide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4CE746-EAC7-4DE8-89F2-0E247E5C111E}"/>
              </a:ext>
            </a:extLst>
          </p:cNvPr>
          <p:cNvSpPr>
            <a:spLocks xmlns:a="http://schemas.openxmlformats.org/drawingml/2006/main" noGrp="1"/>
          </p:cNvSpPr>
          <p:nvPr/>
        </p:nvSpPr>
        <p:spPr>
          <a:xfrm xmlns:a="http://schemas.openxmlformats.org/drawingml/2006/main">
            <a:off x="685800" y="4381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DE5A1D"/>
                </a:solidFill>
              </a:defRPr>
            </a:defPPr>
            <a:lvl1pPr algn="l">
              <a:defRPr sz="1200" b="1">
                <a:solidFill>
                  <a:srgbClr val="DE5A1D"/>
                </a:solidFill>
              </a:defRPr>
            </a:lvl1pPr>
            <a:lvl2pPr algn="l">
              <a:defRPr sz="1200" b="1">
                <a:solidFill>
                  <a:srgbClr val="DE5A1D"/>
                </a:solidFill>
              </a:defRPr>
            </a:lvl2pPr>
            <a:lvl3pPr algn="l">
              <a:defRPr sz="1200" b="1">
                <a:solidFill>
                  <a:srgbClr val="DE5A1D"/>
                </a:solidFill>
              </a:defRPr>
            </a:lvl3pPr>
            <a:lvl4pPr algn="l">
              <a:defRPr sz="1200" b="1">
                <a:solidFill>
                  <a:srgbClr val="DE5A1D"/>
                </a:solidFill>
              </a:defRPr>
            </a:lvl4pPr>
            <a:lvl5pPr algn="l">
              <a:defRPr sz="1200" b="1">
                <a:solidFill>
                  <a:srgbClr val="DE5A1D"/>
                </a:solidFill>
              </a:defRPr>
            </a:lvl5pPr>
            <a:lvl6pPr algn="l">
              <a:defRPr sz="1200" b="1">
                <a:solidFill>
                  <a:srgbClr val="DE5A1D"/>
                </a:solidFill>
              </a:defRPr>
            </a:lvl6pPr>
            <a:lvl7pPr algn="l">
              <a:defRPr sz="1200" b="1">
                <a:solidFill>
                  <a:srgbClr val="DE5A1D"/>
                </a:solidFill>
              </a:defRPr>
            </a:lvl7pPr>
            <a:lvl8pPr algn="l">
              <a:defRPr sz="1200" b="1">
                <a:solidFill>
                  <a:srgbClr val="DE5A1D"/>
                </a:solidFill>
              </a:defRPr>
            </a:lvl8pPr>
            <a:lvl9pPr algn="l">
              <a:defRPr sz="1200" b="1">
                <a:solidFill>
                  <a:srgbClr val="DE5A1D"/>
                </a:solidFill>
              </a:defRPr>
            </a:lvl9pPr>
          </a:lstStyle>
          <a:p xmlns:a="http://schemas.openxmlformats.org/drawingml/2006/main">
            <a:pPr algn="l">
              <a:defRPr sz="1200" b="1">
                <a:solidFill>
                  <a:srgbClr val="DE5A1D"/>
                </a:solidFill>
              </a:defRPr>
            </a:pPr>
            <a:r>
              <a:rPr sz="1200" b="1">
                <a:solidFill>
                  <a:srgbClr val="DE5A1D"/>
                </a:solidFill>
              </a:rPr>
              <a:t>EVALUATION</a:t>
            </a:r>
          </a:p>
        </p:txBody>
      </p:sp>
      <p:sp>
        <p:nvSpPr>
          <p:cNvPr id="2" name="">
            <a:extLst xmlns:a="http://schemas.openxmlformats.org/drawingml/2006/main">
              <a:ext uri="{FF2B5EF4-FFF2-40B4-BE49-F238E27FC236}">
                <a16:creationId xmlns:a16="http://schemas.microsoft.com/office/drawing/2014/main" id="{838875E9-9B9D-4EED-9A18-C2EBBE4AF5F5}"/>
              </a:ext>
            </a:extLst>
          </p:cNvPr>
          <p:cNvSpPr>
            <a:spLocks xmlns:a="http://schemas.openxmlformats.org/drawingml/2006/main" noGrp="1"/>
          </p:cNvSpPr>
          <p:nvPr/>
        </p:nvSpPr>
        <p:spPr>
          <a:xfrm xmlns:a="http://schemas.openxmlformats.org/drawingml/2006/main">
            <a:off x="685800" y="8953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F7F7F5"/>
                </a:solidFill>
              </a:defRPr>
            </a:defPPr>
            <a:lvl1pPr algn="l">
              <a:defRPr sz="3000" b="1">
                <a:solidFill>
                  <a:srgbClr val="F7F7F5"/>
                </a:solidFill>
              </a:defRPr>
            </a:lvl1pPr>
            <a:lvl2pPr algn="l">
              <a:defRPr sz="3000" b="1">
                <a:solidFill>
                  <a:srgbClr val="F7F7F5"/>
                </a:solidFill>
              </a:defRPr>
            </a:lvl2pPr>
            <a:lvl3pPr algn="l">
              <a:defRPr sz="3000" b="1">
                <a:solidFill>
                  <a:srgbClr val="F7F7F5"/>
                </a:solidFill>
              </a:defRPr>
            </a:lvl3pPr>
            <a:lvl4pPr algn="l">
              <a:defRPr sz="3000" b="1">
                <a:solidFill>
                  <a:srgbClr val="F7F7F5"/>
                </a:solidFill>
              </a:defRPr>
            </a:lvl4pPr>
            <a:lvl5pPr algn="l">
              <a:defRPr sz="3000" b="1">
                <a:solidFill>
                  <a:srgbClr val="F7F7F5"/>
                </a:solidFill>
              </a:defRPr>
            </a:lvl5pPr>
            <a:lvl6pPr algn="l">
              <a:defRPr sz="3000" b="1">
                <a:solidFill>
                  <a:srgbClr val="F7F7F5"/>
                </a:solidFill>
              </a:defRPr>
            </a:lvl6pPr>
            <a:lvl7pPr algn="l">
              <a:defRPr sz="3000" b="1">
                <a:solidFill>
                  <a:srgbClr val="F7F7F5"/>
                </a:solidFill>
              </a:defRPr>
            </a:lvl7pPr>
            <a:lvl8pPr algn="l">
              <a:defRPr sz="3000" b="1">
                <a:solidFill>
                  <a:srgbClr val="F7F7F5"/>
                </a:solidFill>
              </a:defRPr>
            </a:lvl8pPr>
            <a:lvl9pPr algn="l">
              <a:defRPr sz="3000" b="1">
                <a:solidFill>
                  <a:srgbClr val="F7F7F5"/>
                </a:solidFill>
              </a:defRPr>
            </a:lvl9pPr>
          </a:lstStyle>
          <a:p xmlns:a="http://schemas.openxmlformats.org/drawingml/2006/main">
            <a:pPr algn="l">
              <a:defRPr sz="3000" b="1">
                <a:solidFill>
                  <a:srgbClr val="F7F7F5"/>
                </a:solidFill>
              </a:defRPr>
            </a:pPr>
            <a:r>
              <a:rPr sz="3000" b="1">
                <a:solidFill>
                  <a:srgbClr val="F7F7F5"/>
                </a:solidFill>
              </a:rPr>
              <a:t>Real-data results</a:t>
            </a:r>
          </a:p>
        </p:txBody>
      </p:sp>
      <p:sp>
        <p:nvSpPr>
          <p:cNvPr id="3" name="">
            <a:extLst xmlns:a="http://schemas.openxmlformats.org/drawingml/2006/main">
              <a:ext uri="{FF2B5EF4-FFF2-40B4-BE49-F238E27FC236}">
                <a16:creationId xmlns:a16="http://schemas.microsoft.com/office/drawing/2014/main" id="{3CEC1076-5C44-429E-B0BC-0B788B1B8ECE}"/>
              </a:ext>
            </a:extLst>
          </p:cNvPr>
          <p:cNvSpPr>
            <a:spLocks xmlns:a="http://schemas.openxmlformats.org/drawingml/2006/main" noGrp="1"/>
          </p:cNvSpPr>
          <p:nvPr/>
        </p:nvSpPr>
        <p:spPr>
          <a:xfrm xmlns:a="http://schemas.openxmlformats.org/drawingml/2006/main">
            <a:off x="11049000" y="5334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0">
                <a:solidFill>
                  <a:srgbClr val="8C8C88"/>
                </a:solidFill>
              </a:defRPr>
            </a:defPPr>
            <a:lvl1pPr algn="r">
              <a:defRPr sz="1050" b="0">
                <a:solidFill>
                  <a:srgbClr val="8C8C88"/>
                </a:solidFill>
              </a:defRPr>
            </a:lvl1pPr>
            <a:lvl2pPr algn="r">
              <a:defRPr sz="1050" b="0">
                <a:solidFill>
                  <a:srgbClr val="8C8C88"/>
                </a:solidFill>
              </a:defRPr>
            </a:lvl2pPr>
            <a:lvl3pPr algn="r">
              <a:defRPr sz="1050" b="0">
                <a:solidFill>
                  <a:srgbClr val="8C8C88"/>
                </a:solidFill>
              </a:defRPr>
            </a:lvl3pPr>
            <a:lvl4pPr algn="r">
              <a:defRPr sz="1050" b="0">
                <a:solidFill>
                  <a:srgbClr val="8C8C88"/>
                </a:solidFill>
              </a:defRPr>
            </a:lvl4pPr>
            <a:lvl5pPr algn="r">
              <a:defRPr sz="1050" b="0">
                <a:solidFill>
                  <a:srgbClr val="8C8C88"/>
                </a:solidFill>
              </a:defRPr>
            </a:lvl5pPr>
            <a:lvl6pPr algn="r">
              <a:defRPr sz="1050" b="0">
                <a:solidFill>
                  <a:srgbClr val="8C8C88"/>
                </a:solidFill>
              </a:defRPr>
            </a:lvl6pPr>
            <a:lvl7pPr algn="r">
              <a:defRPr sz="1050" b="0">
                <a:solidFill>
                  <a:srgbClr val="8C8C88"/>
                </a:solidFill>
              </a:defRPr>
            </a:lvl7pPr>
            <a:lvl8pPr algn="r">
              <a:defRPr sz="1050" b="0">
                <a:solidFill>
                  <a:srgbClr val="8C8C88"/>
                </a:solidFill>
              </a:defRPr>
            </a:lvl8pPr>
            <a:lvl9pPr algn="r">
              <a:defRPr sz="1050" b="0">
                <a:solidFill>
                  <a:srgbClr val="8C8C88"/>
                </a:solidFill>
              </a:defRPr>
            </a:lvl9pPr>
          </a:lstStyle>
          <a:p xmlns:a="http://schemas.openxmlformats.org/drawingml/2006/main">
            <a:pPr algn="r">
              <a:defRPr sz="1050" b="0">
                <a:solidFill>
                  <a:srgbClr val="8C8C88"/>
                </a:solidFill>
              </a:defRPr>
            </a:pPr>
            <a:r>
              <a:rPr sz="1050" b="0">
                <a:solidFill>
                  <a:srgbClr val="8C8C88"/>
                </a:solidFill>
              </a:rPr>
              <a:t>09</a:t>
            </a:r>
          </a:p>
        </p:txBody>
      </p:sp>
      <p:sp>
        <p:nvSpPr>
          <p:cNvPr id="4" name="">
            <a:extLst xmlns:a="http://schemas.openxmlformats.org/drawingml/2006/main">
              <a:ext uri="{FF2B5EF4-FFF2-40B4-BE49-F238E27FC236}">
                <a16:creationId xmlns:a16="http://schemas.microsoft.com/office/drawing/2014/main" id="{176D94D5-8BC9-4EBD-A096-D3AF9BFA65AA}"/>
              </a:ext>
            </a:extLst>
          </p:cNvPr>
          <p:cNvSpPr>
            <a:spLocks xmlns:a="http://schemas.openxmlformats.org/drawingml/2006/main" noGrp="1"/>
          </p:cNvSpPr>
          <p:nvPr/>
        </p:nvSpPr>
        <p:spPr>
          <a:xfrm xmlns:a="http://schemas.openxmlformats.org/drawingml/2006/main">
            <a:off x="704850" y="1981200"/>
            <a:ext cx="48101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175" b="1">
                <a:solidFill>
                  <a:srgbClr val="DE5A1D"/>
                </a:solidFill>
              </a:defRPr>
            </a:defPPr>
            <a:lvl1pPr algn="l">
              <a:defRPr sz="5175" b="1">
                <a:solidFill>
                  <a:srgbClr val="DE5A1D"/>
                </a:solidFill>
              </a:defRPr>
            </a:lvl1pPr>
            <a:lvl2pPr algn="l">
              <a:defRPr sz="5175" b="1">
                <a:solidFill>
                  <a:srgbClr val="DE5A1D"/>
                </a:solidFill>
              </a:defRPr>
            </a:lvl2pPr>
            <a:lvl3pPr algn="l">
              <a:defRPr sz="5175" b="1">
                <a:solidFill>
                  <a:srgbClr val="DE5A1D"/>
                </a:solidFill>
              </a:defRPr>
            </a:lvl3pPr>
            <a:lvl4pPr algn="l">
              <a:defRPr sz="5175" b="1">
                <a:solidFill>
                  <a:srgbClr val="DE5A1D"/>
                </a:solidFill>
              </a:defRPr>
            </a:lvl4pPr>
            <a:lvl5pPr algn="l">
              <a:defRPr sz="5175" b="1">
                <a:solidFill>
                  <a:srgbClr val="DE5A1D"/>
                </a:solidFill>
              </a:defRPr>
            </a:lvl5pPr>
            <a:lvl6pPr algn="l">
              <a:defRPr sz="5175" b="1">
                <a:solidFill>
                  <a:srgbClr val="DE5A1D"/>
                </a:solidFill>
              </a:defRPr>
            </a:lvl6pPr>
            <a:lvl7pPr algn="l">
              <a:defRPr sz="5175" b="1">
                <a:solidFill>
                  <a:srgbClr val="DE5A1D"/>
                </a:solidFill>
              </a:defRPr>
            </a:lvl7pPr>
            <a:lvl8pPr algn="l">
              <a:defRPr sz="5175" b="1">
                <a:solidFill>
                  <a:srgbClr val="DE5A1D"/>
                </a:solidFill>
              </a:defRPr>
            </a:lvl8pPr>
            <a:lvl9pPr algn="l">
              <a:defRPr sz="5175" b="1">
                <a:solidFill>
                  <a:srgbClr val="DE5A1D"/>
                </a:solidFill>
              </a:defRPr>
            </a:lvl9pPr>
          </a:lstStyle>
          <a:p xmlns:a="http://schemas.openxmlformats.org/drawingml/2006/main">
            <a:pPr algn="l">
              <a:defRPr sz="5175" b="1">
                <a:solidFill>
                  <a:srgbClr val="DE5A1D"/>
                </a:solidFill>
              </a:defRPr>
            </a:pPr>
            <a:r>
              <a:rPr sz="5175" b="1">
                <a:solidFill>
                  <a:srgbClr val="DE5A1D"/>
                </a:solidFill>
              </a:rPr>
              <a:t>36.4%</a:t>
            </a:r>
          </a:p>
        </p:txBody>
      </p:sp>
      <p:sp>
        <p:nvSpPr>
          <p:cNvPr id="5" name="">
            <a:extLst xmlns:a="http://schemas.openxmlformats.org/drawingml/2006/main">
              <a:ext uri="{FF2B5EF4-FFF2-40B4-BE49-F238E27FC236}">
                <a16:creationId xmlns:a16="http://schemas.microsoft.com/office/drawing/2014/main" id="{E7D3AC20-E8B8-47B4-956C-7A9E2EBCE6BF}"/>
              </a:ext>
            </a:extLst>
          </p:cNvPr>
          <p:cNvSpPr>
            <a:spLocks xmlns:a="http://schemas.openxmlformats.org/drawingml/2006/main" noGrp="1"/>
          </p:cNvSpPr>
          <p:nvPr/>
        </p:nvSpPr>
        <p:spPr>
          <a:xfrm xmlns:a="http://schemas.openxmlformats.org/drawingml/2006/main">
            <a:off x="704850" y="3048000"/>
            <a:ext cx="49053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7F7F5"/>
                </a:solidFill>
              </a:defRPr>
            </a:defPPr>
            <a:lvl1pPr algn="l">
              <a:defRPr sz="1875" b="0">
                <a:solidFill>
                  <a:srgbClr val="F7F7F5"/>
                </a:solidFill>
              </a:defRPr>
            </a:lvl1pPr>
            <a:lvl2pPr algn="l">
              <a:defRPr sz="1875" b="0">
                <a:solidFill>
                  <a:srgbClr val="F7F7F5"/>
                </a:solidFill>
              </a:defRPr>
            </a:lvl2pPr>
            <a:lvl3pPr algn="l">
              <a:defRPr sz="1875" b="0">
                <a:solidFill>
                  <a:srgbClr val="F7F7F5"/>
                </a:solidFill>
              </a:defRPr>
            </a:lvl3pPr>
            <a:lvl4pPr algn="l">
              <a:defRPr sz="1875" b="0">
                <a:solidFill>
                  <a:srgbClr val="F7F7F5"/>
                </a:solidFill>
              </a:defRPr>
            </a:lvl4pPr>
            <a:lvl5pPr algn="l">
              <a:defRPr sz="1875" b="0">
                <a:solidFill>
                  <a:srgbClr val="F7F7F5"/>
                </a:solidFill>
              </a:defRPr>
            </a:lvl5pPr>
            <a:lvl6pPr algn="l">
              <a:defRPr sz="1875" b="0">
                <a:solidFill>
                  <a:srgbClr val="F7F7F5"/>
                </a:solidFill>
              </a:defRPr>
            </a:lvl6pPr>
            <a:lvl7pPr algn="l">
              <a:defRPr sz="1875" b="0">
                <a:solidFill>
                  <a:srgbClr val="F7F7F5"/>
                </a:solidFill>
              </a:defRPr>
            </a:lvl7pPr>
            <a:lvl8pPr algn="l">
              <a:defRPr sz="1875" b="0">
                <a:solidFill>
                  <a:srgbClr val="F7F7F5"/>
                </a:solidFill>
              </a:defRPr>
            </a:lvl8pPr>
            <a:lvl9pPr algn="l">
              <a:defRPr sz="1875" b="0">
                <a:solidFill>
                  <a:srgbClr val="F7F7F5"/>
                </a:solidFill>
              </a:defRPr>
            </a:lvl9pPr>
          </a:lstStyle>
          <a:p xmlns:a="http://schemas.openxmlformats.org/drawingml/2006/main">
            <a:pPr algn="l">
              <a:defRPr sz="1875" b="0">
                <a:solidFill>
                  <a:srgbClr val="F7F7F5"/>
                </a:solidFill>
              </a:defRPr>
            </a:pPr>
            <a:r>
              <a:rPr sz="1875" b="0">
                <a:solidFill>
                  <a:srgbClr val="F7F7F5"/>
                </a:solidFill>
              </a:rPr>
              <a:t>DDoS recall on Friday 2017 flows</a:t>
            </a:r>
          </a:p>
        </p:txBody>
      </p:sp>
      <p:sp>
        <p:nvSpPr>
          <p:cNvPr id="6" name="">
            <a:extLst xmlns:a="http://schemas.openxmlformats.org/drawingml/2006/main">
              <a:ext uri="{FF2B5EF4-FFF2-40B4-BE49-F238E27FC236}">
                <a16:creationId xmlns:a16="http://schemas.microsoft.com/office/drawing/2014/main" id="{6A4495AA-E876-410C-A98A-D51059896BE6}"/>
              </a:ext>
            </a:extLst>
          </p:cNvPr>
          <p:cNvSpPr>
            <a:spLocks xmlns:a="http://schemas.openxmlformats.org/drawingml/2006/main" noGrp="1"/>
          </p:cNvSpPr>
          <p:nvPr/>
        </p:nvSpPr>
        <p:spPr>
          <a:xfrm xmlns:a="http://schemas.openxmlformats.org/drawingml/2006/main">
            <a:off x="6400800" y="1981200"/>
            <a:ext cx="4762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175" b="1">
                <a:solidFill>
                  <a:srgbClr val="DE5A1D"/>
                </a:solidFill>
              </a:defRPr>
            </a:defPPr>
            <a:lvl1pPr algn="l">
              <a:defRPr sz="5175" b="1">
                <a:solidFill>
                  <a:srgbClr val="DE5A1D"/>
                </a:solidFill>
              </a:defRPr>
            </a:lvl1pPr>
            <a:lvl2pPr algn="l">
              <a:defRPr sz="5175" b="1">
                <a:solidFill>
                  <a:srgbClr val="DE5A1D"/>
                </a:solidFill>
              </a:defRPr>
            </a:lvl2pPr>
            <a:lvl3pPr algn="l">
              <a:defRPr sz="5175" b="1">
                <a:solidFill>
                  <a:srgbClr val="DE5A1D"/>
                </a:solidFill>
              </a:defRPr>
            </a:lvl3pPr>
            <a:lvl4pPr algn="l">
              <a:defRPr sz="5175" b="1">
                <a:solidFill>
                  <a:srgbClr val="DE5A1D"/>
                </a:solidFill>
              </a:defRPr>
            </a:lvl4pPr>
            <a:lvl5pPr algn="l">
              <a:defRPr sz="5175" b="1">
                <a:solidFill>
                  <a:srgbClr val="DE5A1D"/>
                </a:solidFill>
              </a:defRPr>
            </a:lvl5pPr>
            <a:lvl6pPr algn="l">
              <a:defRPr sz="5175" b="1">
                <a:solidFill>
                  <a:srgbClr val="DE5A1D"/>
                </a:solidFill>
              </a:defRPr>
            </a:lvl6pPr>
            <a:lvl7pPr algn="l">
              <a:defRPr sz="5175" b="1">
                <a:solidFill>
                  <a:srgbClr val="DE5A1D"/>
                </a:solidFill>
              </a:defRPr>
            </a:lvl7pPr>
            <a:lvl8pPr algn="l">
              <a:defRPr sz="5175" b="1">
                <a:solidFill>
                  <a:srgbClr val="DE5A1D"/>
                </a:solidFill>
              </a:defRPr>
            </a:lvl8pPr>
            <a:lvl9pPr algn="l">
              <a:defRPr sz="5175" b="1">
                <a:solidFill>
                  <a:srgbClr val="DE5A1D"/>
                </a:solidFill>
              </a:defRPr>
            </a:lvl9pPr>
          </a:lstStyle>
          <a:p xmlns:a="http://schemas.openxmlformats.org/drawingml/2006/main">
            <a:pPr algn="l">
              <a:defRPr sz="5175" b="1">
                <a:solidFill>
                  <a:srgbClr val="DE5A1D"/>
                </a:solidFill>
              </a:defRPr>
            </a:pPr>
            <a:r>
              <a:rPr sz="5175" b="1">
                <a:solidFill>
                  <a:srgbClr val="DE5A1D"/>
                </a:solidFill>
              </a:rPr>
              <a:t>24.8%</a:t>
            </a:r>
          </a:p>
        </p:txBody>
      </p:sp>
      <p:sp>
        <p:nvSpPr>
          <p:cNvPr id="7" name="">
            <a:extLst xmlns:a="http://schemas.openxmlformats.org/drawingml/2006/main">
              <a:ext uri="{FF2B5EF4-FFF2-40B4-BE49-F238E27FC236}">
                <a16:creationId xmlns:a16="http://schemas.microsoft.com/office/drawing/2014/main" id="{4FB4EB08-1FB2-47F6-90D7-0C94DC2DEC23}"/>
              </a:ext>
            </a:extLst>
          </p:cNvPr>
          <p:cNvSpPr>
            <a:spLocks xmlns:a="http://schemas.openxmlformats.org/drawingml/2006/main" noGrp="1"/>
          </p:cNvSpPr>
          <p:nvPr/>
        </p:nvSpPr>
        <p:spPr>
          <a:xfrm xmlns:a="http://schemas.openxmlformats.org/drawingml/2006/main">
            <a:off x="6400800" y="3048000"/>
            <a:ext cx="49053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7F7F5"/>
                </a:solidFill>
              </a:defRPr>
            </a:defPPr>
            <a:lvl1pPr algn="l">
              <a:defRPr sz="1875" b="0">
                <a:solidFill>
                  <a:srgbClr val="F7F7F5"/>
                </a:solidFill>
              </a:defRPr>
            </a:lvl1pPr>
            <a:lvl2pPr algn="l">
              <a:defRPr sz="1875" b="0">
                <a:solidFill>
                  <a:srgbClr val="F7F7F5"/>
                </a:solidFill>
              </a:defRPr>
            </a:lvl2pPr>
            <a:lvl3pPr algn="l">
              <a:defRPr sz="1875" b="0">
                <a:solidFill>
                  <a:srgbClr val="F7F7F5"/>
                </a:solidFill>
              </a:defRPr>
            </a:lvl3pPr>
            <a:lvl4pPr algn="l">
              <a:defRPr sz="1875" b="0">
                <a:solidFill>
                  <a:srgbClr val="F7F7F5"/>
                </a:solidFill>
              </a:defRPr>
            </a:lvl4pPr>
            <a:lvl5pPr algn="l">
              <a:defRPr sz="1875" b="0">
                <a:solidFill>
                  <a:srgbClr val="F7F7F5"/>
                </a:solidFill>
              </a:defRPr>
            </a:lvl5pPr>
            <a:lvl6pPr algn="l">
              <a:defRPr sz="1875" b="0">
                <a:solidFill>
                  <a:srgbClr val="F7F7F5"/>
                </a:solidFill>
              </a:defRPr>
            </a:lvl6pPr>
            <a:lvl7pPr algn="l">
              <a:defRPr sz="1875" b="0">
                <a:solidFill>
                  <a:srgbClr val="F7F7F5"/>
                </a:solidFill>
              </a:defRPr>
            </a:lvl7pPr>
            <a:lvl8pPr algn="l">
              <a:defRPr sz="1875" b="0">
                <a:solidFill>
                  <a:srgbClr val="F7F7F5"/>
                </a:solidFill>
              </a:defRPr>
            </a:lvl8pPr>
            <a:lvl9pPr algn="l">
              <a:defRPr sz="1875" b="0">
                <a:solidFill>
                  <a:srgbClr val="F7F7F5"/>
                </a:solidFill>
              </a:defRPr>
            </a:lvl9pPr>
          </a:lstStyle>
          <a:p xmlns:a="http://schemas.openxmlformats.org/drawingml/2006/main">
            <a:pPr algn="l">
              <a:defRPr sz="1875" b="0">
                <a:solidFill>
                  <a:srgbClr val="F7F7F5"/>
                </a:solidFill>
              </a:defRPr>
            </a:pPr>
            <a:r>
              <a:rPr sz="1875" b="0">
                <a:solidFill>
                  <a:srgbClr val="F7F7F5"/>
                </a:solidFill>
              </a:rPr>
              <a:t>False-alarm rate on benign Friday flows</a:t>
            </a:r>
          </a:p>
        </p:txBody>
      </p:sp>
      <p:sp>
        <p:nvSpPr>
          <p:cNvPr id="8" name="">
            <a:extLst xmlns:a="http://schemas.openxmlformats.org/drawingml/2006/main">
              <a:ext uri="{FF2B5EF4-FFF2-40B4-BE49-F238E27FC236}">
                <a16:creationId xmlns:a16="http://schemas.microsoft.com/office/drawing/2014/main" id="{5B5421D7-AC81-4CC8-83F0-356C3C3B4129}"/>
              </a:ext>
            </a:extLst>
          </p:cNvPr>
          <p:cNvSpPr>
            <a:spLocks xmlns:a="http://schemas.openxmlformats.org/drawingml/2006/main" noGrp="1"/>
          </p:cNvSpPr>
          <p:nvPr/>
        </p:nvSpPr>
        <p:spPr>
          <a:xfrm xmlns:a="http://schemas.openxmlformats.org/drawingml/2006/main">
            <a:off x="704850" y="4610100"/>
            <a:ext cx="1047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C6C6C2"/>
                </a:solidFill>
              </a:defRPr>
            </a:defPPr>
            <a:lvl1pPr algn="l">
              <a:defRPr sz="1950" b="0">
                <a:solidFill>
                  <a:srgbClr val="C6C6C2"/>
                </a:solidFill>
              </a:defRPr>
            </a:lvl1pPr>
            <a:lvl2pPr algn="l">
              <a:defRPr sz="1950" b="0">
                <a:solidFill>
                  <a:srgbClr val="C6C6C2"/>
                </a:solidFill>
              </a:defRPr>
            </a:lvl2pPr>
            <a:lvl3pPr algn="l">
              <a:defRPr sz="1950" b="0">
                <a:solidFill>
                  <a:srgbClr val="C6C6C2"/>
                </a:solidFill>
              </a:defRPr>
            </a:lvl3pPr>
            <a:lvl4pPr algn="l">
              <a:defRPr sz="1950" b="0">
                <a:solidFill>
                  <a:srgbClr val="C6C6C2"/>
                </a:solidFill>
              </a:defRPr>
            </a:lvl4pPr>
            <a:lvl5pPr algn="l">
              <a:defRPr sz="1950" b="0">
                <a:solidFill>
                  <a:srgbClr val="C6C6C2"/>
                </a:solidFill>
              </a:defRPr>
            </a:lvl5pPr>
            <a:lvl6pPr algn="l">
              <a:defRPr sz="1950" b="0">
                <a:solidFill>
                  <a:srgbClr val="C6C6C2"/>
                </a:solidFill>
              </a:defRPr>
            </a:lvl6pPr>
            <a:lvl7pPr algn="l">
              <a:defRPr sz="1950" b="0">
                <a:solidFill>
                  <a:srgbClr val="C6C6C2"/>
                </a:solidFill>
              </a:defRPr>
            </a:lvl7pPr>
            <a:lvl8pPr algn="l">
              <a:defRPr sz="1950" b="0">
                <a:solidFill>
                  <a:srgbClr val="C6C6C2"/>
                </a:solidFill>
              </a:defRPr>
            </a:lvl8pPr>
            <a:lvl9pPr algn="l">
              <a:defRPr sz="1950" b="0">
                <a:solidFill>
                  <a:srgbClr val="C6C6C2"/>
                </a:solidFill>
              </a:defRPr>
            </a:lvl9pPr>
          </a:lstStyle>
          <a:p xmlns:a="http://schemas.openxmlformats.org/drawingml/2006/main">
            <a:pPr algn="l">
              <a:defRPr sz="1950" b="0">
                <a:solidFill>
                  <a:srgbClr val="C6C6C2"/>
                </a:solidFill>
              </a:defRPr>
            </a:pPr>
            <a:r>
              <a:rPr sz="1950" b="0">
                <a:solidFill>
                  <a:srgbClr val="C6C6C2"/>
                </a:solidFill>
              </a:rPr>
              <a:t>Held-out 2018 file: 26 of 687,742 labeled DDoS flows detected (0.0038% recall).</a:t>
            </a:r>
          </a:p>
        </p:txBody>
      </p:sp>
      <p:sp>
        <p:nvSpPr>
          <p:cNvPr id="9" name="">
            <a:extLst xmlns:a="http://schemas.openxmlformats.org/drawingml/2006/main">
              <a:ext uri="{FF2B5EF4-FFF2-40B4-BE49-F238E27FC236}">
                <a16:creationId xmlns:a16="http://schemas.microsoft.com/office/drawing/2014/main" id="{09CD5DEB-3DA3-442A-98E3-BF46FDF1EE99}"/>
              </a:ext>
            </a:extLst>
          </p:cNvPr>
          <p:cNvSpPr>
            <a:spLocks xmlns:a="http://schemas.openxmlformats.org/drawingml/2006/main" noGrp="1"/>
          </p:cNvSpPr>
          <p:nvPr/>
        </p:nvSpPr>
        <p:spPr>
          <a:xfrm xmlns:a="http://schemas.openxmlformats.org/drawingml/2006/main">
            <a:off x="704850" y="5953125"/>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F7F7F5"/>
                </a:solidFill>
              </a:defRPr>
            </a:defPPr>
            <a:lvl1pPr algn="l">
              <a:defRPr sz="1650" b="1">
                <a:solidFill>
                  <a:srgbClr val="F7F7F5"/>
                </a:solidFill>
              </a:defRPr>
            </a:lvl1pPr>
            <a:lvl2pPr algn="l">
              <a:defRPr sz="1650" b="1">
                <a:solidFill>
                  <a:srgbClr val="F7F7F5"/>
                </a:solidFill>
              </a:defRPr>
            </a:lvl2pPr>
            <a:lvl3pPr algn="l">
              <a:defRPr sz="1650" b="1">
                <a:solidFill>
                  <a:srgbClr val="F7F7F5"/>
                </a:solidFill>
              </a:defRPr>
            </a:lvl3pPr>
            <a:lvl4pPr algn="l">
              <a:defRPr sz="1650" b="1">
                <a:solidFill>
                  <a:srgbClr val="F7F7F5"/>
                </a:solidFill>
              </a:defRPr>
            </a:lvl4pPr>
            <a:lvl5pPr algn="l">
              <a:defRPr sz="1650" b="1">
                <a:solidFill>
                  <a:srgbClr val="F7F7F5"/>
                </a:solidFill>
              </a:defRPr>
            </a:lvl5pPr>
            <a:lvl6pPr algn="l">
              <a:defRPr sz="1650" b="1">
                <a:solidFill>
                  <a:srgbClr val="F7F7F5"/>
                </a:solidFill>
              </a:defRPr>
            </a:lvl6pPr>
            <a:lvl7pPr algn="l">
              <a:defRPr sz="1650" b="1">
                <a:solidFill>
                  <a:srgbClr val="F7F7F5"/>
                </a:solidFill>
              </a:defRPr>
            </a:lvl7pPr>
            <a:lvl8pPr algn="l">
              <a:defRPr sz="1650" b="1">
                <a:solidFill>
                  <a:srgbClr val="F7F7F5"/>
                </a:solidFill>
              </a:defRPr>
            </a:lvl8pPr>
            <a:lvl9pPr algn="l">
              <a:defRPr sz="1650" b="1">
                <a:solidFill>
                  <a:srgbClr val="F7F7F5"/>
                </a:solidFill>
              </a:defRPr>
            </a:lvl9pPr>
          </a:lstStyle>
          <a:p xmlns:a="http://schemas.openxmlformats.org/drawingml/2006/main">
            <a:pPr algn="l">
              <a:defRPr sz="1650" b="1">
                <a:solidFill>
                  <a:srgbClr val="F7F7F5"/>
                </a:solidFill>
              </a:defRPr>
            </a:pPr>
            <a:r>
              <a:rPr sz="1650" b="1">
                <a:solidFill>
                  <a:srgbClr val="F7F7F5"/>
                </a:solidFill>
              </a:rPr>
              <a:t>The real-data models stay out of live decisions.</a:t>
            </a:r>
          </a:p>
        </p:txBody>
      </p:sp>
    </p:spTree>
    <p:extLst>
      <p:ext uri="{BB962C8B-B14F-4D97-AF65-F5344CB8AC3E}">
        <p14:creationId xmlns:p14="http://schemas.microsoft.com/office/powerpoint/2010/main" val="2079571687"/>
      </p:ext>
    </p:extLst>
  </p:cSld>
</p:sld>
</file>

<file path=ppt/slides/slide1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580658A-B203-4449-AD40-88F72D94DA24}"/>
              </a:ext>
            </a:extLst>
          </p:cNvPr>
          <p:cNvSpPr>
            <a:spLocks xmlns:a="http://schemas.openxmlformats.org/drawingml/2006/main" noGrp="1"/>
          </p:cNvSpPr>
          <p:nvPr/>
        </p:nvSpPr>
        <p:spPr>
          <a:xfrm xmlns:a="http://schemas.openxmlformats.org/drawingml/2006/main">
            <a:off x="685800" y="4381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DE5A1D"/>
                </a:solidFill>
              </a:defRPr>
            </a:defPPr>
            <a:lvl1pPr algn="l">
              <a:defRPr sz="1200" b="1">
                <a:solidFill>
                  <a:srgbClr val="DE5A1D"/>
                </a:solidFill>
              </a:defRPr>
            </a:lvl1pPr>
            <a:lvl2pPr algn="l">
              <a:defRPr sz="1200" b="1">
                <a:solidFill>
                  <a:srgbClr val="DE5A1D"/>
                </a:solidFill>
              </a:defRPr>
            </a:lvl2pPr>
            <a:lvl3pPr algn="l">
              <a:defRPr sz="1200" b="1">
                <a:solidFill>
                  <a:srgbClr val="DE5A1D"/>
                </a:solidFill>
              </a:defRPr>
            </a:lvl3pPr>
            <a:lvl4pPr algn="l">
              <a:defRPr sz="1200" b="1">
                <a:solidFill>
                  <a:srgbClr val="DE5A1D"/>
                </a:solidFill>
              </a:defRPr>
            </a:lvl4pPr>
            <a:lvl5pPr algn="l">
              <a:defRPr sz="1200" b="1">
                <a:solidFill>
                  <a:srgbClr val="DE5A1D"/>
                </a:solidFill>
              </a:defRPr>
            </a:lvl5pPr>
            <a:lvl6pPr algn="l">
              <a:defRPr sz="1200" b="1">
                <a:solidFill>
                  <a:srgbClr val="DE5A1D"/>
                </a:solidFill>
              </a:defRPr>
            </a:lvl6pPr>
            <a:lvl7pPr algn="l">
              <a:defRPr sz="1200" b="1">
                <a:solidFill>
                  <a:srgbClr val="DE5A1D"/>
                </a:solidFill>
              </a:defRPr>
            </a:lvl7pPr>
            <a:lvl8pPr algn="l">
              <a:defRPr sz="1200" b="1">
                <a:solidFill>
                  <a:srgbClr val="DE5A1D"/>
                </a:solidFill>
              </a:defRPr>
            </a:lvl8pPr>
            <a:lvl9pPr algn="l">
              <a:defRPr sz="1200" b="1">
                <a:solidFill>
                  <a:srgbClr val="DE5A1D"/>
                </a:solidFill>
              </a:defRPr>
            </a:lvl9pPr>
          </a:lstStyle>
          <a:p xmlns:a="http://schemas.openxmlformats.org/drawingml/2006/main">
            <a:pPr algn="l">
              <a:defRPr sz="1200" b="1">
                <a:solidFill>
                  <a:srgbClr val="DE5A1D"/>
                </a:solidFill>
              </a:defRPr>
            </a:pPr>
            <a:r>
              <a:rPr sz="1200" b="1">
                <a:solidFill>
                  <a:srgbClr val="DE5A1D"/>
                </a:solidFill>
              </a:rPr>
              <a:t>DEMONSTRATION</a:t>
            </a:r>
          </a:p>
        </p:txBody>
      </p:sp>
      <p:sp>
        <p:nvSpPr>
          <p:cNvPr id="2" name="">
            <a:extLst xmlns:a="http://schemas.openxmlformats.org/drawingml/2006/main">
              <a:ext uri="{FF2B5EF4-FFF2-40B4-BE49-F238E27FC236}">
                <a16:creationId xmlns:a16="http://schemas.microsoft.com/office/drawing/2014/main" id="{1C07FB0C-1325-454A-94AC-1F3830765359}"/>
              </a:ext>
            </a:extLst>
          </p:cNvPr>
          <p:cNvSpPr>
            <a:spLocks xmlns:a="http://schemas.openxmlformats.org/drawingml/2006/main" noGrp="1"/>
          </p:cNvSpPr>
          <p:nvPr/>
        </p:nvSpPr>
        <p:spPr>
          <a:xfrm xmlns:a="http://schemas.openxmlformats.org/drawingml/2006/main">
            <a:off x="685800" y="8953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F7F7F5"/>
                </a:solidFill>
              </a:defRPr>
            </a:defPPr>
            <a:lvl1pPr algn="l">
              <a:defRPr sz="3000" b="1">
                <a:solidFill>
                  <a:srgbClr val="F7F7F5"/>
                </a:solidFill>
              </a:defRPr>
            </a:lvl1pPr>
            <a:lvl2pPr algn="l">
              <a:defRPr sz="3000" b="1">
                <a:solidFill>
                  <a:srgbClr val="F7F7F5"/>
                </a:solidFill>
              </a:defRPr>
            </a:lvl2pPr>
            <a:lvl3pPr algn="l">
              <a:defRPr sz="3000" b="1">
                <a:solidFill>
                  <a:srgbClr val="F7F7F5"/>
                </a:solidFill>
              </a:defRPr>
            </a:lvl3pPr>
            <a:lvl4pPr algn="l">
              <a:defRPr sz="3000" b="1">
                <a:solidFill>
                  <a:srgbClr val="F7F7F5"/>
                </a:solidFill>
              </a:defRPr>
            </a:lvl4pPr>
            <a:lvl5pPr algn="l">
              <a:defRPr sz="3000" b="1">
                <a:solidFill>
                  <a:srgbClr val="F7F7F5"/>
                </a:solidFill>
              </a:defRPr>
            </a:lvl5pPr>
            <a:lvl6pPr algn="l">
              <a:defRPr sz="3000" b="1">
                <a:solidFill>
                  <a:srgbClr val="F7F7F5"/>
                </a:solidFill>
              </a:defRPr>
            </a:lvl6pPr>
            <a:lvl7pPr algn="l">
              <a:defRPr sz="3000" b="1">
                <a:solidFill>
                  <a:srgbClr val="F7F7F5"/>
                </a:solidFill>
              </a:defRPr>
            </a:lvl7pPr>
            <a:lvl8pPr algn="l">
              <a:defRPr sz="3000" b="1">
                <a:solidFill>
                  <a:srgbClr val="F7F7F5"/>
                </a:solidFill>
              </a:defRPr>
            </a:lvl8pPr>
            <a:lvl9pPr algn="l">
              <a:defRPr sz="3000" b="1">
                <a:solidFill>
                  <a:srgbClr val="F7F7F5"/>
                </a:solidFill>
              </a:defRPr>
            </a:lvl9pPr>
          </a:lstStyle>
          <a:p xmlns:a="http://schemas.openxmlformats.org/drawingml/2006/main">
            <a:pPr algn="l">
              <a:defRPr sz="3000" b="1">
                <a:solidFill>
                  <a:srgbClr val="F7F7F5"/>
                </a:solidFill>
              </a:defRPr>
            </a:pPr>
            <a:r>
              <a:rPr sz="3000" b="1">
                <a:solidFill>
                  <a:srgbClr val="F7F7F5"/>
                </a:solidFill>
              </a:rPr>
              <a:t>Demo walkthrough</a:t>
            </a:r>
          </a:p>
        </p:txBody>
      </p:sp>
      <p:sp>
        <p:nvSpPr>
          <p:cNvPr id="3" name="">
            <a:extLst xmlns:a="http://schemas.openxmlformats.org/drawingml/2006/main">
              <a:ext uri="{FF2B5EF4-FFF2-40B4-BE49-F238E27FC236}">
                <a16:creationId xmlns:a16="http://schemas.microsoft.com/office/drawing/2014/main" id="{8F5649B6-454E-4D30-BD8D-A23C59ACE09F}"/>
              </a:ext>
            </a:extLst>
          </p:cNvPr>
          <p:cNvSpPr>
            <a:spLocks xmlns:a="http://schemas.openxmlformats.org/drawingml/2006/main" noGrp="1"/>
          </p:cNvSpPr>
          <p:nvPr/>
        </p:nvSpPr>
        <p:spPr>
          <a:xfrm xmlns:a="http://schemas.openxmlformats.org/drawingml/2006/main">
            <a:off x="11049000" y="5334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0">
                <a:solidFill>
                  <a:srgbClr val="8C8C88"/>
                </a:solidFill>
              </a:defRPr>
            </a:defPPr>
            <a:lvl1pPr algn="r">
              <a:defRPr sz="1050" b="0">
                <a:solidFill>
                  <a:srgbClr val="8C8C88"/>
                </a:solidFill>
              </a:defRPr>
            </a:lvl1pPr>
            <a:lvl2pPr algn="r">
              <a:defRPr sz="1050" b="0">
                <a:solidFill>
                  <a:srgbClr val="8C8C88"/>
                </a:solidFill>
              </a:defRPr>
            </a:lvl2pPr>
            <a:lvl3pPr algn="r">
              <a:defRPr sz="1050" b="0">
                <a:solidFill>
                  <a:srgbClr val="8C8C88"/>
                </a:solidFill>
              </a:defRPr>
            </a:lvl3pPr>
            <a:lvl4pPr algn="r">
              <a:defRPr sz="1050" b="0">
                <a:solidFill>
                  <a:srgbClr val="8C8C88"/>
                </a:solidFill>
              </a:defRPr>
            </a:lvl4pPr>
            <a:lvl5pPr algn="r">
              <a:defRPr sz="1050" b="0">
                <a:solidFill>
                  <a:srgbClr val="8C8C88"/>
                </a:solidFill>
              </a:defRPr>
            </a:lvl5pPr>
            <a:lvl6pPr algn="r">
              <a:defRPr sz="1050" b="0">
                <a:solidFill>
                  <a:srgbClr val="8C8C88"/>
                </a:solidFill>
              </a:defRPr>
            </a:lvl6pPr>
            <a:lvl7pPr algn="r">
              <a:defRPr sz="1050" b="0">
                <a:solidFill>
                  <a:srgbClr val="8C8C88"/>
                </a:solidFill>
              </a:defRPr>
            </a:lvl7pPr>
            <a:lvl8pPr algn="r">
              <a:defRPr sz="1050" b="0">
                <a:solidFill>
                  <a:srgbClr val="8C8C88"/>
                </a:solidFill>
              </a:defRPr>
            </a:lvl8pPr>
            <a:lvl9pPr algn="r">
              <a:defRPr sz="1050" b="0">
                <a:solidFill>
                  <a:srgbClr val="8C8C88"/>
                </a:solidFill>
              </a:defRPr>
            </a:lvl9pPr>
          </a:lstStyle>
          <a:p xmlns:a="http://schemas.openxmlformats.org/drawingml/2006/main">
            <a:pPr algn="r">
              <a:defRPr sz="1050" b="0">
                <a:solidFill>
                  <a:srgbClr val="8C8C88"/>
                </a:solidFill>
              </a:defRPr>
            </a:pPr>
            <a:r>
              <a:rPr sz="1050" b="0">
                <a:solidFill>
                  <a:srgbClr val="8C8C88"/>
                </a:solidFill>
              </a:rPr>
              <a:t>10</a:t>
            </a:r>
          </a:p>
        </p:txBody>
      </p:sp>
      <p:sp>
        <p:nvSpPr>
          <p:cNvPr id="4" name="">
            <a:extLst xmlns:a="http://schemas.openxmlformats.org/drawingml/2006/main">
              <a:ext uri="{FF2B5EF4-FFF2-40B4-BE49-F238E27FC236}">
                <a16:creationId xmlns:a16="http://schemas.microsoft.com/office/drawing/2014/main" id="{5B34BD9D-CF73-4B7A-B11D-137666FD474E}"/>
              </a:ext>
            </a:extLst>
          </p:cNvPr>
          <p:cNvSpPr>
            <a:spLocks xmlns:a="http://schemas.openxmlformats.org/drawingml/2006/main" noGrp="1"/>
          </p:cNvSpPr>
          <p:nvPr/>
        </p:nvSpPr>
        <p:spPr>
          <a:xfrm xmlns:a="http://schemas.openxmlformats.org/drawingml/2006/main">
            <a:off x="685800" y="2095500"/>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01</a:t>
            </a:r>
          </a:p>
        </p:txBody>
      </p:sp>
      <p:sp>
        <p:nvSpPr>
          <p:cNvPr id="5" name="">
            <a:extLst xmlns:a="http://schemas.openxmlformats.org/drawingml/2006/main">
              <a:ext uri="{FF2B5EF4-FFF2-40B4-BE49-F238E27FC236}">
                <a16:creationId xmlns:a16="http://schemas.microsoft.com/office/drawing/2014/main" id="{A0DD1AE6-3550-4411-AA28-D951C553FA06}"/>
              </a:ext>
            </a:extLst>
          </p:cNvPr>
          <p:cNvSpPr>
            <a:spLocks xmlns:a="http://schemas.openxmlformats.org/drawingml/2006/main" noGrp="1"/>
          </p:cNvSpPr>
          <p:nvPr/>
        </p:nvSpPr>
        <p:spPr>
          <a:xfrm xmlns:a="http://schemas.openxmlformats.org/drawingml/2006/main">
            <a:off x="1504950" y="20955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Select a demo</a:t>
            </a:r>
          </a:p>
        </p:txBody>
      </p:sp>
      <p:sp>
        <p:nvSpPr>
          <p:cNvPr id="6" name="">
            <a:extLst xmlns:a="http://schemas.openxmlformats.org/drawingml/2006/main">
              <a:ext uri="{FF2B5EF4-FFF2-40B4-BE49-F238E27FC236}">
                <a16:creationId xmlns:a16="http://schemas.microsoft.com/office/drawing/2014/main" id="{29D424B5-5EDC-441F-A3C3-8C240B16B8BC}"/>
              </a:ext>
            </a:extLst>
          </p:cNvPr>
          <p:cNvSpPr>
            <a:spLocks xmlns:a="http://schemas.openxmlformats.org/drawingml/2006/main" noGrp="1"/>
          </p:cNvSpPr>
          <p:nvPr/>
        </p:nvSpPr>
        <p:spPr>
          <a:xfrm xmlns:a="http://schemas.openxmlformats.org/drawingml/2006/main">
            <a:off x="4953000" y="2114550"/>
            <a:ext cx="6191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C6C6C2"/>
                </a:solidFill>
              </a:defRPr>
            </a:defPPr>
            <a:lvl1pPr algn="l">
              <a:defRPr sz="1725" b="0">
                <a:solidFill>
                  <a:srgbClr val="C6C6C2"/>
                </a:solidFill>
              </a:defRPr>
            </a:lvl1pPr>
            <a:lvl2pPr algn="l">
              <a:defRPr sz="1725" b="0">
                <a:solidFill>
                  <a:srgbClr val="C6C6C2"/>
                </a:solidFill>
              </a:defRPr>
            </a:lvl2pPr>
            <a:lvl3pPr algn="l">
              <a:defRPr sz="1725" b="0">
                <a:solidFill>
                  <a:srgbClr val="C6C6C2"/>
                </a:solidFill>
              </a:defRPr>
            </a:lvl3pPr>
            <a:lvl4pPr algn="l">
              <a:defRPr sz="1725" b="0">
                <a:solidFill>
                  <a:srgbClr val="C6C6C2"/>
                </a:solidFill>
              </a:defRPr>
            </a:lvl4pPr>
            <a:lvl5pPr algn="l">
              <a:defRPr sz="1725" b="0">
                <a:solidFill>
                  <a:srgbClr val="C6C6C2"/>
                </a:solidFill>
              </a:defRPr>
            </a:lvl5pPr>
            <a:lvl6pPr algn="l">
              <a:defRPr sz="1725" b="0">
                <a:solidFill>
                  <a:srgbClr val="C6C6C2"/>
                </a:solidFill>
              </a:defRPr>
            </a:lvl6pPr>
            <a:lvl7pPr algn="l">
              <a:defRPr sz="1725" b="0">
                <a:solidFill>
                  <a:srgbClr val="C6C6C2"/>
                </a:solidFill>
              </a:defRPr>
            </a:lvl7pPr>
            <a:lvl8pPr algn="l">
              <a:defRPr sz="1725" b="0">
                <a:solidFill>
                  <a:srgbClr val="C6C6C2"/>
                </a:solidFill>
              </a:defRPr>
            </a:lvl8pPr>
            <a:lvl9pPr algn="l">
              <a:defRPr sz="1725" b="0">
                <a:solidFill>
                  <a:srgbClr val="C6C6C2"/>
                </a:solidFill>
              </a:defRPr>
            </a:lvl9pPr>
          </a:lstStyle>
          <a:p xmlns:a="http://schemas.openxmlformats.org/drawingml/2006/main">
            <a:pPr algn="l">
              <a:defRPr sz="1725" b="0">
                <a:solidFill>
                  <a:srgbClr val="C6C6C2"/>
                </a:solidFill>
              </a:defRPr>
            </a:pPr>
            <a:r>
              <a:rPr sz="1725" b="0">
                <a:solidFill>
                  <a:srgbClr val="C6C6C2"/>
                </a:solidFill>
              </a:rPr>
              <a:t>Switch between Normal, Mixed, and SYN-heavy traffic</a:t>
            </a:r>
          </a:p>
        </p:txBody>
      </p:sp>
      <p:sp>
        <p:nvSpPr>
          <p:cNvPr id="7" name="">
            <a:extLst xmlns:a="http://schemas.openxmlformats.org/drawingml/2006/main">
              <a:ext uri="{FF2B5EF4-FFF2-40B4-BE49-F238E27FC236}">
                <a16:creationId xmlns:a16="http://schemas.microsoft.com/office/drawing/2014/main" id="{2328BEDE-EA6A-4F40-A26F-10FDDBF8664C}"/>
              </a:ext>
            </a:extLst>
          </p:cNvPr>
          <p:cNvSpPr>
            <a:spLocks xmlns:a="http://schemas.openxmlformats.org/drawingml/2006/main" noGrp="1"/>
          </p:cNvSpPr>
          <p:nvPr/>
        </p:nvSpPr>
        <p:spPr>
          <a:xfrm xmlns:a="http://schemas.openxmlformats.org/drawingml/2006/main">
            <a:off x="685800" y="3238500"/>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02</a:t>
            </a:r>
          </a:p>
        </p:txBody>
      </p:sp>
      <p:sp>
        <p:nvSpPr>
          <p:cNvPr id="8" name="">
            <a:extLst xmlns:a="http://schemas.openxmlformats.org/drawingml/2006/main">
              <a:ext uri="{FF2B5EF4-FFF2-40B4-BE49-F238E27FC236}">
                <a16:creationId xmlns:a16="http://schemas.microsoft.com/office/drawing/2014/main" id="{697D718D-1FD9-42C3-9DD5-D4ED917B5918}"/>
              </a:ext>
            </a:extLst>
          </p:cNvPr>
          <p:cNvSpPr>
            <a:spLocks xmlns:a="http://schemas.openxmlformats.org/drawingml/2006/main" noGrp="1"/>
          </p:cNvSpPr>
          <p:nvPr/>
        </p:nvSpPr>
        <p:spPr>
          <a:xfrm xmlns:a="http://schemas.openxmlformats.org/drawingml/2006/main">
            <a:off x="1504950" y="32385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Open reasons</a:t>
            </a:r>
          </a:p>
        </p:txBody>
      </p:sp>
      <p:sp>
        <p:nvSpPr>
          <p:cNvPr id="9" name="">
            <a:extLst xmlns:a="http://schemas.openxmlformats.org/drawingml/2006/main">
              <a:ext uri="{FF2B5EF4-FFF2-40B4-BE49-F238E27FC236}">
                <a16:creationId xmlns:a16="http://schemas.microsoft.com/office/drawing/2014/main" id="{6A09B40A-147A-4D91-BF4C-9DF3AC7212B9}"/>
              </a:ext>
            </a:extLst>
          </p:cNvPr>
          <p:cNvSpPr>
            <a:spLocks xmlns:a="http://schemas.openxmlformats.org/drawingml/2006/main" noGrp="1"/>
          </p:cNvSpPr>
          <p:nvPr/>
        </p:nvSpPr>
        <p:spPr>
          <a:xfrm xmlns:a="http://schemas.openxmlformats.org/drawingml/2006/main">
            <a:off x="4953000" y="3257550"/>
            <a:ext cx="6191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C6C6C2"/>
                </a:solidFill>
              </a:defRPr>
            </a:defPPr>
            <a:lvl1pPr algn="l">
              <a:defRPr sz="1725" b="0">
                <a:solidFill>
                  <a:srgbClr val="C6C6C2"/>
                </a:solidFill>
              </a:defRPr>
            </a:lvl1pPr>
            <a:lvl2pPr algn="l">
              <a:defRPr sz="1725" b="0">
                <a:solidFill>
                  <a:srgbClr val="C6C6C2"/>
                </a:solidFill>
              </a:defRPr>
            </a:lvl2pPr>
            <a:lvl3pPr algn="l">
              <a:defRPr sz="1725" b="0">
                <a:solidFill>
                  <a:srgbClr val="C6C6C2"/>
                </a:solidFill>
              </a:defRPr>
            </a:lvl3pPr>
            <a:lvl4pPr algn="l">
              <a:defRPr sz="1725" b="0">
                <a:solidFill>
                  <a:srgbClr val="C6C6C2"/>
                </a:solidFill>
              </a:defRPr>
            </a:lvl4pPr>
            <a:lvl5pPr algn="l">
              <a:defRPr sz="1725" b="0">
                <a:solidFill>
                  <a:srgbClr val="C6C6C2"/>
                </a:solidFill>
              </a:defRPr>
            </a:lvl5pPr>
            <a:lvl6pPr algn="l">
              <a:defRPr sz="1725" b="0">
                <a:solidFill>
                  <a:srgbClr val="C6C6C2"/>
                </a:solidFill>
              </a:defRPr>
            </a:lvl6pPr>
            <a:lvl7pPr algn="l">
              <a:defRPr sz="1725" b="0">
                <a:solidFill>
                  <a:srgbClr val="C6C6C2"/>
                </a:solidFill>
              </a:defRPr>
            </a:lvl7pPr>
            <a:lvl8pPr algn="l">
              <a:defRPr sz="1725" b="0">
                <a:solidFill>
                  <a:srgbClr val="C6C6C2"/>
                </a:solidFill>
              </a:defRPr>
            </a:lvl8pPr>
            <a:lvl9pPr algn="l">
              <a:defRPr sz="1725" b="0">
                <a:solidFill>
                  <a:srgbClr val="C6C6C2"/>
                </a:solidFill>
              </a:defRPr>
            </a:lvl9pPr>
          </a:lstStyle>
          <a:p xmlns:a="http://schemas.openxmlformats.org/drawingml/2006/main">
            <a:pPr algn="l">
              <a:defRPr sz="1725" b="0">
                <a:solidFill>
                  <a:srgbClr val="C6C6C2"/>
                </a:solidFill>
              </a:defRPr>
            </a:pPr>
            <a:r>
              <a:rPr sz="1725" b="0">
                <a:solidFill>
                  <a:srgbClr val="C6C6C2"/>
                </a:solidFill>
              </a:rPr>
              <a:t>Read the packet-rate chart and each rule decision</a:t>
            </a:r>
          </a:p>
        </p:txBody>
      </p:sp>
      <p:sp>
        <p:nvSpPr>
          <p:cNvPr id="10" name="">
            <a:extLst xmlns:a="http://schemas.openxmlformats.org/drawingml/2006/main">
              <a:ext uri="{FF2B5EF4-FFF2-40B4-BE49-F238E27FC236}">
                <a16:creationId xmlns:a16="http://schemas.microsoft.com/office/drawing/2014/main" id="{FB50331C-081F-4D66-9927-617FD93E51BA}"/>
              </a:ext>
            </a:extLst>
          </p:cNvPr>
          <p:cNvSpPr>
            <a:spLocks xmlns:a="http://schemas.openxmlformats.org/drawingml/2006/main" noGrp="1"/>
          </p:cNvSpPr>
          <p:nvPr/>
        </p:nvSpPr>
        <p:spPr>
          <a:xfrm xmlns:a="http://schemas.openxmlformats.org/drawingml/2006/main">
            <a:off x="685800" y="4381500"/>
            <a:ext cx="704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DE5A1D"/>
                </a:solidFill>
              </a:defRPr>
            </a:defPPr>
            <a:lvl1pPr algn="l">
              <a:defRPr sz="1950" b="1">
                <a:solidFill>
                  <a:srgbClr val="DE5A1D"/>
                </a:solidFill>
              </a:defRPr>
            </a:lvl1pPr>
            <a:lvl2pPr algn="l">
              <a:defRPr sz="1950" b="1">
                <a:solidFill>
                  <a:srgbClr val="DE5A1D"/>
                </a:solidFill>
              </a:defRPr>
            </a:lvl2pPr>
            <a:lvl3pPr algn="l">
              <a:defRPr sz="1950" b="1">
                <a:solidFill>
                  <a:srgbClr val="DE5A1D"/>
                </a:solidFill>
              </a:defRPr>
            </a:lvl3pPr>
            <a:lvl4pPr algn="l">
              <a:defRPr sz="1950" b="1">
                <a:solidFill>
                  <a:srgbClr val="DE5A1D"/>
                </a:solidFill>
              </a:defRPr>
            </a:lvl4pPr>
            <a:lvl5pPr algn="l">
              <a:defRPr sz="1950" b="1">
                <a:solidFill>
                  <a:srgbClr val="DE5A1D"/>
                </a:solidFill>
              </a:defRPr>
            </a:lvl5pPr>
            <a:lvl6pPr algn="l">
              <a:defRPr sz="1950" b="1">
                <a:solidFill>
                  <a:srgbClr val="DE5A1D"/>
                </a:solidFill>
              </a:defRPr>
            </a:lvl6pPr>
            <a:lvl7pPr algn="l">
              <a:defRPr sz="1950" b="1">
                <a:solidFill>
                  <a:srgbClr val="DE5A1D"/>
                </a:solidFill>
              </a:defRPr>
            </a:lvl7pPr>
            <a:lvl8pPr algn="l">
              <a:defRPr sz="1950" b="1">
                <a:solidFill>
                  <a:srgbClr val="DE5A1D"/>
                </a:solidFill>
              </a:defRPr>
            </a:lvl8pPr>
            <a:lvl9pPr algn="l">
              <a:defRPr sz="1950" b="1">
                <a:solidFill>
                  <a:srgbClr val="DE5A1D"/>
                </a:solidFill>
              </a:defRPr>
            </a:lvl9pPr>
          </a:lstStyle>
          <a:p xmlns:a="http://schemas.openxmlformats.org/drawingml/2006/main">
            <a:pPr algn="l">
              <a:defRPr sz="1950" b="1">
                <a:solidFill>
                  <a:srgbClr val="DE5A1D"/>
                </a:solidFill>
              </a:defRPr>
            </a:pPr>
            <a:r>
              <a:rPr sz="1950" b="1">
                <a:solidFill>
                  <a:srgbClr val="DE5A1D"/>
                </a:solidFill>
              </a:rPr>
              <a:t>03</a:t>
            </a:r>
          </a:p>
        </p:txBody>
      </p:sp>
      <p:sp>
        <p:nvSpPr>
          <p:cNvPr id="11" name="">
            <a:extLst xmlns:a="http://schemas.openxmlformats.org/drawingml/2006/main">
              <a:ext uri="{FF2B5EF4-FFF2-40B4-BE49-F238E27FC236}">
                <a16:creationId xmlns:a16="http://schemas.microsoft.com/office/drawing/2014/main" id="{0F29116B-B321-4F6F-AD97-D0FA37F2A813}"/>
              </a:ext>
            </a:extLst>
          </p:cNvPr>
          <p:cNvSpPr>
            <a:spLocks xmlns:a="http://schemas.openxmlformats.org/drawingml/2006/main" noGrp="1"/>
          </p:cNvSpPr>
          <p:nvPr/>
        </p:nvSpPr>
        <p:spPr>
          <a:xfrm xmlns:a="http://schemas.openxmlformats.org/drawingml/2006/main">
            <a:off x="1504950" y="43815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7F7F5"/>
                </a:solidFill>
              </a:defRPr>
            </a:defPPr>
            <a:lvl1pPr algn="l">
              <a:defRPr sz="2025" b="1">
                <a:solidFill>
                  <a:srgbClr val="F7F7F5"/>
                </a:solidFill>
              </a:defRPr>
            </a:lvl1pPr>
            <a:lvl2pPr algn="l">
              <a:defRPr sz="2025" b="1">
                <a:solidFill>
                  <a:srgbClr val="F7F7F5"/>
                </a:solidFill>
              </a:defRPr>
            </a:lvl2pPr>
            <a:lvl3pPr algn="l">
              <a:defRPr sz="2025" b="1">
                <a:solidFill>
                  <a:srgbClr val="F7F7F5"/>
                </a:solidFill>
              </a:defRPr>
            </a:lvl3pPr>
            <a:lvl4pPr algn="l">
              <a:defRPr sz="2025" b="1">
                <a:solidFill>
                  <a:srgbClr val="F7F7F5"/>
                </a:solidFill>
              </a:defRPr>
            </a:lvl4pPr>
            <a:lvl5pPr algn="l">
              <a:defRPr sz="2025" b="1">
                <a:solidFill>
                  <a:srgbClr val="F7F7F5"/>
                </a:solidFill>
              </a:defRPr>
            </a:lvl5pPr>
            <a:lvl6pPr algn="l">
              <a:defRPr sz="2025" b="1">
                <a:solidFill>
                  <a:srgbClr val="F7F7F5"/>
                </a:solidFill>
              </a:defRPr>
            </a:lvl6pPr>
            <a:lvl7pPr algn="l">
              <a:defRPr sz="2025" b="1">
                <a:solidFill>
                  <a:srgbClr val="F7F7F5"/>
                </a:solidFill>
              </a:defRPr>
            </a:lvl7pPr>
            <a:lvl8pPr algn="l">
              <a:defRPr sz="2025" b="1">
                <a:solidFill>
                  <a:srgbClr val="F7F7F5"/>
                </a:solidFill>
              </a:defRPr>
            </a:lvl8pPr>
            <a:lvl9pPr algn="l">
              <a:defRPr sz="2025" b="1">
                <a:solidFill>
                  <a:srgbClr val="F7F7F5"/>
                </a:solidFill>
              </a:defRPr>
            </a:lvl9pPr>
          </a:lstStyle>
          <a:p xmlns:a="http://schemas.openxmlformats.org/drawingml/2006/main">
            <a:pPr algn="l">
              <a:defRPr sz="2025" b="1">
                <a:solidFill>
                  <a:srgbClr val="F7F7F5"/>
                </a:solidFill>
              </a:defRPr>
            </a:pPr>
            <a:r>
              <a:rPr sz="2025" b="1">
                <a:solidFill>
                  <a:srgbClr val="F7F7F5"/>
                </a:solidFill>
              </a:rPr>
              <a:t>Simulate a block</a:t>
            </a:r>
          </a:p>
        </p:txBody>
      </p:sp>
      <p:sp>
        <p:nvSpPr>
          <p:cNvPr id="12" name="">
            <a:extLst xmlns:a="http://schemas.openxmlformats.org/drawingml/2006/main">
              <a:ext uri="{FF2B5EF4-FFF2-40B4-BE49-F238E27FC236}">
                <a16:creationId xmlns:a16="http://schemas.microsoft.com/office/drawing/2014/main" id="{A461AA25-3628-4CD1-93D8-994D448C7E47}"/>
              </a:ext>
            </a:extLst>
          </p:cNvPr>
          <p:cNvSpPr>
            <a:spLocks xmlns:a="http://schemas.openxmlformats.org/drawingml/2006/main" noGrp="1"/>
          </p:cNvSpPr>
          <p:nvPr/>
        </p:nvSpPr>
        <p:spPr>
          <a:xfrm xmlns:a="http://schemas.openxmlformats.org/drawingml/2006/main">
            <a:off x="4953000" y="4400550"/>
            <a:ext cx="619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C6C6C2"/>
                </a:solidFill>
              </a:defRPr>
            </a:defPPr>
            <a:lvl1pPr algn="l">
              <a:defRPr sz="1725" b="0">
                <a:solidFill>
                  <a:srgbClr val="C6C6C2"/>
                </a:solidFill>
              </a:defRPr>
            </a:lvl1pPr>
            <a:lvl2pPr algn="l">
              <a:defRPr sz="1725" b="0">
                <a:solidFill>
                  <a:srgbClr val="C6C6C2"/>
                </a:solidFill>
              </a:defRPr>
            </a:lvl2pPr>
            <a:lvl3pPr algn="l">
              <a:defRPr sz="1725" b="0">
                <a:solidFill>
                  <a:srgbClr val="C6C6C2"/>
                </a:solidFill>
              </a:defRPr>
            </a:lvl3pPr>
            <a:lvl4pPr algn="l">
              <a:defRPr sz="1725" b="0">
                <a:solidFill>
                  <a:srgbClr val="C6C6C2"/>
                </a:solidFill>
              </a:defRPr>
            </a:lvl4pPr>
            <a:lvl5pPr algn="l">
              <a:defRPr sz="1725" b="0">
                <a:solidFill>
                  <a:srgbClr val="C6C6C2"/>
                </a:solidFill>
              </a:defRPr>
            </a:lvl5pPr>
            <a:lvl6pPr algn="l">
              <a:defRPr sz="1725" b="0">
                <a:solidFill>
                  <a:srgbClr val="C6C6C2"/>
                </a:solidFill>
              </a:defRPr>
            </a:lvl6pPr>
            <a:lvl7pPr algn="l">
              <a:defRPr sz="1725" b="0">
                <a:solidFill>
                  <a:srgbClr val="C6C6C2"/>
                </a:solidFill>
              </a:defRPr>
            </a:lvl7pPr>
            <a:lvl8pPr algn="l">
              <a:defRPr sz="1725" b="0">
                <a:solidFill>
                  <a:srgbClr val="C6C6C2"/>
                </a:solidFill>
              </a:defRPr>
            </a:lvl8pPr>
            <a:lvl9pPr algn="l">
              <a:defRPr sz="1725" b="0">
                <a:solidFill>
                  <a:srgbClr val="C6C6C2"/>
                </a:solidFill>
              </a:defRPr>
            </a:lvl9pPr>
          </a:lstStyle>
          <a:p xmlns:a="http://schemas.openxmlformats.org/drawingml/2006/main">
            <a:pPr algn="l">
              <a:defRPr sz="1725" b="0">
                <a:solidFill>
                  <a:srgbClr val="C6C6C2"/>
                </a:solidFill>
              </a:defRPr>
            </a:pPr>
            <a:r>
              <a:rPr sz="1725" b="0">
                <a:solidFill>
                  <a:srgbClr val="C6C6C2"/>
                </a:solidFill>
              </a:rPr>
              <a:t>Show an expiring database entry; no firewall change</a:t>
            </a:r>
          </a:p>
        </p:txBody>
      </p:sp>
      <p:sp>
        <p:nvSpPr>
          <p:cNvPr id="13" name="">
            <a:extLst xmlns:a="http://schemas.openxmlformats.org/drawingml/2006/main">
              <a:ext uri="{FF2B5EF4-FFF2-40B4-BE49-F238E27FC236}">
                <a16:creationId xmlns:a16="http://schemas.microsoft.com/office/drawing/2014/main" id="{39675AB2-852E-4E95-87D6-41F8FC0FFA93}"/>
              </a:ext>
            </a:extLst>
          </p:cNvPr>
          <p:cNvSpPr>
            <a:spLocks xmlns:a="http://schemas.openxmlformats.org/drawingml/2006/main" noGrp="1"/>
          </p:cNvSpPr>
          <p:nvPr/>
        </p:nvSpPr>
        <p:spPr>
          <a:xfrm xmlns:a="http://schemas.openxmlformats.org/drawingml/2006/main">
            <a:off x="704850" y="590550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DE5A1D"/>
                </a:solidFill>
              </a:defRPr>
            </a:defPPr>
            <a:lvl1pPr algn="l">
              <a:defRPr sz="1575" b="1">
                <a:solidFill>
                  <a:srgbClr val="DE5A1D"/>
                </a:solidFill>
              </a:defRPr>
            </a:lvl1pPr>
            <a:lvl2pPr algn="l">
              <a:defRPr sz="1575" b="1">
                <a:solidFill>
                  <a:srgbClr val="DE5A1D"/>
                </a:solidFill>
              </a:defRPr>
            </a:lvl2pPr>
            <a:lvl3pPr algn="l">
              <a:defRPr sz="1575" b="1">
                <a:solidFill>
                  <a:srgbClr val="DE5A1D"/>
                </a:solidFill>
              </a:defRPr>
            </a:lvl3pPr>
            <a:lvl4pPr algn="l">
              <a:defRPr sz="1575" b="1">
                <a:solidFill>
                  <a:srgbClr val="DE5A1D"/>
                </a:solidFill>
              </a:defRPr>
            </a:lvl4pPr>
            <a:lvl5pPr algn="l">
              <a:defRPr sz="1575" b="1">
                <a:solidFill>
                  <a:srgbClr val="DE5A1D"/>
                </a:solidFill>
              </a:defRPr>
            </a:lvl5pPr>
            <a:lvl6pPr algn="l">
              <a:defRPr sz="1575" b="1">
                <a:solidFill>
                  <a:srgbClr val="DE5A1D"/>
                </a:solidFill>
              </a:defRPr>
            </a:lvl6pPr>
            <a:lvl7pPr algn="l">
              <a:defRPr sz="1575" b="1">
                <a:solidFill>
                  <a:srgbClr val="DE5A1D"/>
                </a:solidFill>
              </a:defRPr>
            </a:lvl7pPr>
            <a:lvl8pPr algn="l">
              <a:defRPr sz="1575" b="1">
                <a:solidFill>
                  <a:srgbClr val="DE5A1D"/>
                </a:solidFill>
              </a:defRPr>
            </a:lvl8pPr>
            <a:lvl9pPr algn="l">
              <a:defRPr sz="1575" b="1">
                <a:solidFill>
                  <a:srgbClr val="DE5A1D"/>
                </a:solidFill>
              </a:defRPr>
            </a:lvl9pPr>
          </a:lstStyle>
          <a:p xmlns:a="http://schemas.openxmlformats.org/drawingml/2006/main">
            <a:pPr algn="l">
              <a:defRPr sz="1575" b="1">
                <a:solidFill>
                  <a:srgbClr val="DE5A1D"/>
                </a:solidFill>
              </a:defRPr>
            </a:pPr>
            <a:r>
              <a:rPr sz="1575" b="1">
                <a:solidFill>
                  <a:srgbClr val="DE5A1D"/>
                </a:solidFill>
              </a:rPr>
              <a:t>The demo works without a network interface or a new download.</a:t>
            </a:r>
          </a:p>
        </p:txBody>
      </p:sp>
    </p:spTree>
    <p:extLst>
      <p:ext uri="{BB962C8B-B14F-4D97-AF65-F5344CB8AC3E}">
        <p14:creationId xmlns:p14="http://schemas.microsoft.com/office/powerpoint/2010/main" val="328252818"/>
      </p:ext>
    </p:extLst>
  </p:cSld>
</p:sld>
</file>

<file path=ppt/slides/slide1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AF1011-0BD7-47B6-BA9A-E4DFF0D68ACF}"/>
              </a:ext>
            </a:extLst>
          </p:cNvPr>
          <p:cNvSpPr>
            <a:spLocks xmlns:a="http://schemas.openxmlformats.org/drawingml/2006/main" noGrp="1"/>
          </p:cNvSpPr>
          <p:nvPr/>
        </p:nvSpPr>
        <p:spPr>
          <a:xfrm xmlns:a="http://schemas.openxmlformats.org/drawingml/2006/main">
            <a:off x="685800" y="4381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DE5A1D"/>
                </a:solidFill>
              </a:defRPr>
            </a:defPPr>
            <a:lvl1pPr algn="l">
              <a:defRPr sz="1200" b="1">
                <a:solidFill>
                  <a:srgbClr val="DE5A1D"/>
                </a:solidFill>
              </a:defRPr>
            </a:lvl1pPr>
            <a:lvl2pPr algn="l">
              <a:defRPr sz="1200" b="1">
                <a:solidFill>
                  <a:srgbClr val="DE5A1D"/>
                </a:solidFill>
              </a:defRPr>
            </a:lvl2pPr>
            <a:lvl3pPr algn="l">
              <a:defRPr sz="1200" b="1">
                <a:solidFill>
                  <a:srgbClr val="DE5A1D"/>
                </a:solidFill>
              </a:defRPr>
            </a:lvl3pPr>
            <a:lvl4pPr algn="l">
              <a:defRPr sz="1200" b="1">
                <a:solidFill>
                  <a:srgbClr val="DE5A1D"/>
                </a:solidFill>
              </a:defRPr>
            </a:lvl4pPr>
            <a:lvl5pPr algn="l">
              <a:defRPr sz="1200" b="1">
                <a:solidFill>
                  <a:srgbClr val="DE5A1D"/>
                </a:solidFill>
              </a:defRPr>
            </a:lvl5pPr>
            <a:lvl6pPr algn="l">
              <a:defRPr sz="1200" b="1">
                <a:solidFill>
                  <a:srgbClr val="DE5A1D"/>
                </a:solidFill>
              </a:defRPr>
            </a:lvl6pPr>
            <a:lvl7pPr algn="l">
              <a:defRPr sz="1200" b="1">
                <a:solidFill>
                  <a:srgbClr val="DE5A1D"/>
                </a:solidFill>
              </a:defRPr>
            </a:lvl7pPr>
            <a:lvl8pPr algn="l">
              <a:defRPr sz="1200" b="1">
                <a:solidFill>
                  <a:srgbClr val="DE5A1D"/>
                </a:solidFill>
              </a:defRPr>
            </a:lvl8pPr>
            <a:lvl9pPr algn="l">
              <a:defRPr sz="1200" b="1">
                <a:solidFill>
                  <a:srgbClr val="DE5A1D"/>
                </a:solidFill>
              </a:defRPr>
            </a:lvl9pPr>
          </a:lstStyle>
          <a:p xmlns:a="http://schemas.openxmlformats.org/drawingml/2006/main">
            <a:pPr algn="l">
              <a:defRPr sz="1200" b="1">
                <a:solidFill>
                  <a:srgbClr val="DE5A1D"/>
                </a:solidFill>
              </a:defRPr>
            </a:pPr>
            <a:r>
              <a:rPr sz="1200" b="1">
                <a:solidFill>
                  <a:srgbClr val="DE5A1D"/>
                </a:solidFill>
              </a:rPr>
              <a:t>STATUS</a:t>
            </a:r>
          </a:p>
        </p:txBody>
      </p:sp>
      <p:sp>
        <p:nvSpPr>
          <p:cNvPr id="2" name="">
            <a:extLst xmlns:a="http://schemas.openxmlformats.org/drawingml/2006/main">
              <a:ext uri="{FF2B5EF4-FFF2-40B4-BE49-F238E27FC236}">
                <a16:creationId xmlns:a16="http://schemas.microsoft.com/office/drawing/2014/main" id="{9BF7D329-878B-4737-B821-B80CF81A662E}"/>
              </a:ext>
            </a:extLst>
          </p:cNvPr>
          <p:cNvSpPr>
            <a:spLocks xmlns:a="http://schemas.openxmlformats.org/drawingml/2006/main" noGrp="1"/>
          </p:cNvSpPr>
          <p:nvPr/>
        </p:nvSpPr>
        <p:spPr>
          <a:xfrm xmlns:a="http://schemas.openxmlformats.org/drawingml/2006/main">
            <a:off x="685800" y="8953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F7F7F5"/>
                </a:solidFill>
              </a:defRPr>
            </a:defPPr>
            <a:lvl1pPr algn="l">
              <a:defRPr sz="3000" b="1">
                <a:solidFill>
                  <a:srgbClr val="F7F7F5"/>
                </a:solidFill>
              </a:defRPr>
            </a:lvl1pPr>
            <a:lvl2pPr algn="l">
              <a:defRPr sz="3000" b="1">
                <a:solidFill>
                  <a:srgbClr val="F7F7F5"/>
                </a:solidFill>
              </a:defRPr>
            </a:lvl2pPr>
            <a:lvl3pPr algn="l">
              <a:defRPr sz="3000" b="1">
                <a:solidFill>
                  <a:srgbClr val="F7F7F5"/>
                </a:solidFill>
              </a:defRPr>
            </a:lvl3pPr>
            <a:lvl4pPr algn="l">
              <a:defRPr sz="3000" b="1">
                <a:solidFill>
                  <a:srgbClr val="F7F7F5"/>
                </a:solidFill>
              </a:defRPr>
            </a:lvl4pPr>
            <a:lvl5pPr algn="l">
              <a:defRPr sz="3000" b="1">
                <a:solidFill>
                  <a:srgbClr val="F7F7F5"/>
                </a:solidFill>
              </a:defRPr>
            </a:lvl5pPr>
            <a:lvl6pPr algn="l">
              <a:defRPr sz="3000" b="1">
                <a:solidFill>
                  <a:srgbClr val="F7F7F5"/>
                </a:solidFill>
              </a:defRPr>
            </a:lvl6pPr>
            <a:lvl7pPr algn="l">
              <a:defRPr sz="3000" b="1">
                <a:solidFill>
                  <a:srgbClr val="F7F7F5"/>
                </a:solidFill>
              </a:defRPr>
            </a:lvl7pPr>
            <a:lvl8pPr algn="l">
              <a:defRPr sz="3000" b="1">
                <a:solidFill>
                  <a:srgbClr val="F7F7F5"/>
                </a:solidFill>
              </a:defRPr>
            </a:lvl8pPr>
            <a:lvl9pPr algn="l">
              <a:defRPr sz="3000" b="1">
                <a:solidFill>
                  <a:srgbClr val="F7F7F5"/>
                </a:solidFill>
              </a:defRPr>
            </a:lvl9pPr>
          </a:lstStyle>
          <a:p xmlns:a="http://schemas.openxmlformats.org/drawingml/2006/main">
            <a:pPr algn="l">
              <a:defRPr sz="3000" b="1">
                <a:solidFill>
                  <a:srgbClr val="F7F7F5"/>
                </a:solidFill>
              </a:defRPr>
            </a:pPr>
            <a:r>
              <a:rPr sz="3000" b="1">
                <a:solidFill>
                  <a:srgbClr val="F7F7F5"/>
                </a:solidFill>
              </a:rPr>
              <a:t>What is complete and what remains</a:t>
            </a:r>
          </a:p>
        </p:txBody>
      </p:sp>
      <p:sp>
        <p:nvSpPr>
          <p:cNvPr id="3" name="">
            <a:extLst xmlns:a="http://schemas.openxmlformats.org/drawingml/2006/main">
              <a:ext uri="{FF2B5EF4-FFF2-40B4-BE49-F238E27FC236}">
                <a16:creationId xmlns:a16="http://schemas.microsoft.com/office/drawing/2014/main" id="{DFE41A6D-A57F-4AD1-AE8D-B7A315D45009}"/>
              </a:ext>
            </a:extLst>
          </p:cNvPr>
          <p:cNvSpPr>
            <a:spLocks xmlns:a="http://schemas.openxmlformats.org/drawingml/2006/main" noGrp="1"/>
          </p:cNvSpPr>
          <p:nvPr/>
        </p:nvSpPr>
        <p:spPr>
          <a:xfrm xmlns:a="http://schemas.openxmlformats.org/drawingml/2006/main">
            <a:off x="11049000" y="5334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0">
                <a:solidFill>
                  <a:srgbClr val="8C8C88"/>
                </a:solidFill>
              </a:defRPr>
            </a:defPPr>
            <a:lvl1pPr algn="r">
              <a:defRPr sz="1050" b="0">
                <a:solidFill>
                  <a:srgbClr val="8C8C88"/>
                </a:solidFill>
              </a:defRPr>
            </a:lvl1pPr>
            <a:lvl2pPr algn="r">
              <a:defRPr sz="1050" b="0">
                <a:solidFill>
                  <a:srgbClr val="8C8C88"/>
                </a:solidFill>
              </a:defRPr>
            </a:lvl2pPr>
            <a:lvl3pPr algn="r">
              <a:defRPr sz="1050" b="0">
                <a:solidFill>
                  <a:srgbClr val="8C8C88"/>
                </a:solidFill>
              </a:defRPr>
            </a:lvl3pPr>
            <a:lvl4pPr algn="r">
              <a:defRPr sz="1050" b="0">
                <a:solidFill>
                  <a:srgbClr val="8C8C88"/>
                </a:solidFill>
              </a:defRPr>
            </a:lvl4pPr>
            <a:lvl5pPr algn="r">
              <a:defRPr sz="1050" b="0">
                <a:solidFill>
                  <a:srgbClr val="8C8C88"/>
                </a:solidFill>
              </a:defRPr>
            </a:lvl5pPr>
            <a:lvl6pPr algn="r">
              <a:defRPr sz="1050" b="0">
                <a:solidFill>
                  <a:srgbClr val="8C8C88"/>
                </a:solidFill>
              </a:defRPr>
            </a:lvl6pPr>
            <a:lvl7pPr algn="r">
              <a:defRPr sz="1050" b="0">
                <a:solidFill>
                  <a:srgbClr val="8C8C88"/>
                </a:solidFill>
              </a:defRPr>
            </a:lvl7pPr>
            <a:lvl8pPr algn="r">
              <a:defRPr sz="1050" b="0">
                <a:solidFill>
                  <a:srgbClr val="8C8C88"/>
                </a:solidFill>
              </a:defRPr>
            </a:lvl8pPr>
            <a:lvl9pPr algn="r">
              <a:defRPr sz="1050" b="0">
                <a:solidFill>
                  <a:srgbClr val="8C8C88"/>
                </a:solidFill>
              </a:defRPr>
            </a:lvl9pPr>
          </a:lstStyle>
          <a:p xmlns:a="http://schemas.openxmlformats.org/drawingml/2006/main">
            <a:pPr algn="r">
              <a:defRPr sz="1050" b="0">
                <a:solidFill>
                  <a:srgbClr val="8C8C88"/>
                </a:solidFill>
              </a:defRPr>
            </a:pPr>
            <a:r>
              <a:rPr sz="1050" b="0">
                <a:solidFill>
                  <a:srgbClr val="8C8C88"/>
                </a:solidFill>
              </a:rPr>
              <a:t>11</a:t>
            </a:r>
          </a:p>
        </p:txBody>
      </p:sp>
      <p:sp>
        <p:nvSpPr>
          <p:cNvPr id="4" name="">
            <a:extLst xmlns:a="http://schemas.openxmlformats.org/drawingml/2006/main">
              <a:ext uri="{FF2B5EF4-FFF2-40B4-BE49-F238E27FC236}">
                <a16:creationId xmlns:a16="http://schemas.microsoft.com/office/drawing/2014/main" id="{ECA7FE05-B92A-481E-8D00-DC205AC5B14D}"/>
              </a:ext>
            </a:extLst>
          </p:cNvPr>
          <p:cNvSpPr>
            <a:spLocks xmlns:a="http://schemas.openxmlformats.org/drawingml/2006/main" noGrp="1"/>
          </p:cNvSpPr>
          <p:nvPr/>
        </p:nvSpPr>
        <p:spPr>
          <a:xfrm xmlns:a="http://schemas.openxmlformats.org/drawingml/2006/main">
            <a:off x="704850" y="207645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F7F7F5"/>
                </a:solidFill>
              </a:defRPr>
            </a:defPPr>
            <a:lvl1pPr algn="l">
              <a:defRPr sz="2325" b="1">
                <a:solidFill>
                  <a:srgbClr val="F7F7F5"/>
                </a:solidFill>
              </a:defRPr>
            </a:lvl1pPr>
            <a:lvl2pPr algn="l">
              <a:defRPr sz="2325" b="1">
                <a:solidFill>
                  <a:srgbClr val="F7F7F5"/>
                </a:solidFill>
              </a:defRPr>
            </a:lvl2pPr>
            <a:lvl3pPr algn="l">
              <a:defRPr sz="2325" b="1">
                <a:solidFill>
                  <a:srgbClr val="F7F7F5"/>
                </a:solidFill>
              </a:defRPr>
            </a:lvl3pPr>
            <a:lvl4pPr algn="l">
              <a:defRPr sz="2325" b="1">
                <a:solidFill>
                  <a:srgbClr val="F7F7F5"/>
                </a:solidFill>
              </a:defRPr>
            </a:lvl4pPr>
            <a:lvl5pPr algn="l">
              <a:defRPr sz="2325" b="1">
                <a:solidFill>
                  <a:srgbClr val="F7F7F5"/>
                </a:solidFill>
              </a:defRPr>
            </a:lvl5pPr>
            <a:lvl6pPr algn="l">
              <a:defRPr sz="2325" b="1">
                <a:solidFill>
                  <a:srgbClr val="F7F7F5"/>
                </a:solidFill>
              </a:defRPr>
            </a:lvl6pPr>
            <a:lvl7pPr algn="l">
              <a:defRPr sz="2325" b="1">
                <a:solidFill>
                  <a:srgbClr val="F7F7F5"/>
                </a:solidFill>
              </a:defRPr>
            </a:lvl7pPr>
            <a:lvl8pPr algn="l">
              <a:defRPr sz="2325" b="1">
                <a:solidFill>
                  <a:srgbClr val="F7F7F5"/>
                </a:solidFill>
              </a:defRPr>
            </a:lvl8pPr>
            <a:lvl9pPr algn="l">
              <a:defRPr sz="2325" b="1">
                <a:solidFill>
                  <a:srgbClr val="F7F7F5"/>
                </a:solidFill>
              </a:defRPr>
            </a:lvl9pPr>
          </a:lstStyle>
          <a:p xmlns:a="http://schemas.openxmlformats.org/drawingml/2006/main">
            <a:pPr algn="l">
              <a:defRPr sz="2325" b="1">
                <a:solidFill>
                  <a:srgbClr val="F7F7F5"/>
                </a:solidFill>
              </a:defRPr>
            </a:pPr>
            <a:r>
              <a:rPr sz="2325" b="1">
                <a:solidFill>
                  <a:srgbClr val="F7F7F5"/>
                </a:solidFill>
              </a:rPr>
              <a:t>Working prototype</a:t>
            </a:r>
          </a:p>
        </p:txBody>
      </p:sp>
      <p:sp>
        <p:nvSpPr>
          <p:cNvPr id="5" name="">
            <a:extLst xmlns:a="http://schemas.openxmlformats.org/drawingml/2006/main">
              <a:ext uri="{FF2B5EF4-FFF2-40B4-BE49-F238E27FC236}">
                <a16:creationId xmlns:a16="http://schemas.microsoft.com/office/drawing/2014/main" id="{5769C677-8D44-4CF2-92FE-022832601F91}"/>
              </a:ext>
            </a:extLst>
          </p:cNvPr>
          <p:cNvSpPr>
            <a:spLocks xmlns:a="http://schemas.openxmlformats.org/drawingml/2006/main" noGrp="1"/>
          </p:cNvSpPr>
          <p:nvPr/>
        </p:nvSpPr>
        <p:spPr>
          <a:xfrm xmlns:a="http://schemas.openxmlformats.org/drawingml/2006/main">
            <a:off x="704850" y="2781300"/>
            <a:ext cx="485775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C6C6C2"/>
                </a:solidFill>
              </a:defRPr>
            </a:defPPr>
            <a:lvl1pPr algn="l">
              <a:defRPr sz="1875" b="0">
                <a:solidFill>
                  <a:srgbClr val="C6C6C2"/>
                </a:solidFill>
              </a:defRPr>
            </a:lvl1pPr>
            <a:lvl2pPr algn="l">
              <a:defRPr sz="1875" b="0">
                <a:solidFill>
                  <a:srgbClr val="C6C6C2"/>
                </a:solidFill>
              </a:defRPr>
            </a:lvl2pPr>
            <a:lvl3pPr algn="l">
              <a:defRPr sz="1875" b="0">
                <a:solidFill>
                  <a:srgbClr val="C6C6C2"/>
                </a:solidFill>
              </a:defRPr>
            </a:lvl3pPr>
            <a:lvl4pPr algn="l">
              <a:defRPr sz="1875" b="0">
                <a:solidFill>
                  <a:srgbClr val="C6C6C2"/>
                </a:solidFill>
              </a:defRPr>
            </a:lvl4pPr>
            <a:lvl5pPr algn="l">
              <a:defRPr sz="1875" b="0">
                <a:solidFill>
                  <a:srgbClr val="C6C6C2"/>
                </a:solidFill>
              </a:defRPr>
            </a:lvl5pPr>
            <a:lvl6pPr algn="l">
              <a:defRPr sz="1875" b="0">
                <a:solidFill>
                  <a:srgbClr val="C6C6C2"/>
                </a:solidFill>
              </a:defRPr>
            </a:lvl6pPr>
            <a:lvl7pPr algn="l">
              <a:defRPr sz="1875" b="0">
                <a:solidFill>
                  <a:srgbClr val="C6C6C2"/>
                </a:solidFill>
              </a:defRPr>
            </a:lvl7pPr>
            <a:lvl8pPr algn="l">
              <a:defRPr sz="1875" b="0">
                <a:solidFill>
                  <a:srgbClr val="C6C6C2"/>
                </a:solidFill>
              </a:defRPr>
            </a:lvl8pPr>
            <a:lvl9pPr algn="l">
              <a:defRPr sz="1875" b="0">
                <a:solidFill>
                  <a:srgbClr val="C6C6C2"/>
                </a:solidFill>
              </a:defRPr>
            </a:lvl9pPr>
          </a:lstStyle>
          <a:p xmlns:a="http://schemas.openxmlformats.org/drawingml/2006/main">
            <a:pPr algn="l">
              <a:defRPr sz="1875" b="0">
                <a:solidFill>
                  <a:srgbClr val="C6C6C2"/>
                </a:solidFill>
              </a:defRPr>
            </a:pPr>
            <a:r>
              <a:rPr sz="1875" b="0">
                <a:solidFill>
                  <a:srgbClr val="C6C6C2"/>
                </a:solidFill>
              </a:rPr>
              <a:t>Traffic processing, adaptive rules, dashboard, alerts, safe mitigation simulation, ML training, and dataset audits.</a:t>
            </a:r>
          </a:p>
        </p:txBody>
      </p:sp>
      <p:sp>
        <p:nvSpPr>
          <p:cNvPr id="6" name="">
            <a:extLst xmlns:a="http://schemas.openxmlformats.org/drawingml/2006/main">
              <a:ext uri="{FF2B5EF4-FFF2-40B4-BE49-F238E27FC236}">
                <a16:creationId xmlns:a16="http://schemas.microsoft.com/office/drawing/2014/main" id="{934E9054-55AC-4BB3-B39D-06962243AD90}"/>
              </a:ext>
            </a:extLst>
          </p:cNvPr>
          <p:cNvSpPr>
            <a:spLocks xmlns:a="http://schemas.openxmlformats.org/drawingml/2006/main" noGrp="1"/>
          </p:cNvSpPr>
          <p:nvPr/>
        </p:nvSpPr>
        <p:spPr>
          <a:xfrm xmlns:a="http://schemas.openxmlformats.org/drawingml/2006/main">
            <a:off x="6477000" y="207645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F7F7F5"/>
                </a:solidFill>
              </a:defRPr>
            </a:defPPr>
            <a:lvl1pPr algn="l">
              <a:defRPr sz="2325" b="1">
                <a:solidFill>
                  <a:srgbClr val="F7F7F5"/>
                </a:solidFill>
              </a:defRPr>
            </a:lvl1pPr>
            <a:lvl2pPr algn="l">
              <a:defRPr sz="2325" b="1">
                <a:solidFill>
                  <a:srgbClr val="F7F7F5"/>
                </a:solidFill>
              </a:defRPr>
            </a:lvl2pPr>
            <a:lvl3pPr algn="l">
              <a:defRPr sz="2325" b="1">
                <a:solidFill>
                  <a:srgbClr val="F7F7F5"/>
                </a:solidFill>
              </a:defRPr>
            </a:lvl3pPr>
            <a:lvl4pPr algn="l">
              <a:defRPr sz="2325" b="1">
                <a:solidFill>
                  <a:srgbClr val="F7F7F5"/>
                </a:solidFill>
              </a:defRPr>
            </a:lvl4pPr>
            <a:lvl5pPr algn="l">
              <a:defRPr sz="2325" b="1">
                <a:solidFill>
                  <a:srgbClr val="F7F7F5"/>
                </a:solidFill>
              </a:defRPr>
            </a:lvl5pPr>
            <a:lvl6pPr algn="l">
              <a:defRPr sz="2325" b="1">
                <a:solidFill>
                  <a:srgbClr val="F7F7F5"/>
                </a:solidFill>
              </a:defRPr>
            </a:lvl6pPr>
            <a:lvl7pPr algn="l">
              <a:defRPr sz="2325" b="1">
                <a:solidFill>
                  <a:srgbClr val="F7F7F5"/>
                </a:solidFill>
              </a:defRPr>
            </a:lvl7pPr>
            <a:lvl8pPr algn="l">
              <a:defRPr sz="2325" b="1">
                <a:solidFill>
                  <a:srgbClr val="F7F7F5"/>
                </a:solidFill>
              </a:defRPr>
            </a:lvl8pPr>
            <a:lvl9pPr algn="l">
              <a:defRPr sz="2325" b="1">
                <a:solidFill>
                  <a:srgbClr val="F7F7F5"/>
                </a:solidFill>
              </a:defRPr>
            </a:lvl9pPr>
          </a:lstStyle>
          <a:p xmlns:a="http://schemas.openxmlformats.org/drawingml/2006/main">
            <a:pPr algn="l">
              <a:defRPr sz="2325" b="1">
                <a:solidFill>
                  <a:srgbClr val="F7F7F5"/>
                </a:solidFill>
              </a:defRPr>
            </a:pPr>
            <a:r>
              <a:rPr sz="2325" b="1">
                <a:solidFill>
                  <a:srgbClr val="F7F7F5"/>
                </a:solidFill>
              </a:rPr>
              <a:t>Research still needed</a:t>
            </a:r>
          </a:p>
        </p:txBody>
      </p:sp>
      <p:sp>
        <p:nvSpPr>
          <p:cNvPr id="7" name="">
            <a:extLst xmlns:a="http://schemas.openxmlformats.org/drawingml/2006/main">
              <a:ext uri="{FF2B5EF4-FFF2-40B4-BE49-F238E27FC236}">
                <a16:creationId xmlns:a16="http://schemas.microsoft.com/office/drawing/2014/main" id="{83BA592C-BBDE-445E-B2FF-2E20DAA068A8}"/>
              </a:ext>
            </a:extLst>
          </p:cNvPr>
          <p:cNvSpPr>
            <a:spLocks xmlns:a="http://schemas.openxmlformats.org/drawingml/2006/main" noGrp="1"/>
          </p:cNvSpPr>
          <p:nvPr/>
        </p:nvSpPr>
        <p:spPr>
          <a:xfrm xmlns:a="http://schemas.openxmlformats.org/drawingml/2006/main">
            <a:off x="6477000" y="2781300"/>
            <a:ext cx="485775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C6C6C2"/>
                </a:solidFill>
              </a:defRPr>
            </a:defPPr>
            <a:lvl1pPr algn="l">
              <a:defRPr sz="1875" b="0">
                <a:solidFill>
                  <a:srgbClr val="C6C6C2"/>
                </a:solidFill>
              </a:defRPr>
            </a:lvl1pPr>
            <a:lvl2pPr algn="l">
              <a:defRPr sz="1875" b="0">
                <a:solidFill>
                  <a:srgbClr val="C6C6C2"/>
                </a:solidFill>
              </a:defRPr>
            </a:lvl2pPr>
            <a:lvl3pPr algn="l">
              <a:defRPr sz="1875" b="0">
                <a:solidFill>
                  <a:srgbClr val="C6C6C2"/>
                </a:solidFill>
              </a:defRPr>
            </a:lvl3pPr>
            <a:lvl4pPr algn="l">
              <a:defRPr sz="1875" b="0">
                <a:solidFill>
                  <a:srgbClr val="C6C6C2"/>
                </a:solidFill>
              </a:defRPr>
            </a:lvl4pPr>
            <a:lvl5pPr algn="l">
              <a:defRPr sz="1875" b="0">
                <a:solidFill>
                  <a:srgbClr val="C6C6C2"/>
                </a:solidFill>
              </a:defRPr>
            </a:lvl5pPr>
            <a:lvl6pPr algn="l">
              <a:defRPr sz="1875" b="0">
                <a:solidFill>
                  <a:srgbClr val="C6C6C2"/>
                </a:solidFill>
              </a:defRPr>
            </a:lvl6pPr>
            <a:lvl7pPr algn="l">
              <a:defRPr sz="1875" b="0">
                <a:solidFill>
                  <a:srgbClr val="C6C6C2"/>
                </a:solidFill>
              </a:defRPr>
            </a:lvl7pPr>
            <a:lvl8pPr algn="l">
              <a:defRPr sz="1875" b="0">
                <a:solidFill>
                  <a:srgbClr val="C6C6C2"/>
                </a:solidFill>
              </a:defRPr>
            </a:lvl8pPr>
            <a:lvl9pPr algn="l">
              <a:defRPr sz="1875" b="0">
                <a:solidFill>
                  <a:srgbClr val="C6C6C2"/>
                </a:solidFill>
              </a:defRPr>
            </a:lvl9pPr>
          </a:lstStyle>
          <a:p xmlns:a="http://schemas.openxmlformats.org/drawingml/2006/main">
            <a:pPr algn="l">
              <a:defRPr sz="1875" b="0">
                <a:solidFill>
                  <a:srgbClr val="C6C6C2"/>
                </a:solidFill>
              </a:defRPr>
            </a:pPr>
            <a:r>
              <a:rPr sz="1875" b="0">
                <a:solidFill>
                  <a:srgbClr val="C6C6C2"/>
                </a:solidFill>
              </a:rPr>
              <a:t>More independent labeled captures, verified clock and labels, held-out packet-window evaluation, and model calibration.</a:t>
            </a:r>
          </a:p>
        </p:txBody>
      </p:sp>
      <p:sp>
        <p:nvSpPr>
          <p:cNvPr id="8" name="">
            <a:extLst xmlns:a="http://schemas.openxmlformats.org/drawingml/2006/main">
              <a:ext uri="{FF2B5EF4-FFF2-40B4-BE49-F238E27FC236}">
                <a16:creationId xmlns:a16="http://schemas.microsoft.com/office/drawing/2014/main" id="{220E0E3F-9A3D-4AD0-A4F2-79161C437959}"/>
              </a:ext>
            </a:extLst>
          </p:cNvPr>
          <p:cNvSpPr>
            <a:spLocks xmlns:a="http://schemas.openxmlformats.org/drawingml/2006/main" noGrp="1"/>
          </p:cNvSpPr>
          <p:nvPr/>
        </p:nvSpPr>
        <p:spPr>
          <a:xfrm xmlns:a="http://schemas.openxmlformats.org/drawingml/2006/main">
            <a:off x="704850" y="5676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DE5A1D"/>
                </a:solidFill>
              </a:defRPr>
            </a:defPPr>
            <a:lvl1pPr algn="l">
              <a:defRPr sz="1800" b="1">
                <a:solidFill>
                  <a:srgbClr val="DE5A1D"/>
                </a:solidFill>
              </a:defRPr>
            </a:lvl1pPr>
            <a:lvl2pPr algn="l">
              <a:defRPr sz="1800" b="1">
                <a:solidFill>
                  <a:srgbClr val="DE5A1D"/>
                </a:solidFill>
              </a:defRPr>
            </a:lvl2pPr>
            <a:lvl3pPr algn="l">
              <a:defRPr sz="1800" b="1">
                <a:solidFill>
                  <a:srgbClr val="DE5A1D"/>
                </a:solidFill>
              </a:defRPr>
            </a:lvl3pPr>
            <a:lvl4pPr algn="l">
              <a:defRPr sz="1800" b="1">
                <a:solidFill>
                  <a:srgbClr val="DE5A1D"/>
                </a:solidFill>
              </a:defRPr>
            </a:lvl4pPr>
            <a:lvl5pPr algn="l">
              <a:defRPr sz="1800" b="1">
                <a:solidFill>
                  <a:srgbClr val="DE5A1D"/>
                </a:solidFill>
              </a:defRPr>
            </a:lvl5pPr>
            <a:lvl6pPr algn="l">
              <a:defRPr sz="1800" b="1">
                <a:solidFill>
                  <a:srgbClr val="DE5A1D"/>
                </a:solidFill>
              </a:defRPr>
            </a:lvl6pPr>
            <a:lvl7pPr algn="l">
              <a:defRPr sz="1800" b="1">
                <a:solidFill>
                  <a:srgbClr val="DE5A1D"/>
                </a:solidFill>
              </a:defRPr>
            </a:lvl7pPr>
            <a:lvl8pPr algn="l">
              <a:defRPr sz="1800" b="1">
                <a:solidFill>
                  <a:srgbClr val="DE5A1D"/>
                </a:solidFill>
              </a:defRPr>
            </a:lvl8pPr>
            <a:lvl9pPr algn="l">
              <a:defRPr sz="1800" b="1">
                <a:solidFill>
                  <a:srgbClr val="DE5A1D"/>
                </a:solidFill>
              </a:defRPr>
            </a:lvl9pPr>
          </a:lstStyle>
          <a:p xmlns:a="http://schemas.openxmlformats.org/drawingml/2006/main">
            <a:pPr algn="l">
              <a:defRPr sz="1800" b="1">
                <a:solidFill>
                  <a:srgbClr val="DE5A1D"/>
                </a:solidFill>
              </a:defRPr>
            </a:pPr>
            <a:r>
              <a:rPr sz="1800" b="1">
                <a:solidFill>
                  <a:srgbClr val="DE5A1D"/>
                </a:solidFill>
              </a:rPr>
              <a:t>Current claim: a demonstrable monitoring prototype with measured limitations.</a:t>
            </a:r>
          </a:p>
        </p:txBody>
      </p:sp>
    </p:spTree>
    <p:extLst>
      <p:ext uri="{BB962C8B-B14F-4D97-AF65-F5344CB8AC3E}">
        <p14:creationId xmlns:p14="http://schemas.microsoft.com/office/powerpoint/2010/main" val="1475765118"/>
      </p:ext>
    </p:extLst>
  </p:cSld>
</p:sld>
</file>

<file path=ppt/slides/slide1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57137EA-C575-4DC0-96A6-497B02A6102A}"/>
              </a:ext>
            </a:extLst>
          </p:cNvPr>
          <p:cNvSpPr>
            <a:spLocks xmlns:a="http://schemas.openxmlformats.org/drawingml/2006/main" noGrp="1"/>
          </p:cNvSpPr>
          <p:nvPr/>
        </p:nvSpPr>
        <p:spPr>
          <a:xfrm xmlns:a="http://schemas.openxmlformats.org/drawingml/2006/main">
            <a:off x="704850" y="68580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DE5A1D"/>
                </a:solidFill>
              </a:defRPr>
            </a:defPPr>
            <a:lvl1pPr algn="l">
              <a:defRPr sz="1275" b="1">
                <a:solidFill>
                  <a:srgbClr val="DE5A1D"/>
                </a:solidFill>
              </a:defRPr>
            </a:lvl1pPr>
            <a:lvl2pPr algn="l">
              <a:defRPr sz="1275" b="1">
                <a:solidFill>
                  <a:srgbClr val="DE5A1D"/>
                </a:solidFill>
              </a:defRPr>
            </a:lvl2pPr>
            <a:lvl3pPr algn="l">
              <a:defRPr sz="1275" b="1">
                <a:solidFill>
                  <a:srgbClr val="DE5A1D"/>
                </a:solidFill>
              </a:defRPr>
            </a:lvl3pPr>
            <a:lvl4pPr algn="l">
              <a:defRPr sz="1275" b="1">
                <a:solidFill>
                  <a:srgbClr val="DE5A1D"/>
                </a:solidFill>
              </a:defRPr>
            </a:lvl4pPr>
            <a:lvl5pPr algn="l">
              <a:defRPr sz="1275" b="1">
                <a:solidFill>
                  <a:srgbClr val="DE5A1D"/>
                </a:solidFill>
              </a:defRPr>
            </a:lvl5pPr>
            <a:lvl6pPr algn="l">
              <a:defRPr sz="1275" b="1">
                <a:solidFill>
                  <a:srgbClr val="DE5A1D"/>
                </a:solidFill>
              </a:defRPr>
            </a:lvl6pPr>
            <a:lvl7pPr algn="l">
              <a:defRPr sz="1275" b="1">
                <a:solidFill>
                  <a:srgbClr val="DE5A1D"/>
                </a:solidFill>
              </a:defRPr>
            </a:lvl7pPr>
            <a:lvl8pPr algn="l">
              <a:defRPr sz="1275" b="1">
                <a:solidFill>
                  <a:srgbClr val="DE5A1D"/>
                </a:solidFill>
              </a:defRPr>
            </a:lvl8pPr>
            <a:lvl9pPr algn="l">
              <a:defRPr sz="1275" b="1">
                <a:solidFill>
                  <a:srgbClr val="DE5A1D"/>
                </a:solidFill>
              </a:defRPr>
            </a:lvl9pPr>
          </a:lstStyle>
          <a:p xmlns:a="http://schemas.openxmlformats.org/drawingml/2006/main">
            <a:pPr algn="l">
              <a:defRPr sz="1275" b="1">
                <a:solidFill>
                  <a:srgbClr val="DE5A1D"/>
                </a:solidFill>
              </a:defRPr>
            </a:pPr>
            <a:r>
              <a:rPr sz="1275" b="1">
                <a:solidFill>
                  <a:srgbClr val="DE5A1D"/>
                </a:solidFill>
              </a:rPr>
              <a:t>SENTINELSHIELD</a:t>
            </a:r>
          </a:p>
        </p:txBody>
      </p:sp>
      <p:sp>
        <p:nvSpPr>
          <p:cNvPr id="2" name="">
            <a:extLst xmlns:a="http://schemas.openxmlformats.org/drawingml/2006/main">
              <a:ext uri="{FF2B5EF4-FFF2-40B4-BE49-F238E27FC236}">
                <a16:creationId xmlns:a16="http://schemas.microsoft.com/office/drawing/2014/main" id="{CBFCCA07-4639-4564-92E8-683538DF8F7D}"/>
              </a:ext>
            </a:extLst>
          </p:cNvPr>
          <p:cNvSpPr>
            <a:spLocks xmlns:a="http://schemas.openxmlformats.org/drawingml/2006/main" noGrp="1"/>
          </p:cNvSpPr>
          <p:nvPr/>
        </p:nvSpPr>
        <p:spPr>
          <a:xfrm xmlns:a="http://schemas.openxmlformats.org/drawingml/2006/main">
            <a:off x="666750" y="2447925"/>
            <a:ext cx="10668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5100" b="1">
                <a:solidFill>
                  <a:srgbClr val="F7F7F5"/>
                </a:solidFill>
              </a:defRPr>
            </a:defPPr>
            <a:lvl1pPr algn="l">
              <a:defRPr sz="5100" b="1">
                <a:solidFill>
                  <a:srgbClr val="F7F7F5"/>
                </a:solidFill>
              </a:defRPr>
            </a:lvl1pPr>
            <a:lvl2pPr algn="l">
              <a:defRPr sz="5100" b="1">
                <a:solidFill>
                  <a:srgbClr val="F7F7F5"/>
                </a:solidFill>
              </a:defRPr>
            </a:lvl2pPr>
            <a:lvl3pPr algn="l">
              <a:defRPr sz="5100" b="1">
                <a:solidFill>
                  <a:srgbClr val="F7F7F5"/>
                </a:solidFill>
              </a:defRPr>
            </a:lvl3pPr>
            <a:lvl4pPr algn="l">
              <a:defRPr sz="5100" b="1">
                <a:solidFill>
                  <a:srgbClr val="F7F7F5"/>
                </a:solidFill>
              </a:defRPr>
            </a:lvl4pPr>
            <a:lvl5pPr algn="l">
              <a:defRPr sz="5100" b="1">
                <a:solidFill>
                  <a:srgbClr val="F7F7F5"/>
                </a:solidFill>
              </a:defRPr>
            </a:lvl5pPr>
            <a:lvl6pPr algn="l">
              <a:defRPr sz="5100" b="1">
                <a:solidFill>
                  <a:srgbClr val="F7F7F5"/>
                </a:solidFill>
              </a:defRPr>
            </a:lvl6pPr>
            <a:lvl7pPr algn="l">
              <a:defRPr sz="5100" b="1">
                <a:solidFill>
                  <a:srgbClr val="F7F7F5"/>
                </a:solidFill>
              </a:defRPr>
            </a:lvl7pPr>
            <a:lvl8pPr algn="l">
              <a:defRPr sz="5100" b="1">
                <a:solidFill>
                  <a:srgbClr val="F7F7F5"/>
                </a:solidFill>
              </a:defRPr>
            </a:lvl8pPr>
            <a:lvl9pPr algn="l">
              <a:defRPr sz="5100" b="1">
                <a:solidFill>
                  <a:srgbClr val="F7F7F5"/>
                </a:solidFill>
              </a:defRPr>
            </a:lvl9pPr>
          </a:lstStyle>
          <a:p xmlns:a="http://schemas.openxmlformats.org/drawingml/2006/main">
            <a:pPr algn="l">
              <a:defRPr sz="5100" b="1">
                <a:solidFill>
                  <a:srgbClr val="F7F7F5"/>
                </a:solidFill>
              </a:defRPr>
            </a:pPr>
            <a:r>
              <a:rPr sz="5100" b="1">
                <a:solidFill>
                  <a:srgbClr val="F7F7F5"/>
                </a:solidFill>
              </a:rPr>
              <a:t>Questions?</a:t>
            </a:r>
          </a:p>
        </p:txBody>
      </p:sp>
      <p:sp>
        <p:nvSpPr>
          <p:cNvPr id="3" name="">
            <a:extLst xmlns:a="http://schemas.openxmlformats.org/drawingml/2006/main">
              <a:ext uri="{FF2B5EF4-FFF2-40B4-BE49-F238E27FC236}">
                <a16:creationId xmlns:a16="http://schemas.microsoft.com/office/drawing/2014/main" id="{FF6D175A-B9C9-4A0F-BACE-3CACC7490E2D}"/>
              </a:ext>
            </a:extLst>
          </p:cNvPr>
          <p:cNvSpPr>
            <a:spLocks xmlns:a="http://schemas.openxmlformats.org/drawingml/2006/main" noGrp="1"/>
          </p:cNvSpPr>
          <p:nvPr/>
        </p:nvSpPr>
        <p:spPr>
          <a:xfrm xmlns:a="http://schemas.openxmlformats.org/drawingml/2006/main">
            <a:off x="704850" y="44196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C6C6C2"/>
                </a:solidFill>
              </a:defRPr>
            </a:defPPr>
            <a:lvl1pPr algn="l">
              <a:defRPr sz="1875" b="0">
                <a:solidFill>
                  <a:srgbClr val="C6C6C2"/>
                </a:solidFill>
              </a:defRPr>
            </a:lvl1pPr>
            <a:lvl2pPr algn="l">
              <a:defRPr sz="1875" b="0">
                <a:solidFill>
                  <a:srgbClr val="C6C6C2"/>
                </a:solidFill>
              </a:defRPr>
            </a:lvl2pPr>
            <a:lvl3pPr algn="l">
              <a:defRPr sz="1875" b="0">
                <a:solidFill>
                  <a:srgbClr val="C6C6C2"/>
                </a:solidFill>
              </a:defRPr>
            </a:lvl3pPr>
            <a:lvl4pPr algn="l">
              <a:defRPr sz="1875" b="0">
                <a:solidFill>
                  <a:srgbClr val="C6C6C2"/>
                </a:solidFill>
              </a:defRPr>
            </a:lvl4pPr>
            <a:lvl5pPr algn="l">
              <a:defRPr sz="1875" b="0">
                <a:solidFill>
                  <a:srgbClr val="C6C6C2"/>
                </a:solidFill>
              </a:defRPr>
            </a:lvl5pPr>
            <a:lvl6pPr algn="l">
              <a:defRPr sz="1875" b="0">
                <a:solidFill>
                  <a:srgbClr val="C6C6C2"/>
                </a:solidFill>
              </a:defRPr>
            </a:lvl6pPr>
            <a:lvl7pPr algn="l">
              <a:defRPr sz="1875" b="0">
                <a:solidFill>
                  <a:srgbClr val="C6C6C2"/>
                </a:solidFill>
              </a:defRPr>
            </a:lvl7pPr>
            <a:lvl8pPr algn="l">
              <a:defRPr sz="1875" b="0">
                <a:solidFill>
                  <a:srgbClr val="C6C6C2"/>
                </a:solidFill>
              </a:defRPr>
            </a:lvl8pPr>
            <a:lvl9pPr algn="l">
              <a:defRPr sz="1875" b="0">
                <a:solidFill>
                  <a:srgbClr val="C6C6C2"/>
                </a:solidFill>
              </a:defRPr>
            </a:lvl9pPr>
          </a:lstStyle>
          <a:p xmlns:a="http://schemas.openxmlformats.org/drawingml/2006/main">
            <a:pPr algn="l">
              <a:defRPr sz="1875" b="0">
                <a:solidFill>
                  <a:srgbClr val="C6C6C2"/>
                </a:solidFill>
              </a:defRPr>
            </a:pPr>
            <a:r>
              <a:rPr sz="1875" b="0">
                <a:solidFill>
                  <a:srgbClr val="C6C6C2"/>
                </a:solidFill>
              </a:rPr>
              <a:t>Monitoring prototype with explainable decisions and honest evaluation</a:t>
            </a:r>
          </a:p>
        </p:txBody>
      </p:sp>
    </p:spTree>
    <p:extLst>
      <p:ext uri="{BB962C8B-B14F-4D97-AF65-F5344CB8AC3E}">
        <p14:creationId xmlns:p14="http://schemas.microsoft.com/office/powerpoint/2010/main" val="7618554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2026-10-20T10:52:05.2410000Z</dcterms:created>
  <dcterms:modified xsi:type="dcterms:W3CDTF">2026-10-20T10:52:05.2410000Z</dcterms:modified>
</coreProperties>
</file>